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one, in plain terms. Every time the business wants to use a new source of data — a new system, a new feed — an engineer has to do a lot of careful manual setup before that data is usable. It's slow, it ties up skilled people, and small mistakes creep in. What we did: we taught our AI assistant to handle that setup. An engineer answers a few plain questions — where's the data, what's in it, how often does it arrive — and the assistant builds everything correctly and consistently, in minutes instead of days. Same quality, every time, and our engineers are freed up for higher-value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two — the headline result. Using AI to help write software can make teams much faster, but speed alone is risky: an AI that just churns out work quickly can also churn out mistakes. So we put guardrails around it. Before any work starts, the AI agrees the plan. It builds in checks as it goes. And every change gets an automatic, thorough review that reliably catches the kinds of small, costly bugs humans tend to skim past. The result: up to five times the delivery speed, with fewer mistakes reaching customers — not more. Faster and safer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three — reducing risk as more people build. Today, the know-how for how each part of our systems should be built lives largely in people's heads. That makes change risky: a well-meaning engineer, especially a newer one, can accidentally break long-standing rules. What we did: we gave every project its own built-in rulebook that the AI reads and follows before making any change. So the important rules are enforced automatically, and anyone — regardless of experience — can make changes safely without breaking things. This is already working on our most sensitive systems, including the ones that manage our cloud infrastructure, and that work is running live in production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33400"/>
            <a:ext cx="18021300" cy="366713"/>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006A4D"/>
                </a:solidFill>
                <a:latin typeface="JetBrains Mono" pitchFamily="34" charset="0"/>
                <a:ea typeface="JetBrains Mono" pitchFamily="34" charset="-122"/>
                <a:cs typeface="JetBrains Mono" pitchFamily="34" charset="-120"/>
              </a:rPr>
              <a:t>AI IN ENGINEERING · 01 / ONBOARDING NEW DATA</a:t>
            </a:r>
            <a:endParaRPr lang="en-US" sz="1950" dirty="0"/>
          </a:p>
        </p:txBody>
      </p:sp>
      <p:sp>
        <p:nvSpPr>
          <p:cNvPr id="3" name="Shape 1"/>
          <p:cNvSpPr/>
          <p:nvPr/>
        </p:nvSpPr>
        <p:spPr>
          <a:xfrm>
            <a:off x="952500" y="1033462"/>
            <a:ext cx="685800" cy="47625"/>
          </a:xfrm>
          <a:prstGeom prst="roundRect">
            <a:avLst>
              <a:gd name="adj" fmla="val 40000"/>
            </a:avLst>
          </a:prstGeom>
          <a:solidFill>
            <a:srgbClr val="006A4D"/>
          </a:solidFill>
          <a:ln/>
        </p:spPr>
      </p:sp>
      <p:sp>
        <p:nvSpPr>
          <p:cNvPr id="4" name="Text 2"/>
          <p:cNvSpPr/>
          <p:nvPr/>
        </p:nvSpPr>
        <p:spPr>
          <a:xfrm>
            <a:off x="952500" y="1347788"/>
            <a:ext cx="18021300" cy="626715"/>
          </a:xfrm>
          <a:prstGeom prst="rect">
            <a:avLst/>
          </a:prstGeom>
          <a:noFill/>
          <a:ln/>
        </p:spPr>
        <p:txBody>
          <a:bodyPr wrap="none" lIns="25400" tIns="25400" rIns="25400" bIns="25400" rtlCol="0" anchor="t">
            <a:normAutofit/>
          </a:bodyPr>
          <a:lstStyle/>
          <a:p>
            <a:pPr algn="l" indent="0" marL="0">
              <a:lnSpc>
                <a:spcPct val="85241"/>
              </a:lnSpc>
              <a:buNone/>
            </a:pPr>
            <a:r>
              <a:rPr lang="en-US" sz="4500" b="1" spc="-90" kern="0" dirty="0">
                <a:solidFill>
                  <a:srgbClr val="003824"/>
                </a:solidFill>
                <a:latin typeface="Inter" pitchFamily="34" charset="0"/>
                <a:ea typeface="Inter" pitchFamily="34" charset="-122"/>
                <a:cs typeface="Inter" pitchFamily="34" charset="-120"/>
              </a:rPr>
              <a:t>Onboarding new data: from days to minutes.</a:t>
            </a:r>
            <a:endParaRPr lang="en-US" sz="4500" dirty="0"/>
          </a:p>
        </p:txBody>
      </p:sp>
      <p:sp>
        <p:nvSpPr>
          <p:cNvPr id="5" name="Text 3"/>
          <p:cNvSpPr/>
          <p:nvPr/>
        </p:nvSpPr>
        <p:spPr>
          <a:xfrm>
            <a:off x="952500" y="2012603"/>
            <a:ext cx="7897424"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5F6F68"/>
                </a:solidFill>
                <a:latin typeface="Inter" pitchFamily="34" charset="0"/>
                <a:ea typeface="Inter" pitchFamily="34" charset="-122"/>
                <a:cs typeface="Inter" pitchFamily="34" charset="-120"/>
              </a:rPr>
              <a:t>The AI assistant does the setup work that used to tie up our best engineers.</a:t>
            </a:r>
            <a:endParaRPr lang="en-US" sz="2175" dirty="0"/>
          </a:p>
        </p:txBody>
      </p:sp>
      <p:sp>
        <p:nvSpPr>
          <p:cNvPr id="6" name="Shape 4"/>
          <p:cNvSpPr/>
          <p:nvPr/>
        </p:nvSpPr>
        <p:spPr>
          <a:xfrm>
            <a:off x="952500" y="3033564"/>
            <a:ext cx="7166595" cy="3255243"/>
          </a:xfrm>
          <a:prstGeom prst="roundRect">
            <a:avLst>
              <a:gd name="adj" fmla="val 6437"/>
            </a:avLst>
          </a:prstGeom>
          <a:solidFill>
            <a:srgbClr val="FBF3EA"/>
          </a:solidFill>
          <a:ln w="9525">
            <a:solidFill>
              <a:srgbClr val="EFDCC6"/>
            </a:solidFill>
            <a:prstDash val="solid"/>
          </a:ln>
        </p:spPr>
      </p:sp>
      <p:sp>
        <p:nvSpPr>
          <p:cNvPr id="7" name="Shape 5"/>
          <p:cNvSpPr/>
          <p:nvPr/>
        </p:nvSpPr>
        <p:spPr>
          <a:xfrm>
            <a:off x="1323975" y="3366939"/>
            <a:ext cx="1956420" cy="409575"/>
          </a:xfrm>
          <a:prstGeom prst="roundRect">
            <a:avLst>
              <a:gd name="adj" fmla="val 50000"/>
            </a:avLst>
          </a:prstGeom>
          <a:solidFill>
            <a:srgbClr val="F4E2CF"/>
          </a:solidFill>
          <a:ln/>
        </p:spPr>
      </p:sp>
      <p:sp>
        <p:nvSpPr>
          <p:cNvPr id="8" name="Text 6"/>
          <p:cNvSpPr/>
          <p:nvPr/>
        </p:nvSpPr>
        <p:spPr>
          <a:xfrm>
            <a:off x="1495425" y="3433614"/>
            <a:ext cx="1689720"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B5651D"/>
                </a:solidFill>
                <a:latin typeface="JetBrains Mono" pitchFamily="34" charset="0"/>
                <a:ea typeface="JetBrains Mono" pitchFamily="34" charset="-122"/>
                <a:cs typeface="JetBrains Mono" pitchFamily="34" charset="-120"/>
              </a:rPr>
              <a:t>THE PROBLEM</a:t>
            </a:r>
            <a:endParaRPr lang="en-US" sz="1650" dirty="0"/>
          </a:p>
        </p:txBody>
      </p:sp>
      <p:sp>
        <p:nvSpPr>
          <p:cNvPr id="9" name="Text 7"/>
          <p:cNvSpPr/>
          <p:nvPr/>
        </p:nvSpPr>
        <p:spPr>
          <a:xfrm>
            <a:off x="1323975" y="3967014"/>
            <a:ext cx="6616354" cy="847725"/>
          </a:xfrm>
          <a:prstGeom prst="rect">
            <a:avLst/>
          </a:prstGeom>
          <a:noFill/>
          <a:ln/>
        </p:spPr>
        <p:txBody>
          <a:bodyPr wrap="square" lIns="25400" tIns="25400" rIns="25400" bIns="25400" rtlCol="0" anchor="t">
            <a:normAutofit/>
          </a:bodyPr>
          <a:lstStyle/>
          <a:p>
            <a:pPr algn="l" indent="0" marL="0">
              <a:lnSpc>
                <a:spcPct val="103659"/>
              </a:lnSpc>
              <a:buNone/>
            </a:pPr>
            <a:r>
              <a:rPr lang="en-US" sz="2550" b="1" dirty="0">
                <a:solidFill>
                  <a:srgbClr val="14201B"/>
                </a:solidFill>
                <a:latin typeface="Inter" pitchFamily="34" charset="0"/>
                <a:ea typeface="Inter" pitchFamily="34" charset="-122"/>
                <a:cs typeface="Inter" pitchFamily="34" charset="-120"/>
              </a:rPr>
              <a:t>Setting up each new data source is slow and manual.</a:t>
            </a:r>
            <a:endParaRPr lang="en-US" sz="2550" dirty="0"/>
          </a:p>
        </p:txBody>
      </p:sp>
      <p:sp>
        <p:nvSpPr>
          <p:cNvPr id="10" name="Text 8"/>
          <p:cNvSpPr/>
          <p:nvPr/>
        </p:nvSpPr>
        <p:spPr>
          <a:xfrm>
            <a:off x="1323975" y="4909989"/>
            <a:ext cx="6616354" cy="768400"/>
          </a:xfrm>
          <a:prstGeom prst="rect">
            <a:avLst/>
          </a:prstGeom>
          <a:noFill/>
          <a:ln/>
        </p:spPr>
        <p:txBody>
          <a:bodyPr wrap="square" lIns="25400" tIns="25400" rIns="25400" bIns="25400" rtlCol="0" anchor="t">
            <a:normAutofit/>
          </a:bodyPr>
          <a:lstStyle/>
          <a:p>
            <a:pPr algn="l" indent="0" marL="0">
              <a:lnSpc>
                <a:spcPct val="117969"/>
              </a:lnSpc>
              <a:buNone/>
            </a:pPr>
            <a:r>
              <a:rPr lang="en-US" sz="2025" dirty="0">
                <a:solidFill>
                  <a:srgbClr val="6A5A45"/>
                </a:solidFill>
                <a:latin typeface="Inter" pitchFamily="34" charset="0"/>
                <a:ea typeface="Inter" pitchFamily="34" charset="-122"/>
                <a:cs typeface="Inter" pitchFamily="34" charset="-120"/>
              </a:rPr>
              <a:t>It takes skilled engineers days of careful, repetitive work — and small mistakes are easy to make.</a:t>
            </a:r>
            <a:endParaRPr lang="en-US" sz="2025" dirty="0"/>
          </a:p>
        </p:txBody>
      </p:sp>
      <p:sp>
        <p:nvSpPr>
          <p:cNvPr id="11" name="Shape 9"/>
          <p:cNvSpPr/>
          <p:nvPr/>
        </p:nvSpPr>
        <p:spPr>
          <a:xfrm>
            <a:off x="952500" y="6517407"/>
            <a:ext cx="7166595" cy="3236193"/>
          </a:xfrm>
          <a:prstGeom prst="roundRect">
            <a:avLst>
              <a:gd name="adj" fmla="val 6475"/>
            </a:avLst>
          </a:prstGeom>
          <a:solidFill>
            <a:srgbClr val="003824"/>
          </a:solidFill>
          <a:ln/>
        </p:spPr>
      </p:sp>
      <p:sp>
        <p:nvSpPr>
          <p:cNvPr id="12" name="Shape 10"/>
          <p:cNvSpPr/>
          <p:nvPr/>
        </p:nvSpPr>
        <p:spPr>
          <a:xfrm>
            <a:off x="1314450" y="6841257"/>
            <a:ext cx="1956420" cy="409575"/>
          </a:xfrm>
          <a:prstGeom prst="roundRect">
            <a:avLst>
              <a:gd name="adj" fmla="val 50000"/>
            </a:avLst>
          </a:prstGeom>
          <a:solidFill>
            <a:srgbClr val="9EC5B3"/>
          </a:solidFill>
          <a:ln/>
        </p:spPr>
      </p:sp>
      <p:sp>
        <p:nvSpPr>
          <p:cNvPr id="13" name="Text 11"/>
          <p:cNvSpPr/>
          <p:nvPr/>
        </p:nvSpPr>
        <p:spPr>
          <a:xfrm>
            <a:off x="1485900" y="6907932"/>
            <a:ext cx="1689720"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3824"/>
                </a:solidFill>
                <a:latin typeface="JetBrains Mono" pitchFamily="34" charset="0"/>
                <a:ea typeface="JetBrains Mono" pitchFamily="34" charset="-122"/>
                <a:cs typeface="JetBrains Mono" pitchFamily="34" charset="-120"/>
              </a:rPr>
              <a:t>WHAT WE DID</a:t>
            </a:r>
            <a:endParaRPr lang="en-US" sz="1650" dirty="0"/>
          </a:p>
        </p:txBody>
      </p:sp>
      <p:sp>
        <p:nvSpPr>
          <p:cNvPr id="14" name="Text 12"/>
          <p:cNvSpPr/>
          <p:nvPr/>
        </p:nvSpPr>
        <p:spPr>
          <a:xfrm>
            <a:off x="1314450" y="7441332"/>
            <a:ext cx="7086965" cy="442913"/>
          </a:xfrm>
          <a:prstGeom prst="rect">
            <a:avLst/>
          </a:prstGeom>
          <a:noFill/>
          <a:ln/>
        </p:spPr>
        <p:txBody>
          <a:bodyPr wrap="square" lIns="25400" tIns="25400" rIns="25400" bIns="25400" rtlCol="0" anchor="t">
            <a:normAutofit/>
          </a:bodyPr>
          <a:lstStyle/>
          <a:p>
            <a:pPr algn="l" indent="0" marL="0">
              <a:lnSpc>
                <a:spcPct val="103659"/>
              </a:lnSpc>
              <a:buNone/>
            </a:pPr>
            <a:r>
              <a:rPr lang="en-US" sz="2550" b="1" dirty="0">
                <a:solidFill>
                  <a:srgbClr val="FFFFFF"/>
                </a:solidFill>
                <a:latin typeface="Inter" pitchFamily="34" charset="0"/>
                <a:ea typeface="Inter" pitchFamily="34" charset="-122"/>
                <a:cs typeface="Inter" pitchFamily="34" charset="-120"/>
              </a:rPr>
              <a:t>We taught the AI to do the setup.</a:t>
            </a:r>
            <a:endParaRPr lang="en-US" sz="2550" dirty="0"/>
          </a:p>
        </p:txBody>
      </p:sp>
      <p:sp>
        <p:nvSpPr>
          <p:cNvPr id="15" name="Text 13"/>
          <p:cNvSpPr/>
          <p:nvPr/>
        </p:nvSpPr>
        <p:spPr>
          <a:xfrm>
            <a:off x="1314450" y="7979494"/>
            <a:ext cx="6635976" cy="1133549"/>
          </a:xfrm>
          <a:prstGeom prst="rect">
            <a:avLst/>
          </a:prstGeom>
          <a:noFill/>
          <a:ln/>
        </p:spPr>
        <p:txBody>
          <a:bodyPr wrap="square" lIns="25400" tIns="25400" rIns="25400" bIns="25400" rtlCol="0" anchor="t">
            <a:normAutofit/>
          </a:bodyPr>
          <a:lstStyle/>
          <a:p>
            <a:pPr algn="l" indent="0" marL="0">
              <a:lnSpc>
                <a:spcPct val="117969"/>
              </a:lnSpc>
              <a:buNone/>
            </a:pPr>
            <a:r>
              <a:rPr lang="en-US" sz="2025" dirty="0">
                <a:solidFill>
                  <a:srgbClr val="CFE2D8"/>
                </a:solidFill>
                <a:latin typeface="Inter" pitchFamily="34" charset="0"/>
                <a:ea typeface="Inter" pitchFamily="34" charset="-122"/>
                <a:cs typeface="Inter" pitchFamily="34" charset="-120"/>
              </a:rPr>
              <a:t>We created a new skill for the agent. Answer a few plain questions and it builds everything — correctly and consistently, in minutes.</a:t>
            </a:r>
            <a:endParaRPr lang="en-US" sz="2025" dirty="0"/>
          </a:p>
        </p:txBody>
      </p:sp>
      <p:sp>
        <p:nvSpPr>
          <p:cNvPr id="16" name="Shape 14"/>
          <p:cNvSpPr/>
          <p:nvPr/>
        </p:nvSpPr>
        <p:spPr>
          <a:xfrm>
            <a:off x="8576295" y="3033564"/>
            <a:ext cx="8759205" cy="6720036"/>
          </a:xfrm>
          <a:prstGeom prst="roundRect">
            <a:avLst>
              <a:gd name="adj" fmla="val 3402"/>
            </a:avLst>
          </a:prstGeom>
          <a:solidFill>
            <a:srgbClr val="F3F8F5"/>
          </a:solidFill>
          <a:ln w="9525">
            <a:solidFill>
              <a:srgbClr val="E6F1EC"/>
            </a:solidFill>
            <a:prstDash val="solid"/>
          </a:ln>
        </p:spPr>
      </p:sp>
      <p:sp>
        <p:nvSpPr>
          <p:cNvPr id="17" name="Text 15"/>
          <p:cNvSpPr/>
          <p:nvPr/>
        </p:nvSpPr>
        <p:spPr>
          <a:xfrm>
            <a:off x="9023970" y="3627686"/>
            <a:ext cx="8650240"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006A4D"/>
                </a:solidFill>
                <a:latin typeface="JetBrains Mono" pitchFamily="34" charset="0"/>
                <a:ea typeface="JetBrains Mono" pitchFamily="34" charset="-122"/>
                <a:cs typeface="JetBrains Mono" pitchFamily="34" charset="-120"/>
              </a:rPr>
              <a:t>HOW IT WORKS</a:t>
            </a:r>
            <a:endParaRPr lang="en-US" sz="1650" dirty="0"/>
          </a:p>
        </p:txBody>
      </p:sp>
      <p:sp>
        <p:nvSpPr>
          <p:cNvPr id="18" name="Shape 16"/>
          <p:cNvSpPr/>
          <p:nvPr/>
        </p:nvSpPr>
        <p:spPr>
          <a:xfrm>
            <a:off x="9023970" y="4240560"/>
            <a:ext cx="704850" cy="704850"/>
          </a:xfrm>
          <a:prstGeom prst="roundRect">
            <a:avLst>
              <a:gd name="adj" fmla="val 27027"/>
            </a:avLst>
          </a:prstGeom>
          <a:solidFill>
            <a:srgbClr val="9EC5B3"/>
          </a:solidFill>
          <a:ln/>
        </p:spPr>
      </p:sp>
      <p:sp>
        <p:nvSpPr>
          <p:cNvPr id="19" name="Text 17"/>
          <p:cNvSpPr/>
          <p:nvPr/>
        </p:nvSpPr>
        <p:spPr>
          <a:xfrm>
            <a:off x="8985870" y="4240560"/>
            <a:ext cx="781050" cy="742950"/>
          </a:xfrm>
          <a:prstGeom prst="rect">
            <a:avLst/>
          </a:prstGeom>
          <a:noFill/>
          <a:ln/>
        </p:spPr>
        <p:txBody>
          <a:bodyPr wrap="square" lIns="25400" tIns="25400" rIns="25400" bIns="25400" rtlCol="0" anchor="ctr">
            <a:normAutofit/>
          </a:bodyPr>
          <a:lstStyle/>
          <a:p>
            <a:pPr algn="ctr" indent="0" marL="0">
              <a:buNone/>
            </a:pPr>
            <a:r>
              <a:rPr lang="en-US" sz="2550" b="1" dirty="0">
                <a:solidFill>
                  <a:srgbClr val="003824"/>
                </a:solidFill>
                <a:latin typeface="Inter" pitchFamily="34" charset="0"/>
                <a:ea typeface="Inter" pitchFamily="34" charset="-122"/>
                <a:cs typeface="Inter" pitchFamily="34" charset="-120"/>
              </a:rPr>
              <a:t>1</a:t>
            </a:r>
            <a:endParaRPr lang="en-US" sz="2550" dirty="0"/>
          </a:p>
        </p:txBody>
      </p:sp>
      <p:sp>
        <p:nvSpPr>
          <p:cNvPr id="20" name="Text 18"/>
          <p:cNvSpPr/>
          <p:nvPr/>
        </p:nvSpPr>
        <p:spPr>
          <a:xfrm>
            <a:off x="9976470" y="4075361"/>
            <a:ext cx="7602490" cy="404813"/>
          </a:xfrm>
          <a:prstGeom prst="rect">
            <a:avLst/>
          </a:prstGeom>
          <a:noFill/>
          <a:ln/>
        </p:spPr>
        <p:txBody>
          <a:bodyPr wrap="square" lIns="25400" tIns="25400" rIns="25400" bIns="25400" rtlCol="0" anchor="t">
            <a:normAutofit/>
          </a:bodyPr>
          <a:lstStyle/>
          <a:p>
            <a:pPr algn="l" indent="0" marL="0">
              <a:buNone/>
            </a:pPr>
            <a:r>
              <a:rPr lang="en-US" sz="2400" b="1" dirty="0">
                <a:solidFill>
                  <a:srgbClr val="003824"/>
                </a:solidFill>
                <a:latin typeface="Inter" pitchFamily="34" charset="0"/>
                <a:ea typeface="Inter" pitchFamily="34" charset="-122"/>
                <a:cs typeface="Inter" pitchFamily="34" charset="-120"/>
              </a:rPr>
              <a:t>Answer a few questions</a:t>
            </a:r>
            <a:endParaRPr lang="en-US" sz="2400" dirty="0"/>
          </a:p>
        </p:txBody>
      </p:sp>
      <p:sp>
        <p:nvSpPr>
          <p:cNvPr id="21" name="Text 19"/>
          <p:cNvSpPr/>
          <p:nvPr/>
        </p:nvSpPr>
        <p:spPr>
          <a:xfrm>
            <a:off x="9976470" y="4442073"/>
            <a:ext cx="7118696" cy="706636"/>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5F6F68"/>
                </a:solidFill>
                <a:latin typeface="Inter" pitchFamily="34" charset="0"/>
                <a:ea typeface="Inter" pitchFamily="34" charset="-122"/>
                <a:cs typeface="Inter" pitchFamily="34" charset="-120"/>
              </a:rPr>
              <a:t>The engineer describes the new data source in plain language.</a:t>
            </a:r>
            <a:endParaRPr lang="en-US" sz="1950" dirty="0"/>
          </a:p>
        </p:txBody>
      </p:sp>
      <p:sp>
        <p:nvSpPr>
          <p:cNvPr id="22" name="Shape 20"/>
          <p:cNvSpPr/>
          <p:nvPr/>
        </p:nvSpPr>
        <p:spPr>
          <a:xfrm>
            <a:off x="9366870" y="5263009"/>
            <a:ext cx="19050" cy="209550"/>
          </a:xfrm>
          <a:prstGeom prst="rect">
            <a:avLst/>
          </a:prstGeom>
          <a:solidFill>
            <a:srgbClr val="CFE2D8"/>
          </a:solidFill>
          <a:ln/>
        </p:spPr>
      </p:sp>
      <p:sp>
        <p:nvSpPr>
          <p:cNvPr id="23" name="Shape 21"/>
          <p:cNvSpPr/>
          <p:nvPr/>
        </p:nvSpPr>
        <p:spPr>
          <a:xfrm>
            <a:off x="9023970" y="5790158"/>
            <a:ext cx="704850" cy="704850"/>
          </a:xfrm>
          <a:prstGeom prst="roundRect">
            <a:avLst>
              <a:gd name="adj" fmla="val 27027"/>
            </a:avLst>
          </a:prstGeom>
          <a:solidFill>
            <a:srgbClr val="006A4D"/>
          </a:solidFill>
          <a:ln/>
        </p:spPr>
      </p:sp>
      <p:sp>
        <p:nvSpPr>
          <p:cNvPr id="24" name="Text 22"/>
          <p:cNvSpPr/>
          <p:nvPr/>
        </p:nvSpPr>
        <p:spPr>
          <a:xfrm>
            <a:off x="8985870" y="5790158"/>
            <a:ext cx="781050" cy="742950"/>
          </a:xfrm>
          <a:prstGeom prst="rect">
            <a:avLst/>
          </a:prstGeom>
          <a:noFill/>
          <a:ln/>
        </p:spPr>
        <p:txBody>
          <a:bodyPr wrap="square" lIns="25400" tIns="25400" rIns="25400" bIns="25400" rtlCol="0" anchor="ctr">
            <a:normAutofit/>
          </a:bodyPr>
          <a:lstStyle/>
          <a:p>
            <a:pPr algn="ctr" indent="0" marL="0">
              <a:buNone/>
            </a:pPr>
            <a:r>
              <a:rPr lang="en-US" sz="2550" b="1" dirty="0">
                <a:solidFill>
                  <a:srgbClr val="FFFFFF"/>
                </a:solidFill>
                <a:latin typeface="Inter" pitchFamily="34" charset="0"/>
                <a:ea typeface="Inter" pitchFamily="34" charset="-122"/>
                <a:cs typeface="Inter" pitchFamily="34" charset="-120"/>
              </a:rPr>
              <a:t>2</a:t>
            </a:r>
            <a:endParaRPr lang="en-US" sz="2550" dirty="0"/>
          </a:p>
        </p:txBody>
      </p:sp>
      <p:sp>
        <p:nvSpPr>
          <p:cNvPr id="25" name="Text 23"/>
          <p:cNvSpPr/>
          <p:nvPr/>
        </p:nvSpPr>
        <p:spPr>
          <a:xfrm>
            <a:off x="9976470" y="5624959"/>
            <a:ext cx="7602490" cy="404813"/>
          </a:xfrm>
          <a:prstGeom prst="rect">
            <a:avLst/>
          </a:prstGeom>
          <a:noFill/>
          <a:ln/>
        </p:spPr>
        <p:txBody>
          <a:bodyPr wrap="square" lIns="25400" tIns="25400" rIns="25400" bIns="25400" rtlCol="0" anchor="t">
            <a:normAutofit/>
          </a:bodyPr>
          <a:lstStyle/>
          <a:p>
            <a:pPr algn="l" indent="0" marL="0">
              <a:buNone/>
            </a:pPr>
            <a:r>
              <a:rPr lang="en-US" sz="2400" b="1" dirty="0">
                <a:solidFill>
                  <a:srgbClr val="003824"/>
                </a:solidFill>
                <a:latin typeface="Inter" pitchFamily="34" charset="0"/>
                <a:ea typeface="Inter" pitchFamily="34" charset="-122"/>
                <a:cs typeface="Inter" pitchFamily="34" charset="-120"/>
              </a:rPr>
              <a:t>The AI builds the setup</a:t>
            </a:r>
            <a:endParaRPr lang="en-US" sz="2400" dirty="0"/>
          </a:p>
        </p:txBody>
      </p:sp>
      <p:sp>
        <p:nvSpPr>
          <p:cNvPr id="26" name="Text 24"/>
          <p:cNvSpPr/>
          <p:nvPr/>
        </p:nvSpPr>
        <p:spPr>
          <a:xfrm>
            <a:off x="9976470" y="5991671"/>
            <a:ext cx="7118696" cy="706636"/>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5F6F68"/>
                </a:solidFill>
                <a:latin typeface="Inter" pitchFamily="34" charset="0"/>
                <a:ea typeface="Inter" pitchFamily="34" charset="-122"/>
                <a:cs typeface="Inter" pitchFamily="34" charset="-120"/>
              </a:rPr>
              <a:t>All the plumbing to receive, store and organise the data — done automatically.</a:t>
            </a:r>
            <a:endParaRPr lang="en-US" sz="1950" dirty="0"/>
          </a:p>
        </p:txBody>
      </p:sp>
      <p:sp>
        <p:nvSpPr>
          <p:cNvPr id="27" name="Shape 25"/>
          <p:cNvSpPr/>
          <p:nvPr/>
        </p:nvSpPr>
        <p:spPr>
          <a:xfrm>
            <a:off x="9366870" y="6812607"/>
            <a:ext cx="19050" cy="209550"/>
          </a:xfrm>
          <a:prstGeom prst="rect">
            <a:avLst/>
          </a:prstGeom>
          <a:solidFill>
            <a:srgbClr val="CFE2D8"/>
          </a:solidFill>
          <a:ln/>
        </p:spPr>
      </p:sp>
      <p:sp>
        <p:nvSpPr>
          <p:cNvPr id="28" name="Shape 26"/>
          <p:cNvSpPr/>
          <p:nvPr/>
        </p:nvSpPr>
        <p:spPr>
          <a:xfrm>
            <a:off x="9023970" y="7174557"/>
            <a:ext cx="704850" cy="704850"/>
          </a:xfrm>
          <a:prstGeom prst="roundRect">
            <a:avLst>
              <a:gd name="adj" fmla="val 27027"/>
            </a:avLst>
          </a:prstGeom>
          <a:solidFill>
            <a:srgbClr val="003824"/>
          </a:solidFill>
          <a:ln/>
        </p:spPr>
      </p:sp>
      <p:sp>
        <p:nvSpPr>
          <p:cNvPr id="29" name="Text 27"/>
          <p:cNvSpPr/>
          <p:nvPr/>
        </p:nvSpPr>
        <p:spPr>
          <a:xfrm>
            <a:off x="8985870" y="7174557"/>
            <a:ext cx="781050" cy="742950"/>
          </a:xfrm>
          <a:prstGeom prst="rect">
            <a:avLst/>
          </a:prstGeom>
          <a:noFill/>
          <a:ln/>
        </p:spPr>
        <p:txBody>
          <a:bodyPr wrap="square" lIns="25400" tIns="25400" rIns="25400" bIns="25400" rtlCol="0" anchor="ctr">
            <a:normAutofit/>
          </a:bodyPr>
          <a:lstStyle/>
          <a:p>
            <a:pPr algn="ctr" indent="0" marL="0">
              <a:buNone/>
            </a:pPr>
            <a:r>
              <a:rPr lang="en-US" sz="2550" b="1" dirty="0">
                <a:solidFill>
                  <a:srgbClr val="FFFFFF"/>
                </a:solidFill>
                <a:latin typeface="Inter" pitchFamily="34" charset="0"/>
                <a:ea typeface="Inter" pitchFamily="34" charset="-122"/>
                <a:cs typeface="Inter" pitchFamily="34" charset="-120"/>
              </a:rPr>
              <a:t>3</a:t>
            </a:r>
            <a:endParaRPr lang="en-US" sz="2550" dirty="0"/>
          </a:p>
        </p:txBody>
      </p:sp>
      <p:sp>
        <p:nvSpPr>
          <p:cNvPr id="30" name="Text 28"/>
          <p:cNvSpPr/>
          <p:nvPr/>
        </p:nvSpPr>
        <p:spPr>
          <a:xfrm>
            <a:off x="9976470" y="7176492"/>
            <a:ext cx="7246174" cy="404813"/>
          </a:xfrm>
          <a:prstGeom prst="rect">
            <a:avLst/>
          </a:prstGeom>
          <a:noFill/>
          <a:ln/>
        </p:spPr>
        <p:txBody>
          <a:bodyPr wrap="square" lIns="25400" tIns="25400" rIns="25400" bIns="25400" rtlCol="0" anchor="t">
            <a:normAutofit/>
          </a:bodyPr>
          <a:lstStyle/>
          <a:p>
            <a:pPr algn="l" indent="0" marL="0">
              <a:buNone/>
            </a:pPr>
            <a:r>
              <a:rPr lang="en-US" sz="2400" b="1" dirty="0">
                <a:solidFill>
                  <a:srgbClr val="003824"/>
                </a:solidFill>
                <a:latin typeface="Inter" pitchFamily="34" charset="0"/>
                <a:ea typeface="Inter" pitchFamily="34" charset="-122"/>
                <a:cs typeface="Inter" pitchFamily="34" charset="-120"/>
              </a:rPr>
              <a:t>Data is ready to use</a:t>
            </a:r>
            <a:endParaRPr lang="en-US" sz="2400" dirty="0"/>
          </a:p>
        </p:txBody>
      </p:sp>
      <p:sp>
        <p:nvSpPr>
          <p:cNvPr id="31" name="Text 29"/>
          <p:cNvSpPr/>
          <p:nvPr/>
        </p:nvSpPr>
        <p:spPr>
          <a:xfrm>
            <a:off x="9976470" y="7543205"/>
            <a:ext cx="7246174" cy="372368"/>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5F6F68"/>
                </a:solidFill>
                <a:latin typeface="Inter" pitchFamily="34" charset="0"/>
                <a:ea typeface="Inter" pitchFamily="34" charset="-122"/>
                <a:cs typeface="Inter" pitchFamily="34" charset="-120"/>
              </a:rPr>
              <a:t>Reliable, consistent, and available to the business faster.</a:t>
            </a:r>
            <a:endParaRPr lang="en-US" sz="1950" dirty="0"/>
          </a:p>
        </p:txBody>
      </p:sp>
      <p:sp>
        <p:nvSpPr>
          <p:cNvPr id="32" name="Shape 30"/>
          <p:cNvSpPr/>
          <p:nvPr/>
        </p:nvSpPr>
        <p:spPr>
          <a:xfrm>
            <a:off x="9023970" y="8165157"/>
            <a:ext cx="7863855" cy="994321"/>
          </a:xfrm>
          <a:prstGeom prst="roundRect">
            <a:avLst>
              <a:gd name="adj" fmla="val 15327"/>
            </a:avLst>
          </a:prstGeom>
          <a:solidFill>
            <a:srgbClr val="FFFFFF"/>
          </a:solidFill>
          <a:ln w="9525">
            <a:solidFill>
              <a:srgbClr val="E6F1EC"/>
            </a:solidFill>
            <a:prstDash val="solid"/>
          </a:ln>
        </p:spPr>
      </p:sp>
      <p:sp>
        <p:nvSpPr>
          <p:cNvPr id="33" name="Text 31"/>
          <p:cNvSpPr/>
          <p:nvPr/>
        </p:nvSpPr>
        <p:spPr>
          <a:xfrm>
            <a:off x="9262095" y="8452768"/>
            <a:ext cx="3655747" cy="457200"/>
          </a:xfrm>
          <a:prstGeom prst="rect">
            <a:avLst/>
          </a:prstGeom>
          <a:noFill/>
          <a:ln/>
        </p:spPr>
        <p:txBody>
          <a:bodyPr wrap="square" lIns="25400" tIns="25400" rIns="25400" bIns="25400" rtlCol="0" anchor="t">
            <a:normAutofit/>
          </a:bodyPr>
          <a:lstStyle/>
          <a:p>
            <a:pPr algn="l" indent="0" marL="0">
              <a:lnSpc>
                <a:spcPct val="83019"/>
              </a:lnSpc>
              <a:buNone/>
            </a:pPr>
            <a:r>
              <a:rPr lang="en-US" sz="3300" b="1" dirty="0">
                <a:solidFill>
                  <a:srgbClr val="006A4D"/>
                </a:solidFill>
                <a:latin typeface="Inter" pitchFamily="34" charset="0"/>
                <a:ea typeface="Inter" pitchFamily="34" charset="-122"/>
                <a:cs typeface="Inter" pitchFamily="34" charset="-120"/>
              </a:rPr>
              <a:t>Days → Minutes</a:t>
            </a:r>
            <a:endParaRPr lang="en-US" sz="3300" dirty="0"/>
          </a:p>
        </p:txBody>
      </p:sp>
      <p:sp>
        <p:nvSpPr>
          <p:cNvPr id="34" name="Text 32"/>
          <p:cNvSpPr/>
          <p:nvPr/>
        </p:nvSpPr>
        <p:spPr>
          <a:xfrm>
            <a:off x="14247837" y="8365182"/>
            <a:ext cx="2401863" cy="632371"/>
          </a:xfrm>
          <a:prstGeom prst="rect">
            <a:avLst/>
          </a:prstGeom>
          <a:noFill/>
          <a:ln/>
        </p:spPr>
        <p:txBody>
          <a:bodyPr wrap="square" lIns="25400" tIns="25400" rIns="25400" bIns="25400" rtlCol="0" anchor="t">
            <a:normAutofit/>
          </a:bodyPr>
          <a:lstStyle/>
          <a:p>
            <a:pPr algn="r" indent="0" marL="0">
              <a:lnSpc>
                <a:spcPct val="105763"/>
              </a:lnSpc>
              <a:buNone/>
            </a:pPr>
            <a:r>
              <a:rPr lang="en-US" sz="1800" dirty="0">
                <a:solidFill>
                  <a:srgbClr val="5F6F68"/>
                </a:solidFill>
                <a:latin typeface="Inter" pitchFamily="34" charset="0"/>
                <a:ea typeface="Inter" pitchFamily="34" charset="-122"/>
                <a:cs typeface="Inter" pitchFamily="34" charset="-120"/>
              </a:rPr>
              <a:t>and engineers freed for higher-value 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90550"/>
            <a:ext cx="18021300" cy="366713"/>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006A4D"/>
                </a:solidFill>
                <a:latin typeface="JetBrains Mono" pitchFamily="34" charset="0"/>
                <a:ea typeface="JetBrains Mono" pitchFamily="34" charset="-122"/>
                <a:cs typeface="JetBrains Mono" pitchFamily="34" charset="-120"/>
              </a:rPr>
              <a:t>AI IN ENGINEERING · 02 / THE RESULT</a:t>
            </a:r>
            <a:endParaRPr lang="en-US" sz="1950" dirty="0"/>
          </a:p>
        </p:txBody>
      </p:sp>
      <p:sp>
        <p:nvSpPr>
          <p:cNvPr id="3" name="Shape 1"/>
          <p:cNvSpPr/>
          <p:nvPr/>
        </p:nvSpPr>
        <p:spPr>
          <a:xfrm>
            <a:off x="952500" y="1090613"/>
            <a:ext cx="685800" cy="47625"/>
          </a:xfrm>
          <a:prstGeom prst="roundRect">
            <a:avLst>
              <a:gd name="adj" fmla="val 40000"/>
            </a:avLst>
          </a:prstGeom>
          <a:solidFill>
            <a:srgbClr val="006A4D"/>
          </a:solidFill>
          <a:ln/>
        </p:spPr>
      </p:sp>
      <p:sp>
        <p:nvSpPr>
          <p:cNvPr id="4" name="Text 2"/>
          <p:cNvSpPr/>
          <p:nvPr/>
        </p:nvSpPr>
        <p:spPr>
          <a:xfrm>
            <a:off x="952500" y="1404938"/>
            <a:ext cx="18021300" cy="665931"/>
          </a:xfrm>
          <a:prstGeom prst="rect">
            <a:avLst/>
          </a:prstGeom>
          <a:noFill/>
          <a:ln/>
        </p:spPr>
        <p:txBody>
          <a:bodyPr wrap="none" lIns="25400" tIns="25400" rIns="25400" bIns="25400" rtlCol="0" anchor="t">
            <a:normAutofit/>
          </a:bodyPr>
          <a:lstStyle/>
          <a:p>
            <a:pPr algn="l" indent="0" marL="0">
              <a:lnSpc>
                <a:spcPct val="85058"/>
              </a:lnSpc>
              <a:buNone/>
            </a:pPr>
            <a:r>
              <a:rPr lang="en-US" sz="4800" b="1" spc="-96" kern="0" dirty="0">
                <a:solidFill>
                  <a:srgbClr val="003824"/>
                </a:solidFill>
                <a:latin typeface="Inter" pitchFamily="34" charset="0"/>
                <a:ea typeface="Inter" pitchFamily="34" charset="-122"/>
                <a:cs typeface="Inter" pitchFamily="34" charset="-120"/>
              </a:rPr>
              <a:t>Up to 5× faster — with fewer mistakes.</a:t>
            </a:r>
            <a:endParaRPr lang="en-US" sz="4800" dirty="0"/>
          </a:p>
        </p:txBody>
      </p:sp>
      <p:sp>
        <p:nvSpPr>
          <p:cNvPr id="5" name="Text 3"/>
          <p:cNvSpPr/>
          <p:nvPr/>
        </p:nvSpPr>
        <p:spPr>
          <a:xfrm>
            <a:off x="952500" y="2147069"/>
            <a:ext cx="8256359"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5F6F68"/>
                </a:solidFill>
                <a:latin typeface="Inter" pitchFamily="34" charset="0"/>
                <a:ea typeface="Inter" pitchFamily="34" charset="-122"/>
                <a:cs typeface="Inter" pitchFamily="34" charset="-120"/>
              </a:rPr>
              <a:t>Speed alone is risky. Guardrails make the speed safe to rely on.</a:t>
            </a:r>
            <a:endParaRPr lang="en-US" sz="2175" dirty="0"/>
          </a:p>
        </p:txBody>
      </p:sp>
      <p:sp>
        <p:nvSpPr>
          <p:cNvPr id="6" name="Shape 4"/>
          <p:cNvSpPr/>
          <p:nvPr/>
        </p:nvSpPr>
        <p:spPr>
          <a:xfrm>
            <a:off x="952500" y="3206130"/>
            <a:ext cx="6529536" cy="2779365"/>
          </a:xfrm>
          <a:prstGeom prst="roundRect">
            <a:avLst>
              <a:gd name="adj" fmla="val 7539"/>
            </a:avLst>
          </a:prstGeom>
          <a:solidFill>
            <a:srgbClr val="FBF3EA"/>
          </a:solidFill>
          <a:ln w="9525">
            <a:solidFill>
              <a:srgbClr val="EFDCC6"/>
            </a:solidFill>
            <a:prstDash val="solid"/>
          </a:ln>
        </p:spPr>
      </p:sp>
      <p:sp>
        <p:nvSpPr>
          <p:cNvPr id="7" name="Shape 5"/>
          <p:cNvSpPr/>
          <p:nvPr/>
        </p:nvSpPr>
        <p:spPr>
          <a:xfrm>
            <a:off x="1304925" y="3520455"/>
            <a:ext cx="1516410" cy="409575"/>
          </a:xfrm>
          <a:prstGeom prst="roundRect">
            <a:avLst>
              <a:gd name="adj" fmla="val 50000"/>
            </a:avLst>
          </a:prstGeom>
          <a:solidFill>
            <a:srgbClr val="F4E2CF"/>
          </a:solidFill>
          <a:ln/>
        </p:spPr>
      </p:sp>
      <p:sp>
        <p:nvSpPr>
          <p:cNvPr id="8" name="Text 6"/>
          <p:cNvSpPr/>
          <p:nvPr/>
        </p:nvSpPr>
        <p:spPr>
          <a:xfrm>
            <a:off x="1476375" y="3587130"/>
            <a:ext cx="1249710"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B5651D"/>
                </a:solidFill>
                <a:latin typeface="JetBrains Mono" pitchFamily="34" charset="0"/>
                <a:ea typeface="JetBrains Mono" pitchFamily="34" charset="-122"/>
                <a:cs typeface="JetBrains Mono" pitchFamily="34" charset="-120"/>
              </a:rPr>
              <a:t>THE RISK</a:t>
            </a:r>
            <a:endParaRPr lang="en-US" sz="1650" dirty="0"/>
          </a:p>
        </p:txBody>
      </p:sp>
      <p:sp>
        <p:nvSpPr>
          <p:cNvPr id="9" name="Text 7"/>
          <p:cNvSpPr/>
          <p:nvPr/>
        </p:nvSpPr>
        <p:spPr>
          <a:xfrm>
            <a:off x="1304925" y="4101480"/>
            <a:ext cx="5999427" cy="800100"/>
          </a:xfrm>
          <a:prstGeom prst="rect">
            <a:avLst/>
          </a:prstGeom>
          <a:noFill/>
          <a:ln/>
        </p:spPr>
        <p:txBody>
          <a:bodyPr wrap="square" lIns="25400" tIns="25400" rIns="25400" bIns="25400" rtlCol="0" anchor="t">
            <a:normAutofit/>
          </a:bodyPr>
          <a:lstStyle/>
          <a:p>
            <a:pPr algn="l" indent="0" marL="0">
              <a:lnSpc>
                <a:spcPct val="103896"/>
              </a:lnSpc>
              <a:buNone/>
            </a:pPr>
            <a:r>
              <a:rPr lang="en-US" sz="2400" b="1" dirty="0">
                <a:solidFill>
                  <a:srgbClr val="14201B"/>
                </a:solidFill>
                <a:latin typeface="Inter" pitchFamily="34" charset="0"/>
                <a:ea typeface="Inter" pitchFamily="34" charset="-122"/>
                <a:cs typeface="Inter" pitchFamily="34" charset="-120"/>
              </a:rPr>
              <a:t>Fast, unchecked AI makes fast mistakes.</a:t>
            </a:r>
            <a:endParaRPr lang="en-US" sz="2400" dirty="0"/>
          </a:p>
        </p:txBody>
      </p:sp>
      <p:sp>
        <p:nvSpPr>
          <p:cNvPr id="10" name="Text 8"/>
          <p:cNvSpPr/>
          <p:nvPr/>
        </p:nvSpPr>
        <p:spPr>
          <a:xfrm>
            <a:off x="1304925" y="4977780"/>
            <a:ext cx="5999427" cy="731490"/>
          </a:xfrm>
          <a:prstGeom prst="rect">
            <a:avLst/>
          </a:prstGeom>
          <a:noFill/>
          <a:ln/>
        </p:spPr>
        <p:txBody>
          <a:bodyPr wrap="square" lIns="25400" tIns="25400" rIns="25400" bIns="25400" rtlCol="0" anchor="t">
            <a:normAutofit/>
          </a:bodyPr>
          <a:lstStyle/>
          <a:p>
            <a:pPr algn="l" indent="0" marL="0">
              <a:lnSpc>
                <a:spcPct val="115556"/>
              </a:lnSpc>
              <a:buNone/>
            </a:pPr>
            <a:r>
              <a:rPr lang="en-US" sz="1950" dirty="0">
                <a:solidFill>
                  <a:srgbClr val="6A5A45"/>
                </a:solidFill>
                <a:latin typeface="Inter" pitchFamily="34" charset="0"/>
                <a:ea typeface="Inter" pitchFamily="34" charset="-122"/>
                <a:cs typeface="Inter" pitchFamily="34" charset="-120"/>
              </a:rPr>
              <a:t>Volume without discipline lets errors slip through to customers.</a:t>
            </a:r>
            <a:endParaRPr lang="en-US" sz="1950" dirty="0"/>
          </a:p>
        </p:txBody>
      </p:sp>
      <p:sp>
        <p:nvSpPr>
          <p:cNvPr id="11" name="Shape 9"/>
          <p:cNvSpPr/>
          <p:nvPr/>
        </p:nvSpPr>
        <p:spPr>
          <a:xfrm>
            <a:off x="952500" y="6214095"/>
            <a:ext cx="6529536" cy="3482355"/>
          </a:xfrm>
          <a:prstGeom prst="roundRect">
            <a:avLst>
              <a:gd name="adj" fmla="val 6017"/>
            </a:avLst>
          </a:prstGeom>
          <a:gradFill rotWithShape="1">
            <a:gsLst>
              <a:gs pos="0">
                <a:srgbClr val="006A4D">
                  <a:alpha val="100000"/>
                </a:srgbClr>
              </a:gs>
              <a:gs pos="100000">
                <a:srgbClr val="0A8A63">
                  <a:alpha val="100000"/>
                </a:srgbClr>
              </a:gs>
            </a:gsLst>
            <a:lin ang="2700000" scaled="0"/>
          </a:gradFill>
          <a:ln/>
        </p:spPr>
      </p:sp>
      <p:sp>
        <p:nvSpPr>
          <p:cNvPr id="12" name="Text 10"/>
          <p:cNvSpPr/>
          <p:nvPr/>
        </p:nvSpPr>
        <p:spPr>
          <a:xfrm>
            <a:off x="1333500" y="6657082"/>
            <a:ext cx="1947996" cy="1209675"/>
          </a:xfrm>
          <a:prstGeom prst="rect">
            <a:avLst/>
          </a:prstGeom>
          <a:noFill/>
          <a:ln/>
        </p:spPr>
        <p:txBody>
          <a:bodyPr wrap="square" lIns="25400" tIns="25400" rIns="25400" bIns="25400" rtlCol="0" anchor="t">
            <a:normAutofit/>
          </a:bodyPr>
          <a:lstStyle/>
          <a:p>
            <a:pPr algn="l" indent="0" marL="0">
              <a:lnSpc>
                <a:spcPct val="67769"/>
              </a:lnSpc>
              <a:buNone/>
            </a:pPr>
            <a:r>
              <a:rPr lang="en-US" sz="11250" b="1" spc="-450" kern="0" dirty="0">
                <a:solidFill>
                  <a:srgbClr val="FFFFFF"/>
                </a:solidFill>
                <a:latin typeface="Inter" pitchFamily="34" charset="0"/>
                <a:ea typeface="Inter" pitchFamily="34" charset="-122"/>
                <a:cs typeface="Inter" pitchFamily="34" charset="-120"/>
              </a:rPr>
              <a:t>5×</a:t>
            </a:r>
            <a:endParaRPr lang="en-US" sz="11250" dirty="0"/>
          </a:p>
        </p:txBody>
      </p:sp>
      <p:sp>
        <p:nvSpPr>
          <p:cNvPr id="13" name="Text 11"/>
          <p:cNvSpPr/>
          <p:nvPr/>
        </p:nvSpPr>
        <p:spPr>
          <a:xfrm>
            <a:off x="3256806" y="7509570"/>
            <a:ext cx="819150" cy="366713"/>
          </a:xfrm>
          <a:prstGeom prst="rect">
            <a:avLst/>
          </a:prstGeom>
          <a:noFill/>
          <a:ln/>
        </p:spPr>
        <p:txBody>
          <a:bodyPr wrap="square" lIns="25400" tIns="25400" rIns="25400" bIns="25400" rtlCol="0" anchor="t">
            <a:normAutofit/>
          </a:bodyPr>
          <a:lstStyle/>
          <a:p>
            <a:pPr algn="l" indent="0" marL="0">
              <a:buNone/>
            </a:pPr>
            <a:r>
              <a:rPr lang="en-US" sz="1950" dirty="0">
                <a:solidFill>
                  <a:srgbClr val="CBEADD"/>
                </a:solidFill>
                <a:latin typeface="JetBrains Mono" pitchFamily="34" charset="0"/>
                <a:ea typeface="JetBrains Mono" pitchFamily="34" charset="-122"/>
                <a:cs typeface="JetBrains Mono" pitchFamily="34" charset="-120"/>
              </a:rPr>
              <a:t>up to</a:t>
            </a:r>
            <a:endParaRPr lang="en-US" sz="1950" dirty="0"/>
          </a:p>
        </p:txBody>
      </p:sp>
      <p:sp>
        <p:nvSpPr>
          <p:cNvPr id="14" name="Text 12"/>
          <p:cNvSpPr/>
          <p:nvPr/>
        </p:nvSpPr>
        <p:spPr>
          <a:xfrm>
            <a:off x="1333500" y="8142982"/>
            <a:ext cx="5940562" cy="1148507"/>
          </a:xfrm>
          <a:prstGeom prst="rect">
            <a:avLst/>
          </a:prstGeom>
          <a:noFill/>
          <a:ln/>
        </p:spPr>
        <p:txBody>
          <a:bodyPr wrap="square" lIns="25400" tIns="25400" rIns="25400" bIns="25400" rtlCol="0" anchor="t">
            <a:normAutofit/>
          </a:bodyPr>
          <a:lstStyle/>
          <a:p>
            <a:pPr algn="l" indent="0" marL="0">
              <a:lnSpc>
                <a:spcPct val="111029"/>
              </a:lnSpc>
              <a:buNone/>
            </a:pPr>
            <a:r>
              <a:rPr lang="en-US" sz="2175" dirty="0">
                <a:solidFill>
                  <a:srgbClr val="EAF4EF"/>
                </a:solidFill>
                <a:latin typeface="Inter" pitchFamily="34" charset="0"/>
                <a:ea typeface="Inter" pitchFamily="34" charset="-122"/>
                <a:cs typeface="Inter" pitchFamily="34" charset="-120"/>
              </a:rPr>
              <a:t>faster delivery from the </a:t>
            </a:r>
            <a:pPr algn="l" indent="0" marL="0">
              <a:lnSpc>
                <a:spcPct val="111029"/>
              </a:lnSpc>
              <a:buNone/>
            </a:pPr>
            <a:r>
              <a:rPr lang="en-US" sz="2175" b="1" dirty="0">
                <a:solidFill>
                  <a:srgbClr val="FFFFFF"/>
                </a:solidFill>
                <a:latin typeface="Inter" pitchFamily="34" charset="0"/>
                <a:ea typeface="Inter" pitchFamily="34" charset="-122"/>
                <a:cs typeface="Inter" pitchFamily="34" charset="-120"/>
              </a:rPr>
              <a:t>Superpowers </a:t>
            </a:r>
            <a:pPr algn="l" indent="0" marL="0">
              <a:lnSpc>
                <a:spcPct val="111029"/>
              </a:lnSpc>
              <a:buNone/>
            </a:pPr>
            <a:r>
              <a:rPr lang="en-US" sz="2175" dirty="0">
                <a:solidFill>
                  <a:srgbClr val="EAF4EF"/>
                </a:solidFill>
                <a:latin typeface="Inter" pitchFamily="34" charset="0"/>
                <a:ea typeface="Inter" pitchFamily="34" charset="-122"/>
                <a:cs typeface="Inter" pitchFamily="34" charset="-120"/>
              </a:rPr>
              <a:t>-guided approach — with higher quality, not lower.</a:t>
            </a:r>
            <a:endParaRPr lang="en-US" sz="2175" dirty="0"/>
          </a:p>
        </p:txBody>
      </p:sp>
      <p:sp>
        <p:nvSpPr>
          <p:cNvPr id="15" name="Text 13"/>
          <p:cNvSpPr/>
          <p:nvPr/>
        </p:nvSpPr>
        <p:spPr>
          <a:xfrm>
            <a:off x="7939236" y="3206130"/>
            <a:ext cx="10335890"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006A4D"/>
                </a:solidFill>
                <a:latin typeface="JetBrains Mono" pitchFamily="34" charset="0"/>
                <a:ea typeface="JetBrains Mono" pitchFamily="34" charset="-122"/>
                <a:cs typeface="JetBrains Mono" pitchFamily="34" charset="-120"/>
              </a:rPr>
              <a:t>THE GUARDRAILS — SUPERPOWERS SKILLS</a:t>
            </a:r>
            <a:endParaRPr lang="en-US" sz="1650" dirty="0"/>
          </a:p>
        </p:txBody>
      </p:sp>
      <p:sp>
        <p:nvSpPr>
          <p:cNvPr id="16" name="Shape 14"/>
          <p:cNvSpPr/>
          <p:nvPr/>
        </p:nvSpPr>
        <p:spPr>
          <a:xfrm>
            <a:off x="7939236" y="3653805"/>
            <a:ext cx="4612407" cy="2781300"/>
          </a:xfrm>
          <a:prstGeom prst="roundRect">
            <a:avLst>
              <a:gd name="adj" fmla="val 6164"/>
            </a:avLst>
          </a:prstGeom>
          <a:solidFill>
            <a:srgbClr val="F3F8F5"/>
          </a:solidFill>
          <a:ln w="9525">
            <a:solidFill>
              <a:srgbClr val="E6F1EC"/>
            </a:solidFill>
            <a:prstDash val="solid"/>
          </a:ln>
        </p:spPr>
      </p:sp>
      <p:sp>
        <p:nvSpPr>
          <p:cNvPr id="17" name="Text 15"/>
          <p:cNvSpPr/>
          <p:nvPr/>
        </p:nvSpPr>
        <p:spPr>
          <a:xfrm>
            <a:off x="8234511" y="4264372"/>
            <a:ext cx="4424043" cy="514350"/>
          </a:xfrm>
          <a:prstGeom prst="rect">
            <a:avLst/>
          </a:prstGeom>
          <a:noFill/>
          <a:ln/>
        </p:spPr>
        <p:txBody>
          <a:bodyPr wrap="square" lIns="25400" tIns="25400" rIns="25400" bIns="25400" rtlCol="0" anchor="t">
            <a:normAutofit/>
          </a:bodyPr>
          <a:lstStyle/>
          <a:p>
            <a:pPr algn="l" indent="0" marL="0">
              <a:buNone/>
            </a:pPr>
            <a:r>
              <a:rPr lang="en-US" sz="2850" dirty="0">
                <a:solidFill>
                  <a:srgbClr val="14201B"/>
                </a:solidFill>
                <a:latin typeface="Inter" pitchFamily="34" charset="0"/>
                <a:ea typeface="Inter" pitchFamily="34" charset="-122"/>
                <a:cs typeface="Inter" pitchFamily="34" charset="-120"/>
              </a:rPr>
              <a:t>🎯</a:t>
            </a:r>
            <a:endParaRPr lang="en-US" sz="2850" dirty="0"/>
          </a:p>
        </p:txBody>
      </p:sp>
      <p:sp>
        <p:nvSpPr>
          <p:cNvPr id="18" name="Text 16"/>
          <p:cNvSpPr/>
          <p:nvPr/>
        </p:nvSpPr>
        <p:spPr>
          <a:xfrm>
            <a:off x="8234511" y="4816822"/>
            <a:ext cx="4424043"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03824"/>
                </a:solidFill>
                <a:latin typeface="Inter" pitchFamily="34" charset="0"/>
                <a:ea typeface="Inter" pitchFamily="34" charset="-122"/>
                <a:cs typeface="Inter" pitchFamily="34" charset="-120"/>
              </a:rPr>
              <a:t>Agree the plan first</a:t>
            </a:r>
            <a:endParaRPr lang="en-US" sz="2175" dirty="0"/>
          </a:p>
        </p:txBody>
      </p:sp>
      <p:sp>
        <p:nvSpPr>
          <p:cNvPr id="19" name="Text 17"/>
          <p:cNvSpPr/>
          <p:nvPr/>
        </p:nvSpPr>
        <p:spPr>
          <a:xfrm>
            <a:off x="8234511" y="5207347"/>
            <a:ext cx="4142513" cy="655290"/>
          </a:xfrm>
          <a:prstGeom prst="rect">
            <a:avLst/>
          </a:prstGeom>
          <a:noFill/>
          <a:ln/>
        </p:spPr>
        <p:txBody>
          <a:bodyPr wrap="square" lIns="25400" tIns="25400" rIns="25400" bIns="25400" rtlCol="0" anchor="t">
            <a:normAutofit/>
          </a:bodyPr>
          <a:lstStyle/>
          <a:p>
            <a:pPr algn="l" indent="0" marL="0">
              <a:lnSpc>
                <a:spcPct val="109831"/>
              </a:lnSpc>
              <a:buNone/>
            </a:pPr>
            <a:r>
              <a:rPr lang="en-US" sz="1800" dirty="0">
                <a:solidFill>
                  <a:srgbClr val="5F6F68"/>
                </a:solidFill>
                <a:latin typeface="Inter" pitchFamily="34" charset="0"/>
                <a:ea typeface="Inter" pitchFamily="34" charset="-122"/>
                <a:cs typeface="Inter" pitchFamily="34" charset="-120"/>
              </a:rPr>
              <a:t>Nothing is built until the approach is clear and approved.</a:t>
            </a:r>
            <a:endParaRPr lang="en-US" sz="1800" dirty="0"/>
          </a:p>
        </p:txBody>
      </p:sp>
      <p:sp>
        <p:nvSpPr>
          <p:cNvPr id="20" name="Shape 18"/>
          <p:cNvSpPr/>
          <p:nvPr/>
        </p:nvSpPr>
        <p:spPr>
          <a:xfrm>
            <a:off x="12723093" y="3653805"/>
            <a:ext cx="4612407" cy="2781300"/>
          </a:xfrm>
          <a:prstGeom prst="roundRect">
            <a:avLst>
              <a:gd name="adj" fmla="val 6164"/>
            </a:avLst>
          </a:prstGeom>
          <a:solidFill>
            <a:srgbClr val="F3F8F5"/>
          </a:solidFill>
          <a:ln w="9525">
            <a:solidFill>
              <a:srgbClr val="E6F1EC"/>
            </a:solidFill>
            <a:prstDash val="solid"/>
          </a:ln>
        </p:spPr>
      </p:sp>
      <p:sp>
        <p:nvSpPr>
          <p:cNvPr id="21" name="Text 19"/>
          <p:cNvSpPr/>
          <p:nvPr/>
        </p:nvSpPr>
        <p:spPr>
          <a:xfrm>
            <a:off x="13018368" y="4264372"/>
            <a:ext cx="4424043" cy="514350"/>
          </a:xfrm>
          <a:prstGeom prst="rect">
            <a:avLst/>
          </a:prstGeom>
          <a:noFill/>
          <a:ln/>
        </p:spPr>
        <p:txBody>
          <a:bodyPr wrap="square" lIns="25400" tIns="25400" rIns="25400" bIns="25400" rtlCol="0" anchor="t">
            <a:normAutofit/>
          </a:bodyPr>
          <a:lstStyle/>
          <a:p>
            <a:pPr algn="l" indent="0" marL="0">
              <a:buNone/>
            </a:pPr>
            <a:r>
              <a:rPr lang="en-US" sz="2850" dirty="0">
                <a:solidFill>
                  <a:srgbClr val="14201B"/>
                </a:solidFill>
                <a:latin typeface="Inter" pitchFamily="34" charset="0"/>
                <a:ea typeface="Inter" pitchFamily="34" charset="-122"/>
                <a:cs typeface="Inter" pitchFamily="34" charset="-120"/>
              </a:rPr>
              <a:t>✅</a:t>
            </a:r>
            <a:endParaRPr lang="en-US" sz="2850" dirty="0"/>
          </a:p>
        </p:txBody>
      </p:sp>
      <p:sp>
        <p:nvSpPr>
          <p:cNvPr id="22" name="Text 20"/>
          <p:cNvSpPr/>
          <p:nvPr/>
        </p:nvSpPr>
        <p:spPr>
          <a:xfrm>
            <a:off x="13018368" y="4816822"/>
            <a:ext cx="4424043"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03824"/>
                </a:solidFill>
                <a:latin typeface="Inter" pitchFamily="34" charset="0"/>
                <a:ea typeface="Inter" pitchFamily="34" charset="-122"/>
                <a:cs typeface="Inter" pitchFamily="34" charset="-120"/>
              </a:rPr>
              <a:t>Test-Driven Development</a:t>
            </a:r>
            <a:endParaRPr lang="en-US" sz="2175" dirty="0"/>
          </a:p>
        </p:txBody>
      </p:sp>
      <p:sp>
        <p:nvSpPr>
          <p:cNvPr id="23" name="Text 21"/>
          <p:cNvSpPr/>
          <p:nvPr/>
        </p:nvSpPr>
        <p:spPr>
          <a:xfrm>
            <a:off x="13018368" y="5207347"/>
            <a:ext cx="4142513" cy="655290"/>
          </a:xfrm>
          <a:prstGeom prst="rect">
            <a:avLst/>
          </a:prstGeom>
          <a:noFill/>
          <a:ln/>
        </p:spPr>
        <p:txBody>
          <a:bodyPr wrap="square" lIns="25400" tIns="25400" rIns="25400" bIns="25400" rtlCol="0" anchor="t">
            <a:normAutofit/>
          </a:bodyPr>
          <a:lstStyle/>
          <a:p>
            <a:pPr algn="l" indent="0" marL="0">
              <a:lnSpc>
                <a:spcPct val="109831"/>
              </a:lnSpc>
              <a:buNone/>
            </a:pPr>
            <a:r>
              <a:rPr lang="en-US" sz="1800" dirty="0">
                <a:solidFill>
                  <a:srgbClr val="5F6F68"/>
                </a:solidFill>
                <a:latin typeface="Inter" pitchFamily="34" charset="0"/>
                <a:ea typeface="Inter" pitchFamily="34" charset="-122"/>
                <a:cs typeface="Inter" pitchFamily="34" charset="-120"/>
              </a:rPr>
              <a:t>Quality is proven by tests as the work is done, not bolted on later.</a:t>
            </a:r>
            <a:endParaRPr lang="en-US" sz="1800" dirty="0"/>
          </a:p>
        </p:txBody>
      </p:sp>
      <p:sp>
        <p:nvSpPr>
          <p:cNvPr id="24" name="Shape 22"/>
          <p:cNvSpPr/>
          <p:nvPr/>
        </p:nvSpPr>
        <p:spPr>
          <a:xfrm>
            <a:off x="7939236" y="6606555"/>
            <a:ext cx="4612407" cy="3089895"/>
          </a:xfrm>
          <a:prstGeom prst="roundRect">
            <a:avLst>
              <a:gd name="adj" fmla="val 5549"/>
            </a:avLst>
          </a:prstGeom>
          <a:solidFill>
            <a:srgbClr val="F3F8F5"/>
          </a:solidFill>
          <a:ln w="9525">
            <a:solidFill>
              <a:srgbClr val="E6F1EC"/>
            </a:solidFill>
            <a:prstDash val="solid"/>
          </a:ln>
        </p:spPr>
      </p:sp>
      <p:sp>
        <p:nvSpPr>
          <p:cNvPr id="25" name="Text 23"/>
          <p:cNvSpPr/>
          <p:nvPr/>
        </p:nvSpPr>
        <p:spPr>
          <a:xfrm>
            <a:off x="8234511" y="7217122"/>
            <a:ext cx="4424043" cy="514350"/>
          </a:xfrm>
          <a:prstGeom prst="rect">
            <a:avLst/>
          </a:prstGeom>
          <a:noFill/>
          <a:ln/>
        </p:spPr>
        <p:txBody>
          <a:bodyPr wrap="square" lIns="25400" tIns="25400" rIns="25400" bIns="25400" rtlCol="0" anchor="t">
            <a:normAutofit/>
          </a:bodyPr>
          <a:lstStyle/>
          <a:p>
            <a:pPr algn="l" indent="0" marL="0">
              <a:buNone/>
            </a:pPr>
            <a:r>
              <a:rPr lang="en-US" sz="2850" dirty="0">
                <a:solidFill>
                  <a:srgbClr val="14201B"/>
                </a:solidFill>
                <a:latin typeface="Inter" pitchFamily="34" charset="0"/>
                <a:ea typeface="Inter" pitchFamily="34" charset="-122"/>
                <a:cs typeface="Inter" pitchFamily="34" charset="-120"/>
              </a:rPr>
              <a:t>🔍</a:t>
            </a:r>
            <a:endParaRPr lang="en-US" sz="2850" dirty="0"/>
          </a:p>
        </p:txBody>
      </p:sp>
      <p:sp>
        <p:nvSpPr>
          <p:cNvPr id="26" name="Text 24"/>
          <p:cNvSpPr/>
          <p:nvPr/>
        </p:nvSpPr>
        <p:spPr>
          <a:xfrm>
            <a:off x="8234511" y="7769572"/>
            <a:ext cx="4424043"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03824"/>
                </a:solidFill>
                <a:latin typeface="Inter" pitchFamily="34" charset="0"/>
                <a:ea typeface="Inter" pitchFamily="34" charset="-122"/>
                <a:cs typeface="Inter" pitchFamily="34" charset="-120"/>
              </a:rPr>
              <a:t>Automatic reviews</a:t>
            </a:r>
            <a:endParaRPr lang="en-US" sz="2175" dirty="0"/>
          </a:p>
        </p:txBody>
      </p:sp>
      <p:sp>
        <p:nvSpPr>
          <p:cNvPr id="27" name="Text 25"/>
          <p:cNvSpPr/>
          <p:nvPr/>
        </p:nvSpPr>
        <p:spPr>
          <a:xfrm>
            <a:off x="8234511" y="8160097"/>
            <a:ext cx="4142513" cy="963885"/>
          </a:xfrm>
          <a:prstGeom prst="rect">
            <a:avLst/>
          </a:prstGeom>
          <a:noFill/>
          <a:ln/>
        </p:spPr>
        <p:txBody>
          <a:bodyPr wrap="square" lIns="25400" tIns="25400" rIns="25400" bIns="25400" rtlCol="0" anchor="t">
            <a:normAutofit/>
          </a:bodyPr>
          <a:lstStyle/>
          <a:p>
            <a:pPr algn="l" indent="0" marL="0">
              <a:lnSpc>
                <a:spcPct val="109831"/>
              </a:lnSpc>
              <a:buNone/>
            </a:pPr>
            <a:r>
              <a:rPr lang="en-US" sz="1800" dirty="0">
                <a:solidFill>
                  <a:srgbClr val="5F6F68"/>
                </a:solidFill>
                <a:latin typeface="Inter" pitchFamily="34" charset="0"/>
                <a:ea typeface="Inter" pitchFamily="34" charset="-122"/>
                <a:cs typeface="Inter" pitchFamily="34" charset="-120"/>
              </a:rPr>
              <a:t>Every change is thoroughly reviewed — catching costly bugs humans skim past.</a:t>
            </a:r>
            <a:endParaRPr lang="en-US" sz="1800" dirty="0"/>
          </a:p>
        </p:txBody>
      </p:sp>
      <p:sp>
        <p:nvSpPr>
          <p:cNvPr id="28" name="Shape 26"/>
          <p:cNvSpPr/>
          <p:nvPr/>
        </p:nvSpPr>
        <p:spPr>
          <a:xfrm>
            <a:off x="12723093" y="6606555"/>
            <a:ext cx="4612407" cy="3089895"/>
          </a:xfrm>
          <a:prstGeom prst="roundRect">
            <a:avLst>
              <a:gd name="adj" fmla="val 5549"/>
            </a:avLst>
          </a:prstGeom>
          <a:solidFill>
            <a:srgbClr val="003824"/>
          </a:solidFill>
          <a:ln/>
        </p:spPr>
      </p:sp>
      <p:sp>
        <p:nvSpPr>
          <p:cNvPr id="29" name="Text 27"/>
          <p:cNvSpPr/>
          <p:nvPr/>
        </p:nvSpPr>
        <p:spPr>
          <a:xfrm>
            <a:off x="13008843" y="7371383"/>
            <a:ext cx="4444998" cy="514350"/>
          </a:xfrm>
          <a:prstGeom prst="rect">
            <a:avLst/>
          </a:prstGeom>
          <a:noFill/>
          <a:ln/>
        </p:spPr>
        <p:txBody>
          <a:bodyPr wrap="square" lIns="25400" tIns="25400" rIns="25400" bIns="25400" rtlCol="0" anchor="t">
            <a:normAutofit/>
          </a:bodyPr>
          <a:lstStyle/>
          <a:p>
            <a:pPr algn="l" indent="0" marL="0">
              <a:buNone/>
            </a:pPr>
            <a:r>
              <a:rPr lang="en-US" sz="2850" dirty="0">
                <a:solidFill>
                  <a:srgbClr val="14201B"/>
                </a:solidFill>
                <a:latin typeface="Inter" pitchFamily="34" charset="0"/>
                <a:ea typeface="Inter" pitchFamily="34" charset="-122"/>
                <a:cs typeface="Inter" pitchFamily="34" charset="-120"/>
              </a:rPr>
              <a:t>🛡️</a:t>
            </a:r>
            <a:endParaRPr lang="en-US" sz="2850" dirty="0"/>
          </a:p>
        </p:txBody>
      </p:sp>
      <p:sp>
        <p:nvSpPr>
          <p:cNvPr id="30" name="Text 28"/>
          <p:cNvSpPr/>
          <p:nvPr/>
        </p:nvSpPr>
        <p:spPr>
          <a:xfrm>
            <a:off x="13008843" y="7923833"/>
            <a:ext cx="4444998"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FFFFFF"/>
                </a:solidFill>
                <a:latin typeface="Inter" pitchFamily="34" charset="0"/>
                <a:ea typeface="Inter" pitchFamily="34" charset="-122"/>
                <a:cs typeface="Inter" pitchFamily="34" charset="-120"/>
              </a:rPr>
              <a:t>Safe to rely on</a:t>
            </a:r>
            <a:endParaRPr lang="en-US" sz="2175" dirty="0"/>
          </a:p>
        </p:txBody>
      </p:sp>
      <p:sp>
        <p:nvSpPr>
          <p:cNvPr id="31" name="Text 29"/>
          <p:cNvSpPr/>
          <p:nvPr/>
        </p:nvSpPr>
        <p:spPr>
          <a:xfrm>
            <a:off x="13008843" y="8314358"/>
            <a:ext cx="4162134" cy="655290"/>
          </a:xfrm>
          <a:prstGeom prst="rect">
            <a:avLst/>
          </a:prstGeom>
          <a:noFill/>
          <a:ln/>
        </p:spPr>
        <p:txBody>
          <a:bodyPr wrap="square" lIns="25400" tIns="25400" rIns="25400" bIns="25400" rtlCol="0" anchor="t">
            <a:normAutofit/>
          </a:bodyPr>
          <a:lstStyle/>
          <a:p>
            <a:pPr algn="l" indent="0" marL="0">
              <a:lnSpc>
                <a:spcPct val="109831"/>
              </a:lnSpc>
              <a:buNone/>
            </a:pPr>
            <a:r>
              <a:rPr lang="en-US" sz="1800" dirty="0">
                <a:solidFill>
                  <a:srgbClr val="CFE2D8"/>
                </a:solidFill>
                <a:latin typeface="Inter" pitchFamily="34" charset="0"/>
                <a:ea typeface="Inter" pitchFamily="34" charset="-122"/>
                <a:cs typeface="Inter" pitchFamily="34" charset="-120"/>
              </a:rPr>
              <a:t>Faster delivery the business can trust to reach customers cleanly.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666750"/>
            <a:ext cx="18021300" cy="366713"/>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006A4D"/>
                </a:solidFill>
                <a:latin typeface="JetBrains Mono" pitchFamily="34" charset="0"/>
                <a:ea typeface="JetBrains Mono" pitchFamily="34" charset="-122"/>
                <a:cs typeface="JetBrains Mono" pitchFamily="34" charset="-120"/>
              </a:rPr>
              <a:t>AI IN ENGINEERING · 03 / GUARDRAILS FOR EVERYONE</a:t>
            </a:r>
            <a:endParaRPr lang="en-US" sz="1950" dirty="0"/>
          </a:p>
        </p:txBody>
      </p:sp>
      <p:sp>
        <p:nvSpPr>
          <p:cNvPr id="3" name="Shape 1"/>
          <p:cNvSpPr/>
          <p:nvPr/>
        </p:nvSpPr>
        <p:spPr>
          <a:xfrm>
            <a:off x="952500" y="1166813"/>
            <a:ext cx="685800" cy="47625"/>
          </a:xfrm>
          <a:prstGeom prst="roundRect">
            <a:avLst>
              <a:gd name="adj" fmla="val 40000"/>
            </a:avLst>
          </a:prstGeom>
          <a:solidFill>
            <a:srgbClr val="006A4D"/>
          </a:solidFill>
          <a:ln/>
        </p:spPr>
      </p:sp>
      <p:sp>
        <p:nvSpPr>
          <p:cNvPr id="4" name="Text 2"/>
          <p:cNvSpPr/>
          <p:nvPr/>
        </p:nvSpPr>
        <p:spPr>
          <a:xfrm>
            <a:off x="952500" y="1481138"/>
            <a:ext cx="18021300" cy="665931"/>
          </a:xfrm>
          <a:prstGeom prst="rect">
            <a:avLst/>
          </a:prstGeom>
          <a:noFill/>
          <a:ln/>
        </p:spPr>
        <p:txBody>
          <a:bodyPr wrap="none" lIns="25400" tIns="25400" rIns="25400" bIns="25400" rtlCol="0" anchor="t">
            <a:normAutofit/>
          </a:bodyPr>
          <a:lstStyle/>
          <a:p>
            <a:pPr algn="l" indent="0" marL="0">
              <a:lnSpc>
                <a:spcPct val="85058"/>
              </a:lnSpc>
              <a:buNone/>
            </a:pPr>
            <a:r>
              <a:rPr lang="en-US" sz="4800" b="1" spc="-96" kern="0" dirty="0">
                <a:solidFill>
                  <a:srgbClr val="003824"/>
                </a:solidFill>
                <a:latin typeface="Inter" pitchFamily="34" charset="0"/>
                <a:ea typeface="Inter" pitchFamily="34" charset="-122"/>
                <a:cs typeface="Inter" pitchFamily="34" charset="-120"/>
              </a:rPr>
              <a:t>A built-in rulebook in every project.</a:t>
            </a:r>
            <a:endParaRPr lang="en-US" sz="4800" dirty="0"/>
          </a:p>
        </p:txBody>
      </p:sp>
      <p:sp>
        <p:nvSpPr>
          <p:cNvPr id="5" name="Text 3"/>
          <p:cNvSpPr/>
          <p:nvPr/>
        </p:nvSpPr>
        <p:spPr>
          <a:xfrm>
            <a:off x="952500" y="2223269"/>
            <a:ext cx="8615371"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5F6F68"/>
                </a:solidFill>
                <a:latin typeface="Inter" pitchFamily="34" charset="0"/>
                <a:ea typeface="Inter" pitchFamily="34" charset="-122"/>
                <a:cs typeface="Inter" pitchFamily="34" charset="-120"/>
              </a:rPr>
              <a:t>So anyone can make changes safely — regardless of experience.</a:t>
            </a:r>
            <a:endParaRPr lang="en-US" sz="2175" dirty="0"/>
          </a:p>
        </p:txBody>
      </p:sp>
      <p:sp>
        <p:nvSpPr>
          <p:cNvPr id="6" name="Shape 4"/>
          <p:cNvSpPr/>
          <p:nvPr/>
        </p:nvSpPr>
        <p:spPr>
          <a:xfrm>
            <a:off x="952500" y="3377580"/>
            <a:ext cx="7166595" cy="3016523"/>
          </a:xfrm>
          <a:prstGeom prst="roundRect">
            <a:avLst>
              <a:gd name="adj" fmla="val 6947"/>
            </a:avLst>
          </a:prstGeom>
          <a:solidFill>
            <a:srgbClr val="FBF3EA"/>
          </a:solidFill>
          <a:ln w="9525">
            <a:solidFill>
              <a:srgbClr val="EFDCC6"/>
            </a:solidFill>
            <a:prstDash val="solid"/>
          </a:ln>
        </p:spPr>
      </p:sp>
      <p:sp>
        <p:nvSpPr>
          <p:cNvPr id="7" name="Shape 5"/>
          <p:cNvSpPr/>
          <p:nvPr/>
        </p:nvSpPr>
        <p:spPr>
          <a:xfrm>
            <a:off x="1323975" y="3710955"/>
            <a:ext cx="1956420" cy="409575"/>
          </a:xfrm>
          <a:prstGeom prst="roundRect">
            <a:avLst>
              <a:gd name="adj" fmla="val 50000"/>
            </a:avLst>
          </a:prstGeom>
          <a:solidFill>
            <a:srgbClr val="F4E2CF"/>
          </a:solidFill>
          <a:ln/>
        </p:spPr>
      </p:sp>
      <p:sp>
        <p:nvSpPr>
          <p:cNvPr id="8" name="Text 6"/>
          <p:cNvSpPr/>
          <p:nvPr/>
        </p:nvSpPr>
        <p:spPr>
          <a:xfrm>
            <a:off x="1495425" y="3777630"/>
            <a:ext cx="1689720"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B5651D"/>
                </a:solidFill>
                <a:latin typeface="JetBrains Mono" pitchFamily="34" charset="0"/>
                <a:ea typeface="JetBrains Mono" pitchFamily="34" charset="-122"/>
                <a:cs typeface="JetBrains Mono" pitchFamily="34" charset="-120"/>
              </a:rPr>
              <a:t>THE PROBLEM</a:t>
            </a:r>
            <a:endParaRPr lang="en-US" sz="1650" dirty="0"/>
          </a:p>
        </p:txBody>
      </p:sp>
      <p:sp>
        <p:nvSpPr>
          <p:cNvPr id="9" name="Text 7"/>
          <p:cNvSpPr/>
          <p:nvPr/>
        </p:nvSpPr>
        <p:spPr>
          <a:xfrm>
            <a:off x="1323975" y="4311030"/>
            <a:ext cx="7066010" cy="442913"/>
          </a:xfrm>
          <a:prstGeom prst="rect">
            <a:avLst/>
          </a:prstGeom>
          <a:noFill/>
          <a:ln/>
        </p:spPr>
        <p:txBody>
          <a:bodyPr wrap="square" lIns="25400" tIns="25400" rIns="25400" bIns="25400" rtlCol="0" anchor="t">
            <a:normAutofit/>
          </a:bodyPr>
          <a:lstStyle/>
          <a:p>
            <a:pPr algn="l" indent="0" marL="0">
              <a:lnSpc>
                <a:spcPct val="103659"/>
              </a:lnSpc>
              <a:buNone/>
            </a:pPr>
            <a:r>
              <a:rPr lang="en-US" sz="2550" b="1" dirty="0">
                <a:solidFill>
                  <a:srgbClr val="14201B"/>
                </a:solidFill>
                <a:latin typeface="Inter" pitchFamily="34" charset="0"/>
                <a:ea typeface="Inter" pitchFamily="34" charset="-122"/>
                <a:cs typeface="Inter" pitchFamily="34" charset="-120"/>
              </a:rPr>
              <a:t>The rules live in people's heads.</a:t>
            </a:r>
            <a:endParaRPr lang="en-US" sz="2550" dirty="0"/>
          </a:p>
        </p:txBody>
      </p:sp>
      <p:sp>
        <p:nvSpPr>
          <p:cNvPr id="10" name="Text 8"/>
          <p:cNvSpPr/>
          <p:nvPr/>
        </p:nvSpPr>
        <p:spPr>
          <a:xfrm>
            <a:off x="1323975" y="4849192"/>
            <a:ext cx="6616354" cy="768400"/>
          </a:xfrm>
          <a:prstGeom prst="rect">
            <a:avLst/>
          </a:prstGeom>
          <a:noFill/>
          <a:ln/>
        </p:spPr>
        <p:txBody>
          <a:bodyPr wrap="square" lIns="25400" tIns="25400" rIns="25400" bIns="25400" rtlCol="0" anchor="t">
            <a:normAutofit/>
          </a:bodyPr>
          <a:lstStyle/>
          <a:p>
            <a:pPr algn="l" indent="0" marL="0">
              <a:lnSpc>
                <a:spcPct val="117969"/>
              </a:lnSpc>
              <a:buNone/>
            </a:pPr>
            <a:r>
              <a:rPr lang="en-US" sz="2025" dirty="0">
                <a:solidFill>
                  <a:srgbClr val="6A5A45"/>
                </a:solidFill>
                <a:latin typeface="Inter" pitchFamily="34" charset="0"/>
                <a:ea typeface="Inter" pitchFamily="34" charset="-122"/>
                <a:cs typeface="Inter" pitchFamily="34" charset="-120"/>
              </a:rPr>
              <a:t>When know-how is unwritten, a well-meaning change can quietly break something important.</a:t>
            </a:r>
            <a:endParaRPr lang="en-US" sz="2025" dirty="0"/>
          </a:p>
        </p:txBody>
      </p:sp>
      <p:sp>
        <p:nvSpPr>
          <p:cNvPr id="11" name="Shape 9"/>
          <p:cNvSpPr/>
          <p:nvPr/>
        </p:nvSpPr>
        <p:spPr>
          <a:xfrm>
            <a:off x="952500" y="6622703"/>
            <a:ext cx="7166595" cy="2997547"/>
          </a:xfrm>
          <a:prstGeom prst="roundRect">
            <a:avLst>
              <a:gd name="adj" fmla="val 6991"/>
            </a:avLst>
          </a:prstGeom>
          <a:solidFill>
            <a:srgbClr val="003824"/>
          </a:solidFill>
          <a:ln/>
        </p:spPr>
      </p:sp>
      <p:sp>
        <p:nvSpPr>
          <p:cNvPr id="12" name="Shape 10"/>
          <p:cNvSpPr/>
          <p:nvPr/>
        </p:nvSpPr>
        <p:spPr>
          <a:xfrm>
            <a:off x="1314450" y="6946553"/>
            <a:ext cx="1956420" cy="409575"/>
          </a:xfrm>
          <a:prstGeom prst="roundRect">
            <a:avLst>
              <a:gd name="adj" fmla="val 50000"/>
            </a:avLst>
          </a:prstGeom>
          <a:solidFill>
            <a:srgbClr val="9EC5B3"/>
          </a:solidFill>
          <a:ln/>
        </p:spPr>
      </p:sp>
      <p:sp>
        <p:nvSpPr>
          <p:cNvPr id="13" name="Text 11"/>
          <p:cNvSpPr/>
          <p:nvPr/>
        </p:nvSpPr>
        <p:spPr>
          <a:xfrm>
            <a:off x="1485900" y="7013228"/>
            <a:ext cx="1689720"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3824"/>
                </a:solidFill>
                <a:latin typeface="JetBrains Mono" pitchFamily="34" charset="0"/>
                <a:ea typeface="JetBrains Mono" pitchFamily="34" charset="-122"/>
                <a:cs typeface="JetBrains Mono" pitchFamily="34" charset="-120"/>
              </a:rPr>
              <a:t>WHAT WE DID</a:t>
            </a:r>
            <a:endParaRPr lang="en-US" sz="1650" dirty="0"/>
          </a:p>
        </p:txBody>
      </p:sp>
      <p:sp>
        <p:nvSpPr>
          <p:cNvPr id="14" name="Text 12"/>
          <p:cNvSpPr/>
          <p:nvPr/>
        </p:nvSpPr>
        <p:spPr>
          <a:xfrm>
            <a:off x="1314450" y="7546628"/>
            <a:ext cx="6635976" cy="847725"/>
          </a:xfrm>
          <a:prstGeom prst="rect">
            <a:avLst/>
          </a:prstGeom>
          <a:noFill/>
          <a:ln/>
        </p:spPr>
        <p:txBody>
          <a:bodyPr wrap="square" lIns="25400" tIns="25400" rIns="25400" bIns="25400" rtlCol="0" anchor="t">
            <a:normAutofit/>
          </a:bodyPr>
          <a:lstStyle/>
          <a:p>
            <a:pPr algn="l" indent="0" marL="0">
              <a:lnSpc>
                <a:spcPct val="103659"/>
              </a:lnSpc>
              <a:buNone/>
            </a:pPr>
            <a:r>
              <a:rPr lang="en-US" sz="2550" b="1" dirty="0">
                <a:solidFill>
                  <a:srgbClr val="FFFFFF"/>
                </a:solidFill>
                <a:latin typeface="Inter" pitchFamily="34" charset="0"/>
                <a:ea typeface="Inter" pitchFamily="34" charset="-122"/>
                <a:cs typeface="Inter" pitchFamily="34" charset="-120"/>
              </a:rPr>
              <a:t>Every project gets an </a:t>
            </a:r>
            <a:pPr algn="l" indent="0" marL="0">
              <a:lnSpc>
                <a:spcPct val="103659"/>
              </a:lnSpc>
              <a:buNone/>
            </a:pPr>
            <a:r>
              <a:rPr lang="en-US" sz="2550" b="1" dirty="0">
                <a:solidFill>
                  <a:srgbClr val="9EC5B3"/>
                </a:solidFill>
                <a:latin typeface="JetBrains Mono" pitchFamily="34" charset="0"/>
                <a:ea typeface="JetBrains Mono" pitchFamily="34" charset="-122"/>
                <a:cs typeface="JetBrains Mono" pitchFamily="34" charset="-120"/>
              </a:rPr>
              <a:t>AGENTS.md </a:t>
            </a:r>
            <a:pPr algn="l" indent="0" marL="0">
              <a:lnSpc>
                <a:spcPct val="103659"/>
              </a:lnSpc>
              <a:buNone/>
            </a:pPr>
            <a:r>
              <a:rPr lang="en-US" sz="2550" b="1" dirty="0">
                <a:solidFill>
                  <a:srgbClr val="FFFFFF"/>
                </a:solidFill>
                <a:latin typeface="Inter" pitchFamily="34" charset="0"/>
                <a:ea typeface="Inter" pitchFamily="34" charset="-122"/>
                <a:cs typeface="Inter" pitchFamily="34" charset="-120"/>
              </a:rPr>
              <a:t>rulebook.</a:t>
            </a:r>
            <a:endParaRPr lang="en-US" sz="2550" dirty="0"/>
          </a:p>
        </p:txBody>
      </p:sp>
      <p:sp>
        <p:nvSpPr>
          <p:cNvPr id="15" name="Text 13"/>
          <p:cNvSpPr/>
          <p:nvPr/>
        </p:nvSpPr>
        <p:spPr>
          <a:xfrm>
            <a:off x="1314450" y="8489603"/>
            <a:ext cx="6635976" cy="768400"/>
          </a:xfrm>
          <a:prstGeom prst="rect">
            <a:avLst/>
          </a:prstGeom>
          <a:noFill/>
          <a:ln/>
        </p:spPr>
        <p:txBody>
          <a:bodyPr wrap="square" lIns="25400" tIns="25400" rIns="25400" bIns="25400" rtlCol="0" anchor="t">
            <a:normAutofit/>
          </a:bodyPr>
          <a:lstStyle/>
          <a:p>
            <a:pPr algn="l" indent="0" marL="0">
              <a:lnSpc>
                <a:spcPct val="117969"/>
              </a:lnSpc>
              <a:buNone/>
            </a:pPr>
            <a:r>
              <a:rPr lang="en-US" sz="2025" dirty="0">
                <a:solidFill>
                  <a:srgbClr val="CFE2D8"/>
                </a:solidFill>
                <a:latin typeface="Inter" pitchFamily="34" charset="0"/>
                <a:ea typeface="Inter" pitchFamily="34" charset="-122"/>
                <a:cs typeface="Inter" pitchFamily="34" charset="-120"/>
              </a:rPr>
              <a:t>The AI reads this file and follows its rules before making any change — automatically.</a:t>
            </a:r>
            <a:endParaRPr lang="en-US" sz="2025" dirty="0"/>
          </a:p>
        </p:txBody>
      </p:sp>
      <p:sp>
        <p:nvSpPr>
          <p:cNvPr id="16" name="Shape 14"/>
          <p:cNvSpPr/>
          <p:nvPr/>
        </p:nvSpPr>
        <p:spPr>
          <a:xfrm>
            <a:off x="8576295" y="3377580"/>
            <a:ext cx="4082058" cy="1484933"/>
          </a:xfrm>
          <a:prstGeom prst="roundRect">
            <a:avLst>
              <a:gd name="adj" fmla="val 11546"/>
            </a:avLst>
          </a:prstGeom>
          <a:solidFill>
            <a:srgbClr val="F3F8F5"/>
          </a:solidFill>
          <a:ln w="9525">
            <a:solidFill>
              <a:srgbClr val="E6F1EC"/>
            </a:solidFill>
            <a:prstDash val="solid"/>
          </a:ln>
        </p:spPr>
      </p:sp>
      <p:sp>
        <p:nvSpPr>
          <p:cNvPr id="17" name="Text 15"/>
          <p:cNvSpPr/>
          <p:nvPr/>
        </p:nvSpPr>
        <p:spPr>
          <a:xfrm>
            <a:off x="8833470" y="3615705"/>
            <a:ext cx="3674739" cy="723900"/>
          </a:xfrm>
          <a:prstGeom prst="rect">
            <a:avLst/>
          </a:prstGeom>
          <a:noFill/>
          <a:ln/>
        </p:spPr>
        <p:txBody>
          <a:bodyPr wrap="square" lIns="25400" tIns="25400" rIns="25400" bIns="25400" rtlCol="0" anchor="t">
            <a:normAutofit/>
          </a:bodyPr>
          <a:lstStyle/>
          <a:p>
            <a:pPr algn="l" indent="0" marL="0">
              <a:buNone/>
            </a:pPr>
            <a:r>
              <a:rPr lang="en-US" sz="2250" b="1" dirty="0">
                <a:solidFill>
                  <a:srgbClr val="003824"/>
                </a:solidFill>
                <a:latin typeface="Inter" pitchFamily="34" charset="0"/>
                <a:ea typeface="Inter" pitchFamily="34" charset="-122"/>
                <a:cs typeface="Inter" pitchFamily="34" charset="-120"/>
              </a:rPr>
              <a:t>Anyone changes code with an AI agent</a:t>
            </a:r>
            <a:endParaRPr lang="en-US" sz="2250" dirty="0"/>
          </a:p>
        </p:txBody>
      </p:sp>
      <p:sp>
        <p:nvSpPr>
          <p:cNvPr id="18" name="Text 16"/>
          <p:cNvSpPr/>
          <p:nvPr/>
        </p:nvSpPr>
        <p:spPr>
          <a:xfrm>
            <a:off x="8833470" y="4339605"/>
            <a:ext cx="3924479" cy="322883"/>
          </a:xfrm>
          <a:prstGeom prst="rect">
            <a:avLst/>
          </a:prstGeom>
          <a:noFill/>
          <a:ln/>
        </p:spPr>
        <p:txBody>
          <a:bodyPr wrap="square" lIns="25400" tIns="25400" rIns="25400" bIns="25400" rtlCol="0" anchor="t">
            <a:normAutofit/>
          </a:bodyPr>
          <a:lstStyle/>
          <a:p>
            <a:pPr algn="l" indent="0" marL="0">
              <a:lnSpc>
                <a:spcPct val="106786"/>
              </a:lnSpc>
              <a:buNone/>
            </a:pPr>
            <a:r>
              <a:rPr lang="en-US" sz="1725" dirty="0">
                <a:solidFill>
                  <a:srgbClr val="5F6F68"/>
                </a:solidFill>
                <a:latin typeface="Inter" pitchFamily="34" charset="0"/>
                <a:ea typeface="Inter" pitchFamily="34" charset="-122"/>
                <a:cs typeface="Inter" pitchFamily="34" charset="-120"/>
              </a:rPr>
              <a:t>new or experienced</a:t>
            </a:r>
            <a:endParaRPr lang="en-US" sz="1725" dirty="0"/>
          </a:p>
        </p:txBody>
      </p:sp>
      <p:sp>
        <p:nvSpPr>
          <p:cNvPr id="19" name="Text 17"/>
          <p:cNvSpPr/>
          <p:nvPr/>
        </p:nvSpPr>
        <p:spPr>
          <a:xfrm>
            <a:off x="12810753" y="3377580"/>
            <a:ext cx="385465" cy="1523033"/>
          </a:xfrm>
          <a:prstGeom prst="rect">
            <a:avLst/>
          </a:prstGeom>
          <a:noFill/>
          <a:ln/>
        </p:spPr>
        <p:txBody>
          <a:bodyPr wrap="square" lIns="25400" tIns="25400" rIns="25400" bIns="25400" rtlCol="0" anchor="ctr">
            <a:normAutofit/>
          </a:bodyPr>
          <a:lstStyle/>
          <a:p>
            <a:pPr algn="l" indent="0" marL="0">
              <a:buNone/>
            </a:pPr>
            <a:r>
              <a:rPr lang="en-US" sz="2550" b="1" dirty="0">
                <a:solidFill>
                  <a:srgbClr val="006A4D"/>
                </a:solidFill>
                <a:latin typeface="Inter" pitchFamily="34" charset="0"/>
                <a:ea typeface="Inter" pitchFamily="34" charset="-122"/>
                <a:cs typeface="Inter" pitchFamily="34" charset="-120"/>
              </a:rPr>
              <a:t>→</a:t>
            </a:r>
            <a:endParaRPr lang="en-US" sz="2550" dirty="0"/>
          </a:p>
        </p:txBody>
      </p:sp>
      <p:sp>
        <p:nvSpPr>
          <p:cNvPr id="20" name="Shape 18"/>
          <p:cNvSpPr/>
          <p:nvPr/>
        </p:nvSpPr>
        <p:spPr>
          <a:xfrm>
            <a:off x="13272418" y="3377580"/>
            <a:ext cx="4063082" cy="1484933"/>
          </a:xfrm>
          <a:prstGeom prst="roundRect">
            <a:avLst>
              <a:gd name="adj" fmla="val 11546"/>
            </a:avLst>
          </a:prstGeom>
          <a:solidFill>
            <a:srgbClr val="003824"/>
          </a:solidFill>
          <a:ln/>
        </p:spPr>
      </p:sp>
      <p:sp>
        <p:nvSpPr>
          <p:cNvPr id="21" name="Text 19"/>
          <p:cNvSpPr/>
          <p:nvPr/>
        </p:nvSpPr>
        <p:spPr>
          <a:xfrm>
            <a:off x="13520068" y="3615705"/>
            <a:ext cx="3674816" cy="72390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The rulebook keeps it safe</a:t>
            </a:r>
            <a:endParaRPr lang="en-US" sz="2250" dirty="0"/>
          </a:p>
        </p:txBody>
      </p:sp>
      <p:sp>
        <p:nvSpPr>
          <p:cNvPr id="22" name="Text 20"/>
          <p:cNvSpPr/>
          <p:nvPr/>
        </p:nvSpPr>
        <p:spPr>
          <a:xfrm>
            <a:off x="13520068" y="4339605"/>
            <a:ext cx="3924560" cy="322883"/>
          </a:xfrm>
          <a:prstGeom prst="rect">
            <a:avLst/>
          </a:prstGeom>
          <a:noFill/>
          <a:ln/>
        </p:spPr>
        <p:txBody>
          <a:bodyPr wrap="square" lIns="25400" tIns="25400" rIns="25400" bIns="25400" rtlCol="0" anchor="t">
            <a:normAutofit/>
          </a:bodyPr>
          <a:lstStyle/>
          <a:p>
            <a:pPr algn="l" indent="0" marL="0">
              <a:lnSpc>
                <a:spcPct val="106786"/>
              </a:lnSpc>
              <a:buNone/>
            </a:pPr>
            <a:r>
              <a:rPr lang="en-US" sz="1725" dirty="0">
                <a:solidFill>
                  <a:srgbClr val="CFE2D8"/>
                </a:solidFill>
                <a:latin typeface="Inter" pitchFamily="34" charset="0"/>
                <a:ea typeface="Inter" pitchFamily="34" charset="-122"/>
                <a:cs typeface="Inter" pitchFamily="34" charset="-120"/>
              </a:rPr>
              <a:t>rules enforced automatically</a:t>
            </a:r>
            <a:endParaRPr lang="en-US" sz="1725" dirty="0"/>
          </a:p>
        </p:txBody>
      </p:sp>
      <p:sp>
        <p:nvSpPr>
          <p:cNvPr id="23" name="Shape 21"/>
          <p:cNvSpPr/>
          <p:nvPr/>
        </p:nvSpPr>
        <p:spPr>
          <a:xfrm>
            <a:off x="8576295" y="5072063"/>
            <a:ext cx="8759205" cy="2819326"/>
          </a:xfrm>
          <a:prstGeom prst="roundRect">
            <a:avLst>
              <a:gd name="adj" fmla="val 6757"/>
            </a:avLst>
          </a:prstGeom>
          <a:solidFill>
            <a:srgbClr val="F3F8F5"/>
          </a:solidFill>
          <a:ln w="9525">
            <a:solidFill>
              <a:srgbClr val="E6F1EC"/>
            </a:solidFill>
            <a:prstDash val="solid"/>
          </a:ln>
        </p:spPr>
      </p:sp>
      <p:sp>
        <p:nvSpPr>
          <p:cNvPr id="24" name="Text 22"/>
          <p:cNvSpPr/>
          <p:nvPr/>
        </p:nvSpPr>
        <p:spPr>
          <a:xfrm>
            <a:off x="8909670" y="5367338"/>
            <a:ext cx="36195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14201B"/>
                </a:solidFill>
                <a:latin typeface="Inter" pitchFamily="34" charset="0"/>
                <a:ea typeface="Inter" pitchFamily="34" charset="-122"/>
                <a:cs typeface="Inter" pitchFamily="34" charset="-120"/>
              </a:rPr>
              <a:t>📋</a:t>
            </a:r>
            <a:endParaRPr lang="en-US" sz="2250" dirty="0"/>
          </a:p>
        </p:txBody>
      </p:sp>
      <p:sp>
        <p:nvSpPr>
          <p:cNvPr id="25" name="Text 23"/>
          <p:cNvSpPr/>
          <p:nvPr/>
        </p:nvSpPr>
        <p:spPr>
          <a:xfrm>
            <a:off x="9309720" y="5400675"/>
            <a:ext cx="5539078" cy="347663"/>
          </a:xfrm>
          <a:prstGeom prst="rect">
            <a:avLst/>
          </a:prstGeom>
          <a:noFill/>
          <a:ln/>
        </p:spPr>
        <p:txBody>
          <a:bodyPr wrap="square" lIns="25400" tIns="25400" rIns="25400" bIns="25400" rtlCol="0" anchor="t">
            <a:normAutofit/>
          </a:bodyPr>
          <a:lstStyle/>
          <a:p>
            <a:pPr algn="l" indent="0" marL="0">
              <a:buNone/>
            </a:pPr>
            <a:r>
              <a:rPr lang="en-US" sz="2025" b="1" dirty="0">
                <a:solidFill>
                  <a:srgbClr val="003824"/>
                </a:solidFill>
                <a:latin typeface="Inter" pitchFamily="34" charset="0"/>
                <a:ea typeface="Inter" pitchFamily="34" charset="-122"/>
                <a:cs typeface="Inter" pitchFamily="34" charset="-120"/>
              </a:rPr>
              <a:t>Example: the rules a project can enforce</a:t>
            </a:r>
            <a:endParaRPr lang="en-US" sz="2025" dirty="0"/>
          </a:p>
        </p:txBody>
      </p:sp>
      <p:sp>
        <p:nvSpPr>
          <p:cNvPr id="26" name="Text 24"/>
          <p:cNvSpPr/>
          <p:nvPr/>
        </p:nvSpPr>
        <p:spPr>
          <a:xfrm>
            <a:off x="8909670" y="5915025"/>
            <a:ext cx="307553"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b="1" dirty="0">
                <a:solidFill>
                  <a:srgbClr val="006A4D"/>
                </a:solidFill>
                <a:latin typeface="Inter" pitchFamily="34" charset="0"/>
                <a:ea typeface="Inter" pitchFamily="34" charset="-122"/>
                <a:cs typeface="Inter" pitchFamily="34" charset="-120"/>
              </a:rPr>
              <a:t>✓</a:t>
            </a:r>
            <a:endParaRPr lang="en-US" sz="1950" dirty="0"/>
          </a:p>
        </p:txBody>
      </p:sp>
      <p:sp>
        <p:nvSpPr>
          <p:cNvPr id="27" name="Text 25"/>
          <p:cNvSpPr/>
          <p:nvPr/>
        </p:nvSpPr>
        <p:spPr>
          <a:xfrm>
            <a:off x="9274373" y="5915025"/>
            <a:ext cx="5972257"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dirty="0">
                <a:solidFill>
                  <a:srgbClr val="14201B"/>
                </a:solidFill>
                <a:latin typeface="Inter" pitchFamily="34" charset="0"/>
                <a:ea typeface="Inter" pitchFamily="34" charset="-122"/>
                <a:cs typeface="Inter" pitchFamily="34" charset="-120"/>
              </a:rPr>
              <a:t>Follow our approved structure — no shortcuts.</a:t>
            </a:r>
            <a:endParaRPr lang="en-US" sz="1950" dirty="0"/>
          </a:p>
        </p:txBody>
      </p:sp>
      <p:sp>
        <p:nvSpPr>
          <p:cNvPr id="28" name="Text 26"/>
          <p:cNvSpPr/>
          <p:nvPr/>
        </p:nvSpPr>
        <p:spPr>
          <a:xfrm>
            <a:off x="8909670" y="6370290"/>
            <a:ext cx="307553"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b="1" dirty="0">
                <a:solidFill>
                  <a:srgbClr val="006A4D"/>
                </a:solidFill>
                <a:latin typeface="Inter" pitchFamily="34" charset="0"/>
                <a:ea typeface="Inter" pitchFamily="34" charset="-122"/>
                <a:cs typeface="Inter" pitchFamily="34" charset="-120"/>
              </a:rPr>
              <a:t>✓</a:t>
            </a:r>
            <a:endParaRPr lang="en-US" sz="1950" dirty="0"/>
          </a:p>
        </p:txBody>
      </p:sp>
      <p:sp>
        <p:nvSpPr>
          <p:cNvPr id="29" name="Text 27"/>
          <p:cNvSpPr/>
          <p:nvPr/>
        </p:nvSpPr>
        <p:spPr>
          <a:xfrm>
            <a:off x="9274373" y="6370290"/>
            <a:ext cx="5926500"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dirty="0">
                <a:solidFill>
                  <a:srgbClr val="14201B"/>
                </a:solidFill>
                <a:latin typeface="Inter" pitchFamily="34" charset="0"/>
                <a:ea typeface="Inter" pitchFamily="34" charset="-122"/>
                <a:cs typeface="Inter" pitchFamily="34" charset="-120"/>
              </a:rPr>
              <a:t>Keep everything secure and properly labelled.</a:t>
            </a:r>
            <a:endParaRPr lang="en-US" sz="1950" dirty="0"/>
          </a:p>
        </p:txBody>
      </p:sp>
      <p:sp>
        <p:nvSpPr>
          <p:cNvPr id="30" name="Text 28"/>
          <p:cNvSpPr/>
          <p:nvPr/>
        </p:nvSpPr>
        <p:spPr>
          <a:xfrm>
            <a:off x="8909670" y="6825555"/>
            <a:ext cx="307553"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b="1" dirty="0">
                <a:solidFill>
                  <a:srgbClr val="006A4D"/>
                </a:solidFill>
                <a:latin typeface="Inter" pitchFamily="34" charset="0"/>
                <a:ea typeface="Inter" pitchFamily="34" charset="-122"/>
                <a:cs typeface="Inter" pitchFamily="34" charset="-120"/>
              </a:rPr>
              <a:t>✓</a:t>
            </a:r>
            <a:endParaRPr lang="en-US" sz="1950" dirty="0"/>
          </a:p>
        </p:txBody>
      </p:sp>
      <p:sp>
        <p:nvSpPr>
          <p:cNvPr id="31" name="Text 29"/>
          <p:cNvSpPr/>
          <p:nvPr/>
        </p:nvSpPr>
        <p:spPr>
          <a:xfrm>
            <a:off x="9274373" y="6825555"/>
            <a:ext cx="5582134"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dirty="0">
                <a:solidFill>
                  <a:srgbClr val="14201B"/>
                </a:solidFill>
                <a:latin typeface="Inter" pitchFamily="34" charset="0"/>
                <a:ea typeface="Inter" pitchFamily="34" charset="-122"/>
                <a:cs typeface="Inter" pitchFamily="34" charset="-120"/>
              </a:rPr>
              <a:t>Never expose data that should stay private.</a:t>
            </a:r>
            <a:endParaRPr lang="en-US" sz="1950" dirty="0"/>
          </a:p>
        </p:txBody>
      </p:sp>
      <p:sp>
        <p:nvSpPr>
          <p:cNvPr id="32" name="Shape 30"/>
          <p:cNvSpPr/>
          <p:nvPr/>
        </p:nvSpPr>
        <p:spPr>
          <a:xfrm>
            <a:off x="8576295" y="8100938"/>
            <a:ext cx="8759205" cy="1519312"/>
          </a:xfrm>
          <a:prstGeom prst="roundRect">
            <a:avLst>
              <a:gd name="adj" fmla="val 12539"/>
            </a:avLst>
          </a:prstGeom>
          <a:solidFill>
            <a:srgbClr val="9EC5B3"/>
          </a:solidFill>
          <a:ln/>
        </p:spPr>
      </p:sp>
      <p:sp>
        <p:nvSpPr>
          <p:cNvPr id="33" name="Text 31"/>
          <p:cNvSpPr/>
          <p:nvPr/>
        </p:nvSpPr>
        <p:spPr>
          <a:xfrm>
            <a:off x="8900145" y="8610526"/>
            <a:ext cx="457200" cy="538163"/>
          </a:xfrm>
          <a:prstGeom prst="rect">
            <a:avLst/>
          </a:prstGeom>
          <a:noFill/>
          <a:ln/>
        </p:spPr>
        <p:txBody>
          <a:bodyPr wrap="square" lIns="25400" tIns="25400" rIns="25400" bIns="25400" rtlCol="0" anchor="t">
            <a:normAutofit/>
          </a:bodyPr>
          <a:lstStyle/>
          <a:p>
            <a:pPr algn="l" indent="0" marL="0">
              <a:buNone/>
            </a:pPr>
            <a:r>
              <a:rPr lang="en-US" sz="3000" dirty="0">
                <a:solidFill>
                  <a:srgbClr val="14201B"/>
                </a:solidFill>
                <a:latin typeface="Inter" pitchFamily="34" charset="0"/>
                <a:ea typeface="Inter" pitchFamily="34" charset="-122"/>
                <a:cs typeface="Inter" pitchFamily="34" charset="-120"/>
              </a:rPr>
              <a:t>🚀</a:t>
            </a:r>
            <a:endParaRPr lang="en-US" sz="3000" dirty="0"/>
          </a:p>
        </p:txBody>
      </p:sp>
      <p:sp>
        <p:nvSpPr>
          <p:cNvPr id="34" name="Text 32"/>
          <p:cNvSpPr/>
          <p:nvPr/>
        </p:nvSpPr>
        <p:spPr>
          <a:xfrm>
            <a:off x="9509745" y="8348588"/>
            <a:ext cx="7726962" cy="1062112"/>
          </a:xfrm>
          <a:prstGeom prst="rect">
            <a:avLst/>
          </a:prstGeom>
          <a:noFill/>
          <a:ln/>
        </p:spPr>
        <p:txBody>
          <a:bodyPr wrap="square" lIns="25400" tIns="25400" rIns="25400" bIns="25400" rtlCol="0" anchor="t">
            <a:normAutofit/>
          </a:bodyPr>
          <a:lstStyle/>
          <a:p>
            <a:pPr algn="l" indent="0" marL="0">
              <a:lnSpc>
                <a:spcPct val="105412"/>
              </a:lnSpc>
              <a:buNone/>
            </a:pPr>
            <a:r>
              <a:rPr lang="en-US" sz="2100" b="1" dirty="0">
                <a:solidFill>
                  <a:srgbClr val="0A3A26"/>
                </a:solidFill>
                <a:latin typeface="Inter" pitchFamily="34" charset="0"/>
                <a:ea typeface="Inter" pitchFamily="34" charset="-122"/>
                <a:cs typeface="Inter" pitchFamily="34" charset="-120"/>
              </a:rPr>
              <a:t>Engineers can safely make changes with a coding agent — already working on our code repositories with the results running live in </a:t>
            </a:r>
            <a:pPr algn="l" indent="0" marL="0">
              <a:lnSpc>
                <a:spcPct val="105412"/>
              </a:lnSpc>
              <a:buNone/>
            </a:pPr>
            <a:r>
              <a:rPr lang="en-US" sz="2100" b="1" dirty="0">
                <a:solidFill>
                  <a:srgbClr val="003824"/>
                </a:solidFill>
                <a:latin typeface="Inter" pitchFamily="34" charset="0"/>
                <a:ea typeface="Inter" pitchFamily="34" charset="-122"/>
                <a:cs typeface="Inter" pitchFamily="34" charset="-120"/>
              </a:rPr>
              <a:t>production </a:t>
            </a:r>
            <a:pPr algn="l" indent="0" marL="0">
              <a:lnSpc>
                <a:spcPct val="105412"/>
              </a:lnSpc>
              <a:buNone/>
            </a:pPr>
            <a:r>
              <a:rPr lang="en-US" sz="2100" b="1" dirty="0">
                <a:solidFill>
                  <a:srgbClr val="0A3A26"/>
                </a:solidFill>
                <a:latin typeface="Inter" pitchFamily="34" charset="0"/>
                <a:ea typeface="Inter" pitchFamily="34" charset="-122"/>
                <a:cs typeface="Inter" pitchFamily="34" charset="-120"/>
              </a:rPr>
              <a:t>today.</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2026-07-18T20:52:09Z</dcterms:created>
  <dcterms:modified xsi:type="dcterms:W3CDTF">2026-07-18T20:52:09Z</dcterms:modified>
</cp:coreProperties>
</file>