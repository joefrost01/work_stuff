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78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37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71525"/>
            <a:ext cx="95250" cy="95250"/>
          </a:xfrm>
          <a:prstGeom prst="ellipse">
            <a:avLst/>
          </a:prstGeom>
          <a:solidFill>
            <a:srgbClr val="006A4D"/>
          </a:solidFill>
          <a:ln/>
        </p:spPr>
        <p:txBody>
          <a:bodyPr/>
          <a:lstStyle/>
          <a:p>
            <a:endParaRPr lang="en-GB" noProof="1"/>
          </a:p>
        </p:txBody>
      </p:sp>
      <p:sp>
        <p:nvSpPr>
          <p:cNvPr id="3" name="Text 1"/>
          <p:cNvSpPr/>
          <p:nvPr/>
        </p:nvSpPr>
        <p:spPr>
          <a:xfrm>
            <a:off x="1219200" y="685800"/>
            <a:ext cx="161162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800" kern="0" spc="324" noProof="1">
                <a:solidFill>
                  <a:srgbClr val="7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MAR — SCENARIO RERUNS</a:t>
            </a:r>
            <a:endParaRPr lang="en-GB" sz="1800" noProof="1"/>
          </a:p>
        </p:txBody>
      </p:sp>
      <p:sp>
        <p:nvSpPr>
          <p:cNvPr id="4" name="Text 2"/>
          <p:cNvSpPr/>
          <p:nvPr/>
        </p:nvSpPr>
        <p:spPr>
          <a:xfrm>
            <a:off x="952499" y="1123950"/>
            <a:ext cx="1638299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GB" sz="4500" b="1" kern="0" spc="-90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Rerunning two MAR scenarios on the production estate.</a:t>
            </a:r>
            <a:endParaRPr lang="en-GB" sz="4500" noProof="1"/>
          </a:p>
        </p:txBody>
      </p:sp>
      <p:sp>
        <p:nvSpPr>
          <p:cNvPr id="5" name="Text 3"/>
          <p:cNvSpPr/>
          <p:nvPr/>
        </p:nvSpPr>
        <p:spPr>
          <a:xfrm>
            <a:off x="952500" y="1971675"/>
            <a:ext cx="1638300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GB" sz="21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</a:t>
            </a:r>
            <a:r>
              <a:rPr lang="en-GB" sz="2100" b="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MAR scenarios </a:t>
            </a:r>
            <a:r>
              <a:rPr lang="en-GB" sz="21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be rerun and surfaced to analysts through </a:t>
            </a:r>
            <a:r>
              <a:rPr lang="en-GB" sz="2100" b="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SWB </a:t>
            </a:r>
            <a:r>
              <a:rPr lang="en-GB" sz="21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br>
              <a:rPr lang="en-GB" sz="21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GB" sz="21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utilises idle production capacity, is driven by BAU tooling, and is supported by an enhanced master-rates spreadsheet with PII decryption.</a:t>
            </a:r>
            <a:endParaRPr lang="en-GB" sz="2100" noProof="1"/>
          </a:p>
        </p:txBody>
      </p:sp>
      <p:sp>
        <p:nvSpPr>
          <p:cNvPr id="6" name="Shape 4"/>
          <p:cNvSpPr/>
          <p:nvPr/>
        </p:nvSpPr>
        <p:spPr>
          <a:xfrm>
            <a:off x="952500" y="3423968"/>
            <a:ext cx="8058150" cy="29526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0C7"/>
            </a:solidFill>
            <a:prstDash val="solid"/>
          </a:ln>
        </p:spPr>
        <p:txBody>
          <a:bodyPr/>
          <a:lstStyle/>
          <a:p>
            <a:endParaRPr lang="en-GB" noProof="1"/>
          </a:p>
        </p:txBody>
      </p:sp>
      <p:sp>
        <p:nvSpPr>
          <p:cNvPr id="7" name="Text 5"/>
          <p:cNvSpPr/>
          <p:nvPr/>
        </p:nvSpPr>
        <p:spPr>
          <a:xfrm>
            <a:off x="1285875" y="3719243"/>
            <a:ext cx="76131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950" b="1" kern="0" spc="-19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GB" sz="1950" noProof="1"/>
          </a:p>
        </p:txBody>
      </p:sp>
      <p:sp>
        <p:nvSpPr>
          <p:cNvPr id="8" name="Text 6"/>
          <p:cNvSpPr/>
          <p:nvPr/>
        </p:nvSpPr>
        <p:spPr>
          <a:xfrm>
            <a:off x="1285875" y="4119293"/>
            <a:ext cx="76131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GB" sz="2100" b="1" kern="0" spc="-2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through SWB</a:t>
            </a:r>
            <a:endParaRPr lang="en-GB" sz="2100" noProof="1"/>
          </a:p>
        </p:txBody>
      </p:sp>
      <p:sp>
        <p:nvSpPr>
          <p:cNvPr id="9" name="Text 7"/>
          <p:cNvSpPr/>
          <p:nvPr/>
        </p:nvSpPr>
        <p:spPr>
          <a:xfrm>
            <a:off x="1285875" y="4553573"/>
            <a:ext cx="761314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GB" sz="18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output flows into the existing end-user system used by Surveillance Analysts today, no change to analyst workflow.</a:t>
            </a:r>
            <a:endParaRPr lang="en-GB" sz="1800" noProof="1"/>
          </a:p>
        </p:txBody>
      </p:sp>
      <p:sp>
        <p:nvSpPr>
          <p:cNvPr id="10" name="Shape 8"/>
          <p:cNvSpPr/>
          <p:nvPr/>
        </p:nvSpPr>
        <p:spPr>
          <a:xfrm>
            <a:off x="1285875" y="5368854"/>
            <a:ext cx="2023318" cy="381000"/>
          </a:xfrm>
          <a:prstGeom prst="rect">
            <a:avLst/>
          </a:prstGeom>
          <a:solidFill>
            <a:srgbClr val="E3ECE7"/>
          </a:solidFill>
          <a:ln/>
        </p:spPr>
        <p:txBody>
          <a:bodyPr/>
          <a:lstStyle/>
          <a:p>
            <a:endParaRPr lang="en-GB" noProof="1"/>
          </a:p>
        </p:txBody>
      </p:sp>
      <p:sp>
        <p:nvSpPr>
          <p:cNvPr id="11" name="Text 9"/>
          <p:cNvSpPr/>
          <p:nvPr/>
        </p:nvSpPr>
        <p:spPr>
          <a:xfrm>
            <a:off x="1400175" y="5426004"/>
            <a:ext cx="18709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800" kern="0" spc="72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channel</a:t>
            </a:r>
            <a:endParaRPr lang="en-GB" sz="1800" noProof="1"/>
          </a:p>
        </p:txBody>
      </p:sp>
      <p:sp>
        <p:nvSpPr>
          <p:cNvPr id="12" name="Shape 10"/>
          <p:cNvSpPr/>
          <p:nvPr/>
        </p:nvSpPr>
        <p:spPr>
          <a:xfrm>
            <a:off x="9277350" y="3423968"/>
            <a:ext cx="8058150" cy="29526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0C7"/>
            </a:solidFill>
            <a:prstDash val="solid"/>
          </a:ln>
        </p:spPr>
        <p:txBody>
          <a:bodyPr/>
          <a:lstStyle/>
          <a:p>
            <a:endParaRPr lang="en-GB" noProof="1"/>
          </a:p>
        </p:txBody>
      </p:sp>
      <p:sp>
        <p:nvSpPr>
          <p:cNvPr id="13" name="Text 11"/>
          <p:cNvSpPr/>
          <p:nvPr/>
        </p:nvSpPr>
        <p:spPr>
          <a:xfrm>
            <a:off x="9610725" y="3719243"/>
            <a:ext cx="76131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950" b="1" kern="0" spc="-19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GB" sz="1950" noProof="1"/>
          </a:p>
        </p:txBody>
      </p:sp>
      <p:sp>
        <p:nvSpPr>
          <p:cNvPr id="14" name="Text 12"/>
          <p:cNvSpPr/>
          <p:nvPr/>
        </p:nvSpPr>
        <p:spPr>
          <a:xfrm>
            <a:off x="9610725" y="4119293"/>
            <a:ext cx="76131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GB" sz="2100" b="1" kern="0" spc="-2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cluster capacity on the production estate</a:t>
            </a:r>
            <a:endParaRPr lang="en-GB" sz="2100" noProof="1"/>
          </a:p>
        </p:txBody>
      </p:sp>
      <p:sp>
        <p:nvSpPr>
          <p:cNvPr id="15" name="Text 13"/>
          <p:cNvSpPr/>
          <p:nvPr/>
        </p:nvSpPr>
        <p:spPr>
          <a:xfrm>
            <a:off x="9610725" y="4553573"/>
            <a:ext cx="7613142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GB" sz="18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run against the production estate in slots when the production batch is not running, consuming spare capacity rather than competing with batch workload.</a:t>
            </a:r>
            <a:endParaRPr lang="en-GB" sz="1800" noProof="1"/>
          </a:p>
        </p:txBody>
      </p:sp>
      <p:sp>
        <p:nvSpPr>
          <p:cNvPr id="16" name="Shape 14"/>
          <p:cNvSpPr/>
          <p:nvPr/>
        </p:nvSpPr>
        <p:spPr>
          <a:xfrm>
            <a:off x="9610725" y="5700294"/>
            <a:ext cx="2235994" cy="381000"/>
          </a:xfrm>
          <a:prstGeom prst="rect">
            <a:avLst/>
          </a:prstGeom>
          <a:solidFill>
            <a:srgbClr val="E3ECE7"/>
          </a:solidFill>
          <a:ln/>
        </p:spPr>
        <p:txBody>
          <a:bodyPr/>
          <a:lstStyle/>
          <a:p>
            <a:endParaRPr lang="en-GB" noProof="1"/>
          </a:p>
        </p:txBody>
      </p:sp>
      <p:sp>
        <p:nvSpPr>
          <p:cNvPr id="17" name="Text 15"/>
          <p:cNvSpPr/>
          <p:nvPr/>
        </p:nvSpPr>
        <p:spPr>
          <a:xfrm>
            <a:off x="9725025" y="5757444"/>
            <a:ext cx="20835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800" kern="0" spc="72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Off-peak windows</a:t>
            </a:r>
            <a:endParaRPr lang="en-GB" sz="1800" noProof="1"/>
          </a:p>
        </p:txBody>
      </p:sp>
      <p:sp>
        <p:nvSpPr>
          <p:cNvPr id="18" name="Shape 16"/>
          <p:cNvSpPr/>
          <p:nvPr/>
        </p:nvSpPr>
        <p:spPr>
          <a:xfrm>
            <a:off x="952500" y="6643269"/>
            <a:ext cx="8058150" cy="29526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0C7"/>
            </a:solidFill>
            <a:prstDash val="solid"/>
          </a:ln>
        </p:spPr>
        <p:txBody>
          <a:bodyPr/>
          <a:lstStyle/>
          <a:p>
            <a:endParaRPr lang="en-GB" noProof="1"/>
          </a:p>
        </p:txBody>
      </p:sp>
      <p:sp>
        <p:nvSpPr>
          <p:cNvPr id="19" name="Text 17"/>
          <p:cNvSpPr/>
          <p:nvPr/>
        </p:nvSpPr>
        <p:spPr>
          <a:xfrm>
            <a:off x="1285875" y="6938544"/>
            <a:ext cx="76131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950" b="1" kern="0" spc="-19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GB" sz="1950" noProof="1"/>
          </a:p>
        </p:txBody>
      </p:sp>
      <p:sp>
        <p:nvSpPr>
          <p:cNvPr id="20" name="Text 18"/>
          <p:cNvSpPr/>
          <p:nvPr/>
        </p:nvSpPr>
        <p:spPr>
          <a:xfrm>
            <a:off x="1285875" y="7338594"/>
            <a:ext cx="76131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GB" sz="2100" b="1" kern="0" spc="-2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Operated by BAU support, automated end-to-end</a:t>
            </a:r>
            <a:endParaRPr lang="en-GB" sz="2100" noProof="1"/>
          </a:p>
        </p:txBody>
      </p:sp>
      <p:sp>
        <p:nvSpPr>
          <p:cNvPr id="21" name="Text 19"/>
          <p:cNvSpPr/>
          <p:nvPr/>
        </p:nvSpPr>
        <p:spPr>
          <a:xfrm>
            <a:off x="1285875" y="7772874"/>
            <a:ext cx="7613142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GB" sz="18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running will be handled by the BAU support team using automated tooling with minimal manual intervention required.</a:t>
            </a:r>
            <a:endParaRPr lang="en-GB" sz="1800" noProof="1"/>
          </a:p>
        </p:txBody>
      </p:sp>
      <p:sp>
        <p:nvSpPr>
          <p:cNvPr id="22" name="Shape 20"/>
          <p:cNvSpPr/>
          <p:nvPr/>
        </p:nvSpPr>
        <p:spPr>
          <a:xfrm>
            <a:off x="1285875" y="8919595"/>
            <a:ext cx="2217241" cy="381000"/>
          </a:xfrm>
          <a:prstGeom prst="rect">
            <a:avLst/>
          </a:prstGeom>
          <a:solidFill>
            <a:srgbClr val="E3ECE7"/>
          </a:solidFill>
          <a:ln/>
        </p:spPr>
        <p:txBody>
          <a:bodyPr/>
          <a:lstStyle/>
          <a:p>
            <a:endParaRPr lang="en-GB" noProof="1"/>
          </a:p>
        </p:txBody>
      </p:sp>
      <p:sp>
        <p:nvSpPr>
          <p:cNvPr id="23" name="Text 21"/>
          <p:cNvSpPr/>
          <p:nvPr/>
        </p:nvSpPr>
        <p:spPr>
          <a:xfrm>
            <a:off x="1400175" y="8976745"/>
            <a:ext cx="2064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800" kern="0" spc="72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+ automation</a:t>
            </a:r>
            <a:endParaRPr lang="en-GB" sz="1800" noProof="1"/>
          </a:p>
        </p:txBody>
      </p:sp>
      <p:sp>
        <p:nvSpPr>
          <p:cNvPr id="24" name="Shape 22"/>
          <p:cNvSpPr/>
          <p:nvPr/>
        </p:nvSpPr>
        <p:spPr>
          <a:xfrm>
            <a:off x="9277350" y="6643269"/>
            <a:ext cx="8058150" cy="2952601"/>
          </a:xfrm>
          <a:prstGeom prst="rect">
            <a:avLst/>
          </a:prstGeom>
          <a:solidFill>
            <a:srgbClr val="FFFFFF"/>
          </a:solidFill>
          <a:ln w="9525">
            <a:solidFill>
              <a:srgbClr val="D3D0C7"/>
            </a:solidFill>
            <a:prstDash val="solid"/>
          </a:ln>
        </p:spPr>
        <p:txBody>
          <a:bodyPr/>
          <a:lstStyle/>
          <a:p>
            <a:endParaRPr lang="en-GB" noProof="1"/>
          </a:p>
        </p:txBody>
      </p:sp>
      <p:sp>
        <p:nvSpPr>
          <p:cNvPr id="25" name="Text 23"/>
          <p:cNvSpPr/>
          <p:nvPr/>
        </p:nvSpPr>
        <p:spPr>
          <a:xfrm>
            <a:off x="9610725" y="6938544"/>
            <a:ext cx="76131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950" b="1" kern="0" spc="-19" noProof="1">
                <a:solidFill>
                  <a:srgbClr val="00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GB" sz="1950" noProof="1"/>
          </a:p>
        </p:txBody>
      </p:sp>
      <p:sp>
        <p:nvSpPr>
          <p:cNvPr id="26" name="Text 24"/>
          <p:cNvSpPr/>
          <p:nvPr/>
        </p:nvSpPr>
        <p:spPr>
          <a:xfrm>
            <a:off x="9610725" y="7338594"/>
            <a:ext cx="76131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GB" sz="2100" b="1" kern="0" spc="-21" noProof="1">
                <a:solidFill>
                  <a:srgbClr val="152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Master-rates spreadsheet, enhanced for PII</a:t>
            </a:r>
            <a:endParaRPr lang="en-GB" sz="2100" noProof="1"/>
          </a:p>
        </p:txBody>
      </p:sp>
      <p:sp>
        <p:nvSpPr>
          <p:cNvPr id="27" name="Text 25"/>
          <p:cNvSpPr/>
          <p:nvPr/>
        </p:nvSpPr>
        <p:spPr>
          <a:xfrm>
            <a:off x="9610725" y="7772874"/>
            <a:ext cx="7613142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GB" sz="1800" noProof="1">
                <a:solidFill>
                  <a:srgbClr val="3D4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data for investigations provided via the master-rates spreadsheet. The spreadsheet will be enhanced to decrypt PII fields at the point of investigation.</a:t>
            </a:r>
            <a:endParaRPr lang="en-GB" sz="1800" noProof="1"/>
          </a:p>
        </p:txBody>
      </p:sp>
      <p:sp>
        <p:nvSpPr>
          <p:cNvPr id="28" name="Shape 26"/>
          <p:cNvSpPr/>
          <p:nvPr/>
        </p:nvSpPr>
        <p:spPr>
          <a:xfrm>
            <a:off x="9610725" y="8919595"/>
            <a:ext cx="1750368" cy="381000"/>
          </a:xfrm>
          <a:prstGeom prst="rect">
            <a:avLst/>
          </a:prstGeom>
          <a:solidFill>
            <a:srgbClr val="F1EBD9"/>
          </a:solidFill>
          <a:ln/>
        </p:spPr>
        <p:txBody>
          <a:bodyPr/>
          <a:lstStyle/>
          <a:p>
            <a:endParaRPr lang="en-GB" noProof="1"/>
          </a:p>
        </p:txBody>
      </p:sp>
      <p:sp>
        <p:nvSpPr>
          <p:cNvPr id="29" name="Text 27"/>
          <p:cNvSpPr/>
          <p:nvPr/>
        </p:nvSpPr>
        <p:spPr>
          <a:xfrm>
            <a:off x="9725025" y="8976745"/>
            <a:ext cx="15979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GB" sz="1800" kern="0" spc="72" noProof="1">
                <a:solidFill>
                  <a:srgbClr val="6B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decryption</a:t>
            </a:r>
            <a:endParaRPr lang="en-GB" sz="1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181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Frost</cp:lastModifiedBy>
  <cp:revision>3</cp:revision>
  <dcterms:created xsi:type="dcterms:W3CDTF">2026-05-13T14:42:14Z</dcterms:created>
  <dcterms:modified xsi:type="dcterms:W3CDTF">2026-05-13T14:50:06Z</dcterms:modified>
</cp:coreProperties>
</file>