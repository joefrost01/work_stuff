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477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about the whole lab, not one team. Every team is carrying the same drag — manual steps, bespoke pipelines, tools installed unevenly. The pitch is a way of working that frees up time and then spends that time standardising and automating, so every team goes faster. Two ideas do the heavy lifting: we create the space to improve by taxing change work rather than asking for priority, and we spend that space on a shared toolkit every team runs the same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in one slide, so nobody loses the plot. Two moves. Move one — create the space. We don't wait for the business to prioritise automation; it never wins against a feature. Instead we reserve a fixed slice of every change for automation and debt, and we start with quick wins that pay for themselves. Move two — fill the space. We spend that freed time standardising the platform and the AI tooling every team uses, so improvement compounds instead of evaporating. Slides three to five are move one; six to ten are move two; eleven is how we keep it honest.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automate anything, we need to know where the manual work actually hurts. But hear me clearly: this is NOT a time-and-motion study. A big measurement exercise would be carbon dioxide to our spark — it smothers the momentum we're trying to light. So we keep it light and fast: a quick conversation with each team, name the two or three steps everyone dreads, the ones done by hand every sprint, the ones that break at 2am. We rank by pain and frequency, not by stopwatch. A day of listening, not a quarter of measuring. The point is direction, not a spreadsheet.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mechanism, and it's the one thing I most want to land. Automation and technical debt never win a priority fight against business change — if we ask the business to schedule it, it will never get done. So we don't ask. We impose it as a tax: a fixed percentage of every piece of business change work is reserved for automation and debt reduction. Call it fifteen or twenty percent, agreed once. It rides inside the change work, not beside it. That means it's non-negotiable and continuous — the space to improve is baked into every sprint instead of being the thing that always slips. The business still gets its features; they just come with a built-in tithe that keeps the ground from rotting under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 gives us a steady trickle; quick wins give us the first burst. Take the low-hanging fruit first — the cheap, high-frequency annoyances we found on slide three. A flaky manual deploy, a report someone rebuilds by hand every Monday, a config copied between five repos. Each fix is small, but each one hands time back immediately. And that reclaimed time isn't a bonus we pocket — it's the fuel for the next, slightly bigger round. Win, bank the time, spend it on the next win. That's the flywheel: early automation pays for later automation, and the pace accelerates instead of stalling after the first enthusiasm.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we spend the space on. First, the platform — one paved road for building and shipping. Two of these apply to every team, no exceptions. Harness for CI, so every pipeline is defined and run the same way — no bespoke build scripts per team. And a single artefact repository — SAR — so every build publishes to and pulls from one place, the same versioned artefacts everywhere. The other two apply to the teams on public cloud: Backstage as the developer portal, one place to find every service, its docs, owner and health; and Terraform for cloud provisioning, so infrastructure is code — reviewed, repeatable, no click-ops. Universal where it can be, cloud-specific where it must be — but the same paved road for anyone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baseline for the whole lab. Everyone — every engineer and every CJM — has GitHub Copilot installed and configured, in whatever editor they already use. On top of that, engineers install Superpowers, which turns Copilot from ad-hoc autocomplete into structured, repeatable workflows the whole lab runs the same way. This isn't about using AI for its own sake; it's about getting a competent first pass on the repetitive work so people's attention lands where it matters. Same assistant, same skills, same conventions — no matter whose screen you're looking at, across every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only as good as the context and the commands you give it — so we standardise both, in every repo across the lab. Two files. AGENTS.md is a short brief at the repo root that tells any AI agent, and any new engineer, how we work here: the architecture, the conventions, the no-go zones. That's what keeps AI-generated changes architecturally consistent instead of each one reinventing the structure. And the justfile gives every repo the same command interface: the estate isn't uniform underneath — we've got services, pipelines, analytics repos — but every one exposes the same recipe names. just setup, just test, just run. Install just once and every repo, and every Copilot skill, speaks the same commands. Consistency for people and for machines.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habit with an outsized return: every engineer runs a first-pass PR review with Copilot before it goes to a human. It catches the obvious stuff — style, missing tests, unhandled edge cases, drift from the conventions in AGENTS.md — automatically. That means human reviewer time goes to logic and design, the things only a person can judge, instead of nitpicks. It shortens the review loop, it teaches consistency, and it makes the author fix things before anyone else has to look. AI reviews first, humans review second. Cheap to turn on, immediate payback.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first-draft principle, applied to the writing we all do in Atlassian. Rovo lives right inside Jira and Confluence — tools we already pay for and underuse. Use it maximally. In Confluence: draft pages, summarise long threads, link related spaces, keep docs current instead of stale. In Jira: write better tickets — clear description, acceptance criteria, linked work — instead of a one-line stub that bounces back for clarification. Better tickets mean less back-and-forth and cleaner sprints; better pages mean knowledge that's findable instead of tribal. It drafts, we edit — we don't start from a blank page. This is a big lever for CJMs specifically, but it's for everyone who writes a ticket or a doc.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keep this from fizzling. Three things. One — the work is ticketed in Jira and pulled into sprints, exactly like feature work. Not side-of-desk, not best-effort, not the thing you do if you have a spare afternoon. If it's not a ticket, it doesn't exist. Two — the bulk of the delivery is done by the enabling teams. They build the paved road — the Harness templates, the Backstage catalogue, the justfile and AGENTS.md scaffolds, the Copilot setup — so that adopting it is easy for everyone else. We're not asking every team to invent this alone. Three — a lightweight lab lead or coordinator holds the thread: keeps the backlog visible, unblocks, and reports progress. A coordinator, not a committee. And a fourth thread — we stand up a shared Confluence space to capture learnings, patterns and playbooks as we go, so each win is written down once and the whole approach is reproducible rather than relearned by every team. Light governance, real ownership.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done looks like, and it's concrete so we can check ourselves. A fixed slice of every change reserved for automation — the tax is live. One paved road: Harness, Backstage, Terraform. Copilot and Superpowers for everyone, first-pass PR review on by default, an AGENTS.md and justfile in every repo, Rovo used properly in Jira and Confluence. And all of it ticketed, delivered by enabling teams, held together by one coordinator. None of it is expensive or risky on its own. The value is that it compounds — a whole lab that makes its own space and spends it the same way. Let's ticket the first quick wins this sprint.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3824">
                  <a:alpha val="100000"/>
                </a:srgbClr>
              </a:gs>
              <a:gs pos="100000">
                <a:srgbClr val="006A4D">
                  <a:alpha val="100000"/>
                </a:srgbClr>
              </a:gs>
            </a:gsLst>
            <a:lin ang="2700000" scaled="0"/>
          </a:gradFill>
          <a:ln/>
        </p:spPr>
        <p:txBody>
          <a:bodyPr/>
          <a:lstStyle/>
          <a:p>
            <a:endParaRPr lang="en-US"/>
          </a:p>
        </p:txBody>
      </p:sp>
      <p:sp>
        <p:nvSpPr>
          <p:cNvPr id="3" name="Text 1"/>
          <p:cNvSpPr/>
          <p:nvPr/>
        </p:nvSpPr>
        <p:spPr>
          <a:xfrm>
            <a:off x="1143000" y="1047750"/>
            <a:ext cx="17602200"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9EC5B3"/>
                </a:solidFill>
                <a:latin typeface="JetBrains Mono" pitchFamily="34" charset="0"/>
                <a:ea typeface="JetBrains Mono" pitchFamily="34" charset="-122"/>
                <a:cs typeface="JetBrains Mono" pitchFamily="34" charset="-120"/>
              </a:rPr>
              <a:t>LAB-WIDE · WAYS OF WORKING</a:t>
            </a:r>
            <a:endParaRPr lang="en-US" sz="2100" dirty="0"/>
          </a:p>
        </p:txBody>
      </p:sp>
      <p:sp>
        <p:nvSpPr>
          <p:cNvPr id="4" name="Text 2"/>
          <p:cNvSpPr/>
          <p:nvPr/>
        </p:nvSpPr>
        <p:spPr>
          <a:xfrm>
            <a:off x="1143000" y="2826544"/>
            <a:ext cx="17602200" cy="461963"/>
          </a:xfrm>
          <a:prstGeom prst="rect">
            <a:avLst/>
          </a:prstGeom>
          <a:noFill/>
          <a:ln/>
        </p:spPr>
        <p:txBody>
          <a:bodyPr wrap="square" lIns="25400" tIns="25400" rIns="25400" bIns="25400" rtlCol="0" anchor="t">
            <a:normAutofit/>
          </a:bodyPr>
          <a:lstStyle/>
          <a:p>
            <a:pPr marL="0" indent="0" algn="l">
              <a:buNone/>
            </a:pPr>
            <a:r>
              <a:rPr lang="en-US" sz="2550" kern="0" spc="357" dirty="0">
                <a:solidFill>
                  <a:srgbClr val="9EC5B3"/>
                </a:solidFill>
                <a:latin typeface="JetBrains Mono" pitchFamily="34" charset="0"/>
                <a:ea typeface="JetBrains Mono" pitchFamily="34" charset="-122"/>
                <a:cs typeface="JetBrains Mono" pitchFamily="34" charset="-120"/>
              </a:rPr>
              <a:t>GOING FASTER, TOGETHER</a:t>
            </a:r>
            <a:endParaRPr lang="en-US" sz="2550" dirty="0"/>
          </a:p>
        </p:txBody>
      </p:sp>
      <p:sp>
        <p:nvSpPr>
          <p:cNvPr id="5" name="Text 3"/>
          <p:cNvSpPr/>
          <p:nvPr/>
        </p:nvSpPr>
        <p:spPr>
          <a:xfrm>
            <a:off x="1143000" y="3517106"/>
            <a:ext cx="16482060" cy="4758214"/>
          </a:xfrm>
          <a:prstGeom prst="rect">
            <a:avLst/>
          </a:prstGeom>
          <a:noFill/>
          <a:ln/>
        </p:spPr>
        <p:txBody>
          <a:bodyPr wrap="square" lIns="25400" tIns="25400" rIns="25400" bIns="25400" rtlCol="0" anchor="t">
            <a:normAutofit lnSpcReduction="10000"/>
          </a:bodyPr>
          <a:lstStyle/>
          <a:p>
            <a:pPr marL="0" indent="0" algn="l">
              <a:lnSpc>
                <a:spcPct val="92000"/>
              </a:lnSpc>
              <a:buNone/>
            </a:pPr>
            <a:r>
              <a:rPr lang="en-US" sz="11250" b="1" kern="0" spc="-337" dirty="0">
                <a:solidFill>
                  <a:srgbClr val="FFFFFF"/>
                </a:solidFill>
                <a:latin typeface="Inter" pitchFamily="34" charset="0"/>
                <a:ea typeface="Inter" pitchFamily="34" charset="-122"/>
                <a:cs typeface="Inter" pitchFamily="34" charset="-120"/>
              </a:rPr>
              <a:t>Automate </a:t>
            </a:r>
            <a:br>
              <a:rPr lang="en-US" sz="11250" b="1" kern="0" spc="-337" dirty="0">
                <a:solidFill>
                  <a:srgbClr val="FFFFFF"/>
                </a:solidFill>
                <a:latin typeface="Inter" pitchFamily="34" charset="0"/>
                <a:ea typeface="Inter" pitchFamily="34" charset="-122"/>
                <a:cs typeface="Inter" pitchFamily="34" charset="-120"/>
              </a:rPr>
            </a:br>
            <a:r>
              <a:rPr lang="en-US" sz="11250" b="1" kern="0" spc="-337" dirty="0">
                <a:solidFill>
                  <a:srgbClr val="FFFFFF"/>
                </a:solidFill>
                <a:latin typeface="Inter" pitchFamily="34" charset="0"/>
                <a:ea typeface="Inter" pitchFamily="34" charset="-122"/>
                <a:cs typeface="Inter" pitchFamily="34" charset="-120"/>
              </a:rPr>
              <a:t>Innovate </a:t>
            </a:r>
            <a:br>
              <a:rPr lang="en-US" sz="11250" b="1" kern="0" spc="-337" dirty="0">
                <a:solidFill>
                  <a:srgbClr val="FFFFFF"/>
                </a:solidFill>
                <a:latin typeface="Inter" pitchFamily="34" charset="0"/>
                <a:ea typeface="Inter" pitchFamily="34" charset="-122"/>
                <a:cs typeface="Inter" pitchFamily="34" charset="-120"/>
              </a:rPr>
            </a:br>
            <a:r>
              <a:rPr lang="en-US" sz="11250" b="1" kern="0" spc="-337" dirty="0">
                <a:solidFill>
                  <a:srgbClr val="FFFFFF"/>
                </a:solidFill>
                <a:latin typeface="Inter" pitchFamily="34" charset="0"/>
                <a:ea typeface="Inter" pitchFamily="34" charset="-122"/>
                <a:cs typeface="Inter" pitchFamily="34" charset="-120"/>
              </a:rPr>
              <a:t>Accelerate</a:t>
            </a:r>
            <a:endParaRPr lang="en-US" sz="11250" dirty="0"/>
          </a:p>
        </p:txBody>
      </p:sp>
      <p:sp>
        <p:nvSpPr>
          <p:cNvPr id="6" name="Text 4"/>
          <p:cNvSpPr/>
          <p:nvPr/>
        </p:nvSpPr>
        <p:spPr>
          <a:xfrm>
            <a:off x="1143000" y="8886825"/>
            <a:ext cx="4066170"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Every team in the lab</a:t>
            </a:r>
            <a:endParaRPr lang="en-US" sz="2100" dirty="0"/>
          </a:p>
        </p:txBody>
      </p:sp>
      <p:sp>
        <p:nvSpPr>
          <p:cNvPr id="7" name="Text 5"/>
          <p:cNvSpPr/>
          <p:nvPr/>
        </p:nvSpPr>
        <p:spPr>
          <a:xfrm>
            <a:off x="11336238" y="8886825"/>
            <a:ext cx="6389638"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Create the space · fill the space</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THE PLAY</a:t>
            </a:r>
            <a:endParaRPr lang="en-US" sz="2100" dirty="0"/>
          </a:p>
        </p:txBody>
      </p:sp>
      <p:sp>
        <p:nvSpPr>
          <p:cNvPr id="3" name="Shape 1"/>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1143000" y="2038350"/>
            <a:ext cx="11639612" cy="1592461"/>
          </a:xfrm>
          <a:prstGeom prst="rect">
            <a:avLst/>
          </a:prstGeom>
          <a:noFill/>
          <a:ln/>
        </p:spPr>
        <p:txBody>
          <a:bodyPr wrap="square" lIns="25400" tIns="25400" rIns="25400" bIns="25400" rtlCol="0" anchor="t">
            <a:normAutofit/>
          </a:bodyPr>
          <a:lstStyle/>
          <a:p>
            <a:pPr marL="0" indent="0" algn="l">
              <a:lnSpc>
                <a:spcPct val="102000"/>
              </a:lnSpc>
              <a:buNone/>
            </a:pPr>
            <a:r>
              <a:rPr lang="en-US" sz="6000" b="1" kern="0" spc="-120" dirty="0">
                <a:solidFill>
                  <a:srgbClr val="FFFFFF"/>
                </a:solidFill>
                <a:latin typeface="Inter" pitchFamily="34" charset="0"/>
                <a:ea typeface="Inter" pitchFamily="34" charset="-122"/>
                <a:cs typeface="Inter" pitchFamily="34" charset="-120"/>
              </a:rPr>
              <a:t>Two moves: create the space, then fill it.</a:t>
            </a:r>
            <a:endParaRPr lang="en-US" sz="6000" dirty="0"/>
          </a:p>
        </p:txBody>
      </p:sp>
      <p:sp>
        <p:nvSpPr>
          <p:cNvPr id="5" name="Shape 3"/>
          <p:cNvSpPr/>
          <p:nvPr/>
        </p:nvSpPr>
        <p:spPr>
          <a:xfrm>
            <a:off x="1143000" y="4126111"/>
            <a:ext cx="7858125" cy="5208389"/>
          </a:xfrm>
          <a:prstGeom prst="roundRect">
            <a:avLst>
              <a:gd name="adj" fmla="val 3658"/>
            </a:avLst>
          </a:prstGeom>
          <a:solidFill>
            <a:srgbClr val="0A4A31"/>
          </a:solidFill>
          <a:ln/>
        </p:spPr>
        <p:txBody>
          <a:bodyPr/>
          <a:lstStyle/>
          <a:p>
            <a:endParaRPr lang="en-US"/>
          </a:p>
        </p:txBody>
      </p:sp>
      <p:sp>
        <p:nvSpPr>
          <p:cNvPr id="6" name="Text 4"/>
          <p:cNvSpPr/>
          <p:nvPr/>
        </p:nvSpPr>
        <p:spPr>
          <a:xfrm>
            <a:off x="1619250" y="4583311"/>
            <a:ext cx="7596187"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Move 01</a:t>
            </a:r>
            <a:endParaRPr lang="en-US" sz="2250" dirty="0"/>
          </a:p>
        </p:txBody>
      </p:sp>
      <p:sp>
        <p:nvSpPr>
          <p:cNvPr id="7" name="Text 5"/>
          <p:cNvSpPr/>
          <p:nvPr/>
        </p:nvSpPr>
        <p:spPr>
          <a:xfrm>
            <a:off x="1619250" y="5169098"/>
            <a:ext cx="7596187" cy="522684"/>
          </a:xfrm>
          <a:prstGeom prst="rect">
            <a:avLst/>
          </a:prstGeom>
          <a:noFill/>
          <a:ln/>
        </p:spPr>
        <p:txBody>
          <a:bodyPr wrap="square" lIns="25400" tIns="25400" rIns="25400" bIns="25400" rtlCol="0" anchor="t">
            <a:normAutofit/>
          </a:bodyPr>
          <a:lstStyle/>
          <a:p>
            <a:pPr marL="0" indent="0" algn="l">
              <a:lnSpc>
                <a:spcPct val="106000"/>
              </a:lnSpc>
              <a:buNone/>
            </a:pPr>
            <a:r>
              <a:rPr lang="en-US" sz="3600" b="1" dirty="0">
                <a:solidFill>
                  <a:srgbClr val="FFFFFF"/>
                </a:solidFill>
                <a:latin typeface="Inter" pitchFamily="34" charset="0"/>
                <a:ea typeface="Inter" pitchFamily="34" charset="-122"/>
                <a:cs typeface="Inter" pitchFamily="34" charset="-120"/>
              </a:rPr>
              <a:t>Create the space</a:t>
            </a:r>
            <a:endParaRPr lang="en-US" sz="3600" dirty="0"/>
          </a:p>
        </p:txBody>
      </p:sp>
      <p:sp>
        <p:nvSpPr>
          <p:cNvPr id="8" name="Text 6"/>
          <p:cNvSpPr/>
          <p:nvPr/>
        </p:nvSpPr>
        <p:spPr>
          <a:xfrm>
            <a:off x="1619250" y="5863233"/>
            <a:ext cx="7112794" cy="1301651"/>
          </a:xfrm>
          <a:prstGeom prst="rect">
            <a:avLst/>
          </a:prstGeom>
          <a:noFill/>
          <a:ln/>
        </p:spPr>
        <p:txBody>
          <a:bodyPr wrap="square" lIns="25400" tIns="25400" rIns="25400" bIns="25400" rtlCol="0" anchor="t">
            <a:normAutofit/>
          </a:bodyPr>
          <a:lstStyle/>
          <a:p>
            <a:pPr marL="0" indent="0" algn="l">
              <a:lnSpc>
                <a:spcPct val="134000"/>
              </a:lnSpc>
              <a:buNone/>
            </a:pPr>
            <a:r>
              <a:rPr lang="en-US" sz="2475" dirty="0">
                <a:solidFill>
                  <a:srgbClr val="CFE2D8"/>
                </a:solidFill>
                <a:latin typeface="Inter" pitchFamily="34" charset="0"/>
                <a:ea typeface="Inter" pitchFamily="34" charset="-122"/>
                <a:cs typeface="Inter" pitchFamily="34" charset="-120"/>
              </a:rPr>
              <a:t>Tax change work for automation and debt — don't ask for priority. Start with quick wins that fund the next round.</a:t>
            </a:r>
            <a:endParaRPr lang="en-US" sz="2475" dirty="0"/>
          </a:p>
        </p:txBody>
      </p:sp>
      <p:sp>
        <p:nvSpPr>
          <p:cNvPr id="9" name="Shape 7"/>
          <p:cNvSpPr/>
          <p:nvPr/>
        </p:nvSpPr>
        <p:spPr>
          <a:xfrm>
            <a:off x="9286875" y="4126111"/>
            <a:ext cx="7858125" cy="5208389"/>
          </a:xfrm>
          <a:prstGeom prst="roundRect">
            <a:avLst>
              <a:gd name="adj" fmla="val 3658"/>
            </a:avLst>
          </a:prstGeom>
          <a:solidFill>
            <a:srgbClr val="9EC5B3"/>
          </a:solidFill>
          <a:ln/>
        </p:spPr>
        <p:txBody>
          <a:bodyPr/>
          <a:lstStyle/>
          <a:p>
            <a:endParaRPr lang="en-US"/>
          </a:p>
        </p:txBody>
      </p:sp>
      <p:sp>
        <p:nvSpPr>
          <p:cNvPr id="10" name="Text 8"/>
          <p:cNvSpPr/>
          <p:nvPr/>
        </p:nvSpPr>
        <p:spPr>
          <a:xfrm>
            <a:off x="9763125" y="4583311"/>
            <a:ext cx="7596187"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0A4A31"/>
                </a:solidFill>
                <a:latin typeface="JetBrains Mono" pitchFamily="34" charset="0"/>
                <a:ea typeface="JetBrains Mono" pitchFamily="34" charset="-122"/>
                <a:cs typeface="JetBrains Mono" pitchFamily="34" charset="-120"/>
              </a:rPr>
              <a:t>Move 02</a:t>
            </a:r>
            <a:endParaRPr lang="en-US" sz="2250" dirty="0"/>
          </a:p>
        </p:txBody>
      </p:sp>
      <p:sp>
        <p:nvSpPr>
          <p:cNvPr id="11" name="Text 9"/>
          <p:cNvSpPr/>
          <p:nvPr/>
        </p:nvSpPr>
        <p:spPr>
          <a:xfrm>
            <a:off x="9763125" y="5169098"/>
            <a:ext cx="7596187" cy="522684"/>
          </a:xfrm>
          <a:prstGeom prst="rect">
            <a:avLst/>
          </a:prstGeom>
          <a:noFill/>
          <a:ln/>
        </p:spPr>
        <p:txBody>
          <a:bodyPr wrap="square" lIns="25400" tIns="25400" rIns="25400" bIns="25400" rtlCol="0" anchor="t">
            <a:normAutofit/>
          </a:bodyPr>
          <a:lstStyle/>
          <a:p>
            <a:pPr marL="0" indent="0" algn="l">
              <a:lnSpc>
                <a:spcPct val="106000"/>
              </a:lnSpc>
              <a:buNone/>
            </a:pPr>
            <a:r>
              <a:rPr lang="en-US" sz="3600" b="1" dirty="0">
                <a:solidFill>
                  <a:srgbClr val="003824"/>
                </a:solidFill>
                <a:latin typeface="Inter" pitchFamily="34" charset="0"/>
                <a:ea typeface="Inter" pitchFamily="34" charset="-122"/>
                <a:cs typeface="Inter" pitchFamily="34" charset="-120"/>
              </a:rPr>
              <a:t>Fill the space</a:t>
            </a:r>
            <a:endParaRPr lang="en-US" sz="3600" dirty="0"/>
          </a:p>
        </p:txBody>
      </p:sp>
      <p:sp>
        <p:nvSpPr>
          <p:cNvPr id="12" name="Text 10"/>
          <p:cNvSpPr/>
          <p:nvPr/>
        </p:nvSpPr>
        <p:spPr>
          <a:xfrm>
            <a:off x="9763125" y="5863233"/>
            <a:ext cx="7112794" cy="1301651"/>
          </a:xfrm>
          <a:prstGeom prst="rect">
            <a:avLst/>
          </a:prstGeom>
          <a:noFill/>
          <a:ln/>
        </p:spPr>
        <p:txBody>
          <a:bodyPr wrap="square" lIns="25400" tIns="25400" rIns="25400" bIns="25400" rtlCol="0" anchor="t">
            <a:normAutofit/>
          </a:bodyPr>
          <a:lstStyle/>
          <a:p>
            <a:pPr marL="0" indent="0" algn="l">
              <a:lnSpc>
                <a:spcPct val="134000"/>
              </a:lnSpc>
              <a:buNone/>
            </a:pPr>
            <a:r>
              <a:rPr lang="en-US" sz="2475" dirty="0">
                <a:solidFill>
                  <a:srgbClr val="0A4A31"/>
                </a:solidFill>
                <a:latin typeface="Inter" pitchFamily="34" charset="0"/>
                <a:ea typeface="Inter" pitchFamily="34" charset="-122"/>
                <a:cs typeface="Inter" pitchFamily="34" charset="-120"/>
              </a:rPr>
              <a:t>Spend it on one shared platform and AI toolkit — the same for every team, so gains compound instead of evaporating.</a:t>
            </a:r>
            <a:endParaRPr lang="en-US" sz="24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FIND THE FRICTION</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1745384" cy="1504057"/>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003824"/>
                </a:solidFill>
                <a:latin typeface="Inter" pitchFamily="34" charset="0"/>
                <a:ea typeface="Inter" pitchFamily="34" charset="-122"/>
                <a:cs typeface="Inter" pitchFamily="34" charset="-120"/>
              </a:rPr>
              <a:t>Find where it hurts — don't over-measure it.</a:t>
            </a:r>
            <a:endParaRPr lang="en-US" sz="5550" dirty="0"/>
          </a:p>
        </p:txBody>
      </p:sp>
      <p:sp>
        <p:nvSpPr>
          <p:cNvPr id="5" name="Shape 3"/>
          <p:cNvSpPr/>
          <p:nvPr/>
        </p:nvSpPr>
        <p:spPr>
          <a:xfrm>
            <a:off x="1143000" y="3885307"/>
            <a:ext cx="7877175" cy="2373660"/>
          </a:xfrm>
          <a:prstGeom prst="roundRect">
            <a:avLst>
              <a:gd name="adj" fmla="val 7223"/>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533525" y="4237732"/>
            <a:ext cx="780573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006A4D"/>
                </a:solidFill>
                <a:latin typeface="JetBrains Mono" pitchFamily="34" charset="0"/>
                <a:ea typeface="JetBrains Mono" pitchFamily="34" charset="-122"/>
                <a:cs typeface="JetBrains Mono" pitchFamily="34" charset="-120"/>
              </a:rPr>
              <a:t>A conversation, not a study</a:t>
            </a:r>
            <a:endParaRPr lang="en-US" sz="1950" dirty="0"/>
          </a:p>
        </p:txBody>
      </p:sp>
      <p:sp>
        <p:nvSpPr>
          <p:cNvPr id="7" name="Text 5"/>
          <p:cNvSpPr/>
          <p:nvPr/>
        </p:nvSpPr>
        <p:spPr>
          <a:xfrm>
            <a:off x="1533525" y="4699695"/>
            <a:ext cx="7309009" cy="1244947"/>
          </a:xfrm>
          <a:prstGeom prst="rect">
            <a:avLst/>
          </a:prstGeom>
          <a:noFill/>
          <a:ln/>
        </p:spPr>
        <p:txBody>
          <a:bodyPr wrap="square" lIns="25400" tIns="25400" rIns="25400" bIns="25400" rtlCol="0" anchor="t">
            <a:normAutofit/>
          </a:bodyPr>
          <a:lstStyle/>
          <a:p>
            <a:pPr marL="0" indent="0" algn="l">
              <a:lnSpc>
                <a:spcPct val="128000"/>
              </a:lnSpc>
              <a:buNone/>
            </a:pPr>
            <a:r>
              <a:rPr lang="en-US" sz="2475" dirty="0">
                <a:solidFill>
                  <a:srgbClr val="14201B"/>
                </a:solidFill>
                <a:latin typeface="Inter" pitchFamily="34" charset="0"/>
                <a:ea typeface="Inter" pitchFamily="34" charset="-122"/>
                <a:cs typeface="Inter" pitchFamily="34" charset="-120"/>
              </a:rPr>
              <a:t>Ask each team for the two or three manual steps they dread every sprint. Rank by pain and frequency — not a stopwatch.</a:t>
            </a:r>
            <a:endParaRPr lang="en-US" sz="2475" dirty="0"/>
          </a:p>
        </p:txBody>
      </p:sp>
      <p:sp>
        <p:nvSpPr>
          <p:cNvPr id="8" name="Shape 6"/>
          <p:cNvSpPr/>
          <p:nvPr/>
        </p:nvSpPr>
        <p:spPr>
          <a:xfrm>
            <a:off x="9267825" y="3885307"/>
            <a:ext cx="7877175" cy="2373660"/>
          </a:xfrm>
          <a:prstGeom prst="roundRect">
            <a:avLst>
              <a:gd name="adj" fmla="val 7223"/>
            </a:avLst>
          </a:prstGeom>
          <a:solidFill>
            <a:srgbClr val="F3F8F5"/>
          </a:solidFill>
          <a:ln w="9525">
            <a:solidFill>
              <a:srgbClr val="E6F1EC"/>
            </a:solidFill>
            <a:prstDash val="solid"/>
          </a:ln>
        </p:spPr>
        <p:txBody>
          <a:bodyPr/>
          <a:lstStyle/>
          <a:p>
            <a:endParaRPr lang="en-US"/>
          </a:p>
        </p:txBody>
      </p:sp>
      <p:sp>
        <p:nvSpPr>
          <p:cNvPr id="9" name="Text 7"/>
          <p:cNvSpPr/>
          <p:nvPr/>
        </p:nvSpPr>
        <p:spPr>
          <a:xfrm>
            <a:off x="9658350" y="4237732"/>
            <a:ext cx="780573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006A4D"/>
                </a:solidFill>
                <a:latin typeface="JetBrains Mono" pitchFamily="34" charset="0"/>
                <a:ea typeface="JetBrains Mono" pitchFamily="34" charset="-122"/>
                <a:cs typeface="JetBrains Mono" pitchFamily="34" charset="-120"/>
              </a:rPr>
              <a:t>A day, not a quarter</a:t>
            </a:r>
            <a:endParaRPr lang="en-US" sz="1950" dirty="0"/>
          </a:p>
        </p:txBody>
      </p:sp>
      <p:sp>
        <p:nvSpPr>
          <p:cNvPr id="10" name="Text 8"/>
          <p:cNvSpPr/>
          <p:nvPr/>
        </p:nvSpPr>
        <p:spPr>
          <a:xfrm>
            <a:off x="9658350" y="4699695"/>
            <a:ext cx="7309009" cy="1244947"/>
          </a:xfrm>
          <a:prstGeom prst="rect">
            <a:avLst/>
          </a:prstGeom>
          <a:noFill/>
          <a:ln/>
        </p:spPr>
        <p:txBody>
          <a:bodyPr wrap="square" lIns="25400" tIns="25400" rIns="25400" bIns="25400" rtlCol="0" anchor="t">
            <a:normAutofit/>
          </a:bodyPr>
          <a:lstStyle/>
          <a:p>
            <a:pPr marL="0" indent="0" algn="l">
              <a:lnSpc>
                <a:spcPct val="128000"/>
              </a:lnSpc>
              <a:buNone/>
            </a:pPr>
            <a:r>
              <a:rPr lang="en-US" sz="2475" dirty="0">
                <a:solidFill>
                  <a:srgbClr val="14201B"/>
                </a:solidFill>
                <a:latin typeface="Inter" pitchFamily="34" charset="0"/>
                <a:ea typeface="Inter" pitchFamily="34" charset="-122"/>
                <a:cs typeface="Inter" pitchFamily="34" charset="-120"/>
              </a:rPr>
              <a:t>Direction, not a spreadsheet. We only need enough signal to pick the first targets and start.</a:t>
            </a:r>
            <a:endParaRPr lang="en-US" sz="2475" dirty="0"/>
          </a:p>
        </p:txBody>
      </p:sp>
      <p:sp>
        <p:nvSpPr>
          <p:cNvPr id="11" name="Shape 9"/>
          <p:cNvSpPr/>
          <p:nvPr/>
        </p:nvSpPr>
        <p:spPr>
          <a:xfrm>
            <a:off x="1143000" y="6639967"/>
            <a:ext cx="16002000" cy="1472059"/>
          </a:xfrm>
          <a:prstGeom prst="roundRect">
            <a:avLst>
              <a:gd name="adj" fmla="val 10353"/>
            </a:avLst>
          </a:prstGeom>
          <a:solidFill>
            <a:srgbClr val="FBF3EA"/>
          </a:solidFill>
          <a:ln w="9525">
            <a:solidFill>
              <a:srgbClr val="EFDCC6"/>
            </a:solidFill>
            <a:prstDash val="solid"/>
          </a:ln>
        </p:spPr>
        <p:txBody>
          <a:bodyPr/>
          <a:lstStyle/>
          <a:p>
            <a:endParaRPr lang="en-US"/>
          </a:p>
        </p:txBody>
      </p:sp>
      <p:sp>
        <p:nvSpPr>
          <p:cNvPr id="12" name="Text 10"/>
          <p:cNvSpPr/>
          <p:nvPr/>
        </p:nvSpPr>
        <p:spPr>
          <a:xfrm>
            <a:off x="1514475" y="6916192"/>
            <a:ext cx="15739110" cy="957709"/>
          </a:xfrm>
          <a:prstGeom prst="rect">
            <a:avLst/>
          </a:prstGeom>
          <a:noFill/>
          <a:ln/>
        </p:spPr>
        <p:txBody>
          <a:bodyPr wrap="square" lIns="25400" tIns="25400" rIns="25400" bIns="25400" rtlCol="0" anchor="t">
            <a:normAutofit/>
          </a:bodyPr>
          <a:lstStyle/>
          <a:p>
            <a:pPr marL="0" indent="0" algn="l">
              <a:lnSpc>
                <a:spcPct val="142000"/>
              </a:lnSpc>
              <a:buNone/>
            </a:pPr>
            <a:r>
              <a:rPr lang="en-US" sz="1800" dirty="0">
                <a:solidFill>
                  <a:srgbClr val="B5651D"/>
                </a:solidFill>
                <a:highlight>
                  <a:srgbClr val="F4E2CF"/>
                </a:highlight>
                <a:latin typeface="JetBrains Mono" pitchFamily="34" charset="0"/>
                <a:ea typeface="JetBrains Mono" pitchFamily="34" charset="-122"/>
                <a:cs typeface="JetBrains Mono" pitchFamily="34" charset="-120"/>
              </a:rPr>
              <a:t>Careful </a:t>
            </a:r>
            <a:r>
              <a:rPr lang="en-US" sz="2550" dirty="0">
                <a:solidFill>
                  <a:srgbClr val="14201B"/>
                </a:solidFill>
                <a:highlight>
                  <a:srgbClr val="FBF3EA"/>
                </a:highlight>
                <a:latin typeface="Inter" pitchFamily="34" charset="0"/>
                <a:ea typeface="Inter" pitchFamily="34" charset="-122"/>
                <a:cs typeface="Inter" pitchFamily="34" charset="-120"/>
              </a:rPr>
              <a:t>A full time-and-motion study is </a:t>
            </a:r>
            <a:r>
              <a:rPr lang="en-US" sz="2550" b="1" dirty="0">
                <a:solidFill>
                  <a:srgbClr val="003824"/>
                </a:solidFill>
                <a:latin typeface="Inter" pitchFamily="34" charset="0"/>
                <a:ea typeface="Inter" pitchFamily="34" charset="-122"/>
                <a:cs typeface="Inter" pitchFamily="34" charset="-120"/>
              </a:rPr>
              <a:t>carbon dioxide to our spark </a:t>
            </a:r>
            <a:r>
              <a:rPr lang="en-US" sz="2550" dirty="0">
                <a:solidFill>
                  <a:srgbClr val="14201B"/>
                </a:solidFill>
                <a:highlight>
                  <a:srgbClr val="FBF3EA"/>
                </a:highlight>
                <a:latin typeface="Inter" pitchFamily="34" charset="0"/>
                <a:ea typeface="Inter" pitchFamily="34" charset="-122"/>
                <a:cs typeface="Inter" pitchFamily="34" charset="-120"/>
              </a:rPr>
              <a:t>— it smothers the momentum before it catches.</a:t>
            </a:r>
            <a:endParaRPr lang="en-US" sz="2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3824">
                  <a:alpha val="100000"/>
                </a:srgbClr>
              </a:gs>
              <a:gs pos="100000">
                <a:srgbClr val="006A4D">
                  <a:alpha val="100000"/>
                </a:srgbClr>
              </a:gs>
            </a:gsLst>
            <a:lin ang="2700000" scaled="0"/>
          </a:gradFill>
          <a:ln/>
        </p:spPr>
        <p:txBody>
          <a:bodyPr/>
          <a:lstStyle/>
          <a:p>
            <a:endParaRPr lang="en-US"/>
          </a:p>
        </p:txBody>
      </p:sp>
      <p:sp>
        <p:nvSpPr>
          <p:cNvPr id="3" name="Text 1"/>
          <p:cNvSpPr/>
          <p:nvPr/>
        </p:nvSpPr>
        <p:spPr>
          <a:xfrm>
            <a:off x="14935200" y="7181850"/>
            <a:ext cx="3268980" cy="4000500"/>
          </a:xfrm>
          <a:prstGeom prst="rect">
            <a:avLst/>
          </a:prstGeom>
          <a:noFill/>
          <a:ln/>
        </p:spPr>
        <p:txBody>
          <a:bodyPr wrap="square" lIns="25400" tIns="25400" rIns="25400" bIns="25400" rtlCol="0" anchor="t">
            <a:normAutofit/>
          </a:bodyPr>
          <a:lstStyle/>
          <a:p>
            <a:pPr marL="0" indent="0" algn="l">
              <a:lnSpc>
                <a:spcPct val="80000"/>
              </a:lnSpc>
              <a:buNone/>
            </a:pPr>
            <a:r>
              <a:rPr lang="en-US" sz="39000" b="1" dirty="0">
                <a:solidFill>
                  <a:srgbClr val="9EC5B3">
                    <a:alpha val="10000"/>
                  </a:srgbClr>
                </a:solidFill>
                <a:latin typeface="JetBrains Mono" pitchFamily="34" charset="0"/>
                <a:ea typeface="JetBrains Mono" pitchFamily="34" charset="-122"/>
                <a:cs typeface="JetBrains Mono" pitchFamily="34" charset="-120"/>
              </a:rPr>
              <a:t>%</a:t>
            </a:r>
            <a:endParaRPr lang="en-US" sz="39000" dirty="0"/>
          </a:p>
        </p:txBody>
      </p:sp>
      <p:sp>
        <p:nvSpPr>
          <p:cNvPr id="4" name="Text 2"/>
          <p:cNvSpPr/>
          <p:nvPr/>
        </p:nvSpPr>
        <p:spPr>
          <a:xfrm>
            <a:off x="1143000" y="1419597"/>
            <a:ext cx="17602200" cy="414338"/>
          </a:xfrm>
          <a:prstGeom prst="rect">
            <a:avLst/>
          </a:prstGeom>
          <a:noFill/>
          <a:ln/>
        </p:spPr>
        <p:txBody>
          <a:bodyPr wrap="square" lIns="25400" tIns="25400" rIns="25400" bIns="25400" rtlCol="0" anchor="t">
            <a:normAutofit/>
          </a:bodyPr>
          <a:lstStyle/>
          <a:p>
            <a:pPr marL="0" indent="0" algn="l">
              <a:buNone/>
            </a:pPr>
            <a:r>
              <a:rPr lang="en-US" sz="2250" kern="0" spc="360" dirty="0">
                <a:solidFill>
                  <a:srgbClr val="9EC5B3"/>
                </a:solidFill>
                <a:latin typeface="JetBrains Mono" pitchFamily="34" charset="0"/>
                <a:ea typeface="JetBrains Mono" pitchFamily="34" charset="-122"/>
                <a:cs typeface="JetBrains Mono" pitchFamily="34" charset="-120"/>
              </a:rPr>
              <a:t>THE MECHANISM</a:t>
            </a:r>
            <a:endParaRPr lang="en-US" sz="2250" dirty="0"/>
          </a:p>
        </p:txBody>
      </p:sp>
      <p:sp>
        <p:nvSpPr>
          <p:cNvPr id="5" name="Text 3"/>
          <p:cNvSpPr/>
          <p:nvPr/>
        </p:nvSpPr>
        <p:spPr>
          <a:xfrm>
            <a:off x="1143000" y="2081585"/>
            <a:ext cx="13755898" cy="1979563"/>
          </a:xfrm>
          <a:prstGeom prst="rect">
            <a:avLst/>
          </a:prstGeom>
          <a:noFill/>
          <a:ln/>
        </p:spPr>
        <p:txBody>
          <a:bodyPr wrap="square" lIns="25400" tIns="25400" rIns="25400" bIns="25400" rtlCol="0" anchor="t">
            <a:normAutofit/>
          </a:bodyPr>
          <a:lstStyle/>
          <a:p>
            <a:pPr marL="0" indent="0" algn="l">
              <a:lnSpc>
                <a:spcPct val="98000"/>
              </a:lnSpc>
              <a:buNone/>
            </a:pPr>
            <a:r>
              <a:rPr lang="en-US" sz="7800" b="1" kern="0" spc="-234" dirty="0">
                <a:solidFill>
                  <a:srgbClr val="FFFFFF"/>
                </a:solidFill>
                <a:latin typeface="Inter" pitchFamily="34" charset="0"/>
                <a:ea typeface="Inter" pitchFamily="34" charset="-122"/>
                <a:cs typeface="Inter" pitchFamily="34" charset="-120"/>
              </a:rPr>
              <a:t>Tax change work. Don't ask for priority.</a:t>
            </a:r>
            <a:endParaRPr lang="en-US" sz="7800" dirty="0"/>
          </a:p>
        </p:txBody>
      </p:sp>
      <p:sp>
        <p:nvSpPr>
          <p:cNvPr id="6" name="Text 4"/>
          <p:cNvSpPr/>
          <p:nvPr/>
        </p:nvSpPr>
        <p:spPr>
          <a:xfrm>
            <a:off x="1143000" y="4404047"/>
            <a:ext cx="9877969" cy="1622227"/>
          </a:xfrm>
          <a:prstGeom prst="rect">
            <a:avLst/>
          </a:prstGeom>
          <a:noFill/>
          <a:ln/>
        </p:spPr>
        <p:txBody>
          <a:bodyPr wrap="square" lIns="25400" tIns="25400" rIns="25400" bIns="25400" rtlCol="0" anchor="t">
            <a:normAutofit/>
          </a:bodyPr>
          <a:lstStyle/>
          <a:p>
            <a:pPr marL="0" indent="0" algn="l">
              <a:lnSpc>
                <a:spcPct val="132000"/>
              </a:lnSpc>
              <a:buNone/>
            </a:pPr>
            <a:r>
              <a:rPr lang="en-US" sz="3150" dirty="0">
                <a:solidFill>
                  <a:srgbClr val="CFE2D8"/>
                </a:solidFill>
                <a:latin typeface="Inter" pitchFamily="34" charset="0"/>
                <a:ea typeface="Inter" pitchFamily="34" charset="-122"/>
                <a:cs typeface="Inter" pitchFamily="34" charset="-120"/>
              </a:rPr>
              <a:t>A fixed slice of every change — reserved for automation and debt. Baked in, non-negotiable, continuous.</a:t>
            </a:r>
            <a:endParaRPr lang="en-US" sz="3150" dirty="0"/>
          </a:p>
        </p:txBody>
      </p:sp>
      <p:sp>
        <p:nvSpPr>
          <p:cNvPr id="7" name="Shape 5"/>
          <p:cNvSpPr/>
          <p:nvPr/>
        </p:nvSpPr>
        <p:spPr>
          <a:xfrm>
            <a:off x="1143000" y="6483474"/>
            <a:ext cx="3670250" cy="2383929"/>
          </a:xfrm>
          <a:prstGeom prst="roundRect">
            <a:avLst>
              <a:gd name="adj" fmla="val 6393"/>
            </a:avLst>
          </a:prstGeom>
          <a:solidFill>
            <a:srgbClr val="FFFFFF">
              <a:alpha val="10000"/>
            </a:srgbClr>
          </a:solidFill>
          <a:ln w="9525">
            <a:solidFill>
              <a:srgbClr val="9EC5B3">
                <a:alpha val="30000"/>
              </a:srgbClr>
            </a:solidFill>
            <a:prstDash val="solid"/>
          </a:ln>
        </p:spPr>
        <p:txBody>
          <a:bodyPr/>
          <a:lstStyle/>
          <a:p>
            <a:endParaRPr lang="en-US"/>
          </a:p>
        </p:txBody>
      </p:sp>
      <p:sp>
        <p:nvSpPr>
          <p:cNvPr id="8" name="Text 6"/>
          <p:cNvSpPr/>
          <p:nvPr/>
        </p:nvSpPr>
        <p:spPr>
          <a:xfrm>
            <a:off x="1476375" y="6759699"/>
            <a:ext cx="330385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9EC5B3"/>
                </a:solidFill>
                <a:latin typeface="JetBrains Mono" pitchFamily="34" charset="0"/>
                <a:ea typeface="JetBrains Mono" pitchFamily="34" charset="-122"/>
                <a:cs typeface="JetBrains Mono" pitchFamily="34" charset="-120"/>
              </a:rPr>
              <a:t>Why not ask</a:t>
            </a:r>
            <a:endParaRPr lang="en-US" sz="1800" dirty="0"/>
          </a:p>
        </p:txBody>
      </p:sp>
      <p:sp>
        <p:nvSpPr>
          <p:cNvPr id="9" name="Text 7"/>
          <p:cNvSpPr/>
          <p:nvPr/>
        </p:nvSpPr>
        <p:spPr>
          <a:xfrm>
            <a:off x="1476375" y="7154987"/>
            <a:ext cx="3093605" cy="1474291"/>
          </a:xfrm>
          <a:prstGeom prst="rect">
            <a:avLst/>
          </a:prstGeom>
          <a:noFill/>
          <a:ln/>
        </p:spPr>
        <p:txBody>
          <a:bodyPr wrap="square" lIns="25400" tIns="25400" rIns="25400" bIns="25400" rtlCol="0" anchor="t">
            <a:normAutofit/>
          </a:bodyPr>
          <a:lstStyle/>
          <a:p>
            <a:pPr marL="0" indent="0" algn="l">
              <a:lnSpc>
                <a:spcPct val="130000"/>
              </a:lnSpc>
              <a:buNone/>
            </a:pPr>
            <a:r>
              <a:rPr lang="en-US" sz="2175" dirty="0">
                <a:solidFill>
                  <a:srgbClr val="EAF4EF"/>
                </a:solidFill>
                <a:latin typeface="Inter" pitchFamily="34" charset="0"/>
                <a:ea typeface="Inter" pitchFamily="34" charset="-122"/>
                <a:cs typeface="Inter" pitchFamily="34" charset="-120"/>
              </a:rPr>
              <a:t>Against a feature, cleanup always loses. Asked-for, it never ships.</a:t>
            </a:r>
            <a:endParaRPr lang="en-US" sz="2175" dirty="0"/>
          </a:p>
        </p:txBody>
      </p:sp>
      <p:sp>
        <p:nvSpPr>
          <p:cNvPr id="10" name="Shape 8"/>
          <p:cNvSpPr/>
          <p:nvPr/>
        </p:nvSpPr>
        <p:spPr>
          <a:xfrm>
            <a:off x="5022800" y="6483474"/>
            <a:ext cx="3670325" cy="2383929"/>
          </a:xfrm>
          <a:prstGeom prst="roundRect">
            <a:avLst>
              <a:gd name="adj" fmla="val 6393"/>
            </a:avLst>
          </a:prstGeom>
          <a:solidFill>
            <a:srgbClr val="FFFFFF">
              <a:alpha val="10000"/>
            </a:srgbClr>
          </a:solidFill>
          <a:ln w="9525">
            <a:solidFill>
              <a:srgbClr val="9EC5B3">
                <a:alpha val="30000"/>
              </a:srgbClr>
            </a:solidFill>
            <a:prstDash val="solid"/>
          </a:ln>
        </p:spPr>
        <p:txBody>
          <a:bodyPr/>
          <a:lstStyle/>
          <a:p>
            <a:endParaRPr lang="en-US"/>
          </a:p>
        </p:txBody>
      </p:sp>
      <p:sp>
        <p:nvSpPr>
          <p:cNvPr id="11" name="Text 9"/>
          <p:cNvSpPr/>
          <p:nvPr/>
        </p:nvSpPr>
        <p:spPr>
          <a:xfrm>
            <a:off x="5356175" y="6759699"/>
            <a:ext cx="3303932" cy="338138"/>
          </a:xfrm>
          <a:prstGeom prst="rect">
            <a:avLst/>
          </a:prstGeom>
          <a:noFill/>
          <a:ln/>
        </p:spPr>
        <p:txBody>
          <a:bodyPr wrap="square" lIns="25400" tIns="25400" rIns="25400" bIns="25400" rtlCol="0" anchor="t">
            <a:normAutofit/>
          </a:bodyPr>
          <a:lstStyle/>
          <a:p>
            <a:pPr marL="0" indent="0" algn="l">
              <a:buNone/>
            </a:pPr>
            <a:r>
              <a:rPr lang="en-US" sz="1800" dirty="0">
                <a:solidFill>
                  <a:srgbClr val="9EC5B3"/>
                </a:solidFill>
                <a:latin typeface="JetBrains Mono" pitchFamily="34" charset="0"/>
                <a:ea typeface="JetBrains Mono" pitchFamily="34" charset="-122"/>
                <a:cs typeface="JetBrains Mono" pitchFamily="34" charset="-120"/>
              </a:rPr>
              <a:t>The tithe</a:t>
            </a:r>
            <a:endParaRPr lang="en-US" sz="1800" dirty="0"/>
          </a:p>
        </p:txBody>
      </p:sp>
      <p:sp>
        <p:nvSpPr>
          <p:cNvPr id="12" name="Text 10"/>
          <p:cNvSpPr/>
          <p:nvPr/>
        </p:nvSpPr>
        <p:spPr>
          <a:xfrm>
            <a:off x="5356175" y="7154987"/>
            <a:ext cx="3093682" cy="1115244"/>
          </a:xfrm>
          <a:prstGeom prst="rect">
            <a:avLst/>
          </a:prstGeom>
          <a:noFill/>
          <a:ln/>
        </p:spPr>
        <p:txBody>
          <a:bodyPr wrap="square" lIns="25400" tIns="25400" rIns="25400" bIns="25400" rtlCol="0" anchor="t">
            <a:normAutofit/>
          </a:bodyPr>
          <a:lstStyle/>
          <a:p>
            <a:pPr marL="0" indent="0" algn="l">
              <a:lnSpc>
                <a:spcPct val="130000"/>
              </a:lnSpc>
              <a:buNone/>
            </a:pPr>
            <a:r>
              <a:rPr lang="en-US" sz="2175" dirty="0">
                <a:solidFill>
                  <a:srgbClr val="EAF4EF"/>
                </a:solidFill>
                <a:latin typeface="Inter" pitchFamily="34" charset="0"/>
                <a:ea typeface="Inter" pitchFamily="34" charset="-122"/>
                <a:cs typeface="Inter" pitchFamily="34" charset="-120"/>
              </a:rPr>
              <a:t>~15–20% of change effort, agreed once, rides inside the work.</a:t>
            </a:r>
            <a:endParaRPr lang="en-US" sz="2175" dirty="0"/>
          </a:p>
        </p:txBody>
      </p:sp>
      <p:sp>
        <p:nvSpPr>
          <p:cNvPr id="13" name="Shape 11"/>
          <p:cNvSpPr/>
          <p:nvPr/>
        </p:nvSpPr>
        <p:spPr>
          <a:xfrm>
            <a:off x="8902675" y="6483474"/>
            <a:ext cx="3670325" cy="2383929"/>
          </a:xfrm>
          <a:prstGeom prst="roundRect">
            <a:avLst>
              <a:gd name="adj" fmla="val 6393"/>
            </a:avLst>
          </a:prstGeom>
          <a:solidFill>
            <a:srgbClr val="FFFFFF">
              <a:alpha val="10000"/>
            </a:srgbClr>
          </a:solidFill>
          <a:ln w="9525">
            <a:solidFill>
              <a:srgbClr val="9EC5B3">
                <a:alpha val="30000"/>
              </a:srgbClr>
            </a:solidFill>
            <a:prstDash val="solid"/>
          </a:ln>
        </p:spPr>
        <p:txBody>
          <a:bodyPr/>
          <a:lstStyle/>
          <a:p>
            <a:endParaRPr lang="en-US"/>
          </a:p>
        </p:txBody>
      </p:sp>
      <p:sp>
        <p:nvSpPr>
          <p:cNvPr id="14" name="Text 12"/>
          <p:cNvSpPr/>
          <p:nvPr/>
        </p:nvSpPr>
        <p:spPr>
          <a:xfrm>
            <a:off x="9236050" y="6759699"/>
            <a:ext cx="3303932" cy="338138"/>
          </a:xfrm>
          <a:prstGeom prst="rect">
            <a:avLst/>
          </a:prstGeom>
          <a:noFill/>
          <a:ln/>
        </p:spPr>
        <p:txBody>
          <a:bodyPr wrap="square" lIns="25400" tIns="25400" rIns="25400" bIns="25400" rtlCol="0" anchor="t">
            <a:normAutofit/>
          </a:bodyPr>
          <a:lstStyle/>
          <a:p>
            <a:pPr marL="0" indent="0" algn="l">
              <a:buNone/>
            </a:pPr>
            <a:r>
              <a:rPr lang="en-US" sz="1800" dirty="0">
                <a:solidFill>
                  <a:srgbClr val="9EC5B3"/>
                </a:solidFill>
                <a:latin typeface="JetBrains Mono" pitchFamily="34" charset="0"/>
                <a:ea typeface="JetBrains Mono" pitchFamily="34" charset="-122"/>
                <a:cs typeface="JetBrains Mono" pitchFamily="34" charset="-120"/>
              </a:rPr>
              <a:t>The result</a:t>
            </a:r>
            <a:endParaRPr lang="en-US" sz="1800" dirty="0"/>
          </a:p>
        </p:txBody>
      </p:sp>
      <p:sp>
        <p:nvSpPr>
          <p:cNvPr id="15" name="Text 13"/>
          <p:cNvSpPr/>
          <p:nvPr/>
        </p:nvSpPr>
        <p:spPr>
          <a:xfrm>
            <a:off x="9236050" y="7154987"/>
            <a:ext cx="3093682" cy="1474291"/>
          </a:xfrm>
          <a:prstGeom prst="rect">
            <a:avLst/>
          </a:prstGeom>
          <a:noFill/>
          <a:ln/>
        </p:spPr>
        <p:txBody>
          <a:bodyPr wrap="square" lIns="25400" tIns="25400" rIns="25400" bIns="25400" rtlCol="0" anchor="t">
            <a:normAutofit/>
          </a:bodyPr>
          <a:lstStyle/>
          <a:p>
            <a:pPr marL="0" indent="0" algn="l">
              <a:lnSpc>
                <a:spcPct val="130000"/>
              </a:lnSpc>
              <a:buNone/>
            </a:pPr>
            <a:r>
              <a:rPr lang="en-US" sz="2175" dirty="0">
                <a:solidFill>
                  <a:srgbClr val="EAF4EF"/>
                </a:solidFill>
                <a:latin typeface="Inter" pitchFamily="34" charset="0"/>
                <a:ea typeface="Inter" pitchFamily="34" charset="-122"/>
                <a:cs typeface="Inter" pitchFamily="34" charset="-120"/>
              </a:rPr>
              <a:t>The ground stops rotting under the features we keep shipping.</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LOW-HANGING FRUIT FIRST</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2543614" cy="771079"/>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003824"/>
                </a:solidFill>
                <a:latin typeface="Inter" pitchFamily="34" charset="0"/>
                <a:ea typeface="Inter" pitchFamily="34" charset="-122"/>
                <a:cs typeface="Inter" pitchFamily="34" charset="-120"/>
              </a:rPr>
              <a:t>Small wins fund the next round.</a:t>
            </a:r>
            <a:endParaRPr lang="en-US" sz="5550" dirty="0"/>
          </a:p>
        </p:txBody>
      </p:sp>
      <p:sp>
        <p:nvSpPr>
          <p:cNvPr id="5" name="Shape 3"/>
          <p:cNvSpPr/>
          <p:nvPr/>
        </p:nvSpPr>
        <p:spPr>
          <a:xfrm>
            <a:off x="1143000" y="3228529"/>
            <a:ext cx="4772695" cy="3281363"/>
          </a:xfrm>
          <a:prstGeom prst="roundRect">
            <a:avLst>
              <a:gd name="adj" fmla="val 5225"/>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533525" y="3600004"/>
            <a:ext cx="4390809" cy="366713"/>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01</a:t>
            </a:r>
            <a:endParaRPr lang="en-US" sz="1950" dirty="0"/>
          </a:p>
        </p:txBody>
      </p:sp>
      <p:sp>
        <p:nvSpPr>
          <p:cNvPr id="7" name="Text 5"/>
          <p:cNvSpPr/>
          <p:nvPr/>
        </p:nvSpPr>
        <p:spPr>
          <a:xfrm>
            <a:off x="1533525" y="4081016"/>
            <a:ext cx="4390809"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003824"/>
                </a:solidFill>
                <a:latin typeface="Inter" pitchFamily="34" charset="0"/>
                <a:ea typeface="Inter" pitchFamily="34" charset="-122"/>
                <a:cs typeface="Inter" pitchFamily="34" charset="-120"/>
              </a:rPr>
              <a:t>Pick the cheap pain</a:t>
            </a:r>
            <a:endParaRPr lang="en-US" sz="2850" dirty="0"/>
          </a:p>
        </p:txBody>
      </p:sp>
      <p:sp>
        <p:nvSpPr>
          <p:cNvPr id="8" name="Text 6"/>
          <p:cNvSpPr/>
          <p:nvPr/>
        </p:nvSpPr>
        <p:spPr>
          <a:xfrm>
            <a:off x="1533525" y="4652516"/>
            <a:ext cx="4111394" cy="1524000"/>
          </a:xfrm>
          <a:prstGeom prst="rect">
            <a:avLst/>
          </a:prstGeom>
          <a:noFill/>
          <a:ln/>
        </p:spPr>
        <p:txBody>
          <a:bodyPr wrap="square" lIns="25400" tIns="25400" rIns="25400" bIns="25400" rtlCol="0" anchor="t">
            <a:normAutofit/>
          </a:bodyPr>
          <a:lstStyle/>
          <a:p>
            <a:pPr marL="0" indent="0" algn="l">
              <a:lnSpc>
                <a:spcPct val="130000"/>
              </a:lnSpc>
              <a:buNone/>
            </a:pPr>
            <a:r>
              <a:rPr lang="en-US" sz="2250" dirty="0">
                <a:solidFill>
                  <a:srgbClr val="3B4A44"/>
                </a:solidFill>
                <a:latin typeface="Inter" pitchFamily="34" charset="0"/>
                <a:ea typeface="Inter" pitchFamily="34" charset="-122"/>
                <a:cs typeface="Inter" pitchFamily="34" charset="-120"/>
              </a:rPr>
              <a:t>The high-frequency annoyances — flaky deploys, hand-built reports, copy-pasted config.</a:t>
            </a:r>
            <a:endParaRPr lang="en-US" sz="2250" dirty="0"/>
          </a:p>
        </p:txBody>
      </p:sp>
      <p:sp>
        <p:nvSpPr>
          <p:cNvPr id="9" name="Text 7"/>
          <p:cNvSpPr/>
          <p:nvPr/>
        </p:nvSpPr>
        <p:spPr>
          <a:xfrm>
            <a:off x="6106195" y="3228529"/>
            <a:ext cx="546646" cy="3319462"/>
          </a:xfrm>
          <a:prstGeom prst="rect">
            <a:avLst/>
          </a:prstGeom>
          <a:noFill/>
          <a:ln/>
        </p:spPr>
        <p:txBody>
          <a:bodyPr wrap="square" lIns="25400" tIns="25400" rIns="25400" bIns="25400" rtlCol="0" anchor="ctr">
            <a:normAutofit/>
          </a:bodyPr>
          <a:lstStyle/>
          <a:p>
            <a:pPr marL="0" indent="0" algn="l">
              <a:buNone/>
            </a:pPr>
            <a:r>
              <a:rPr lang="en-US" sz="3900" b="1" dirty="0">
                <a:solidFill>
                  <a:srgbClr val="9EC5B3"/>
                </a:solidFill>
                <a:latin typeface="Inter" pitchFamily="34" charset="0"/>
                <a:ea typeface="Inter" pitchFamily="34" charset="-122"/>
                <a:cs typeface="Inter" pitchFamily="34" charset="-120"/>
              </a:rPr>
              <a:t>→</a:t>
            </a:r>
            <a:endParaRPr lang="en-US" sz="3900" dirty="0"/>
          </a:p>
        </p:txBody>
      </p:sp>
      <p:sp>
        <p:nvSpPr>
          <p:cNvPr id="10" name="Shape 8"/>
          <p:cNvSpPr/>
          <p:nvPr/>
        </p:nvSpPr>
        <p:spPr>
          <a:xfrm>
            <a:off x="6767140" y="3228529"/>
            <a:ext cx="4772769" cy="3281363"/>
          </a:xfrm>
          <a:prstGeom prst="roundRect">
            <a:avLst>
              <a:gd name="adj" fmla="val 5225"/>
            </a:avLst>
          </a:prstGeom>
          <a:solidFill>
            <a:srgbClr val="F3F8F5"/>
          </a:solidFill>
          <a:ln w="9525">
            <a:solidFill>
              <a:srgbClr val="E6F1EC"/>
            </a:solidFill>
            <a:prstDash val="solid"/>
          </a:ln>
        </p:spPr>
        <p:txBody>
          <a:bodyPr/>
          <a:lstStyle/>
          <a:p>
            <a:endParaRPr lang="en-US"/>
          </a:p>
        </p:txBody>
      </p:sp>
      <p:sp>
        <p:nvSpPr>
          <p:cNvPr id="11" name="Text 9"/>
          <p:cNvSpPr/>
          <p:nvPr/>
        </p:nvSpPr>
        <p:spPr>
          <a:xfrm>
            <a:off x="7157665" y="3600004"/>
            <a:ext cx="4390891" cy="366713"/>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02</a:t>
            </a:r>
            <a:endParaRPr lang="en-US" sz="1950" dirty="0"/>
          </a:p>
        </p:txBody>
      </p:sp>
      <p:sp>
        <p:nvSpPr>
          <p:cNvPr id="12" name="Text 10"/>
          <p:cNvSpPr/>
          <p:nvPr/>
        </p:nvSpPr>
        <p:spPr>
          <a:xfrm>
            <a:off x="7157665" y="4081016"/>
            <a:ext cx="4390891"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003824"/>
                </a:solidFill>
                <a:latin typeface="Inter" pitchFamily="34" charset="0"/>
                <a:ea typeface="Inter" pitchFamily="34" charset="-122"/>
                <a:cs typeface="Inter" pitchFamily="34" charset="-120"/>
              </a:rPr>
              <a:t>Bank the time</a:t>
            </a:r>
            <a:endParaRPr lang="en-US" sz="2850" dirty="0"/>
          </a:p>
        </p:txBody>
      </p:sp>
      <p:sp>
        <p:nvSpPr>
          <p:cNvPr id="13" name="Text 11"/>
          <p:cNvSpPr/>
          <p:nvPr/>
        </p:nvSpPr>
        <p:spPr>
          <a:xfrm>
            <a:off x="7157665" y="4652516"/>
            <a:ext cx="4111471" cy="1152525"/>
          </a:xfrm>
          <a:prstGeom prst="rect">
            <a:avLst/>
          </a:prstGeom>
          <a:noFill/>
          <a:ln/>
        </p:spPr>
        <p:txBody>
          <a:bodyPr wrap="square" lIns="25400" tIns="25400" rIns="25400" bIns="25400" rtlCol="0" anchor="t">
            <a:normAutofit/>
          </a:bodyPr>
          <a:lstStyle/>
          <a:p>
            <a:pPr marL="0" indent="0" algn="l">
              <a:lnSpc>
                <a:spcPct val="130000"/>
              </a:lnSpc>
              <a:buNone/>
            </a:pPr>
            <a:r>
              <a:rPr lang="en-US" sz="2250" dirty="0">
                <a:solidFill>
                  <a:srgbClr val="3B4A44"/>
                </a:solidFill>
                <a:latin typeface="Inter" pitchFamily="34" charset="0"/>
                <a:ea typeface="Inter" pitchFamily="34" charset="-122"/>
                <a:cs typeface="Inter" pitchFamily="34" charset="-120"/>
              </a:rPr>
              <a:t>Each fix hands hours back immediately — reclaimed, not pocketed.</a:t>
            </a:r>
            <a:endParaRPr lang="en-US" sz="2250" dirty="0"/>
          </a:p>
        </p:txBody>
      </p:sp>
      <p:sp>
        <p:nvSpPr>
          <p:cNvPr id="14" name="Text 12"/>
          <p:cNvSpPr/>
          <p:nvPr/>
        </p:nvSpPr>
        <p:spPr>
          <a:xfrm>
            <a:off x="11730410" y="3228529"/>
            <a:ext cx="546646" cy="3319462"/>
          </a:xfrm>
          <a:prstGeom prst="rect">
            <a:avLst/>
          </a:prstGeom>
          <a:noFill/>
          <a:ln/>
        </p:spPr>
        <p:txBody>
          <a:bodyPr wrap="square" lIns="25400" tIns="25400" rIns="25400" bIns="25400" rtlCol="0" anchor="ctr">
            <a:normAutofit/>
          </a:bodyPr>
          <a:lstStyle/>
          <a:p>
            <a:pPr marL="0" indent="0" algn="l">
              <a:buNone/>
            </a:pPr>
            <a:r>
              <a:rPr lang="en-US" sz="3900" b="1" dirty="0">
                <a:solidFill>
                  <a:srgbClr val="9EC5B3"/>
                </a:solidFill>
                <a:latin typeface="Inter" pitchFamily="34" charset="0"/>
                <a:ea typeface="Inter" pitchFamily="34" charset="-122"/>
                <a:cs typeface="Inter" pitchFamily="34" charset="-120"/>
              </a:rPr>
              <a:t>→</a:t>
            </a:r>
            <a:endParaRPr lang="en-US" sz="3900" dirty="0"/>
          </a:p>
        </p:txBody>
      </p:sp>
      <p:sp>
        <p:nvSpPr>
          <p:cNvPr id="15" name="Shape 13"/>
          <p:cNvSpPr/>
          <p:nvPr/>
        </p:nvSpPr>
        <p:spPr>
          <a:xfrm>
            <a:off x="12391355" y="3228529"/>
            <a:ext cx="4753645" cy="3281363"/>
          </a:xfrm>
          <a:prstGeom prst="roundRect">
            <a:avLst>
              <a:gd name="adj" fmla="val 5225"/>
            </a:avLst>
          </a:prstGeom>
          <a:solidFill>
            <a:srgbClr val="003824"/>
          </a:solidFill>
          <a:ln/>
        </p:spPr>
        <p:txBody>
          <a:bodyPr/>
          <a:lstStyle/>
          <a:p>
            <a:endParaRPr lang="en-US"/>
          </a:p>
        </p:txBody>
      </p:sp>
      <p:sp>
        <p:nvSpPr>
          <p:cNvPr id="16" name="Text 14"/>
          <p:cNvSpPr/>
          <p:nvPr/>
        </p:nvSpPr>
        <p:spPr>
          <a:xfrm>
            <a:off x="12772355" y="3590479"/>
            <a:ext cx="4390809" cy="366713"/>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03</a:t>
            </a:r>
            <a:endParaRPr lang="en-US" sz="1950" dirty="0"/>
          </a:p>
        </p:txBody>
      </p:sp>
      <p:sp>
        <p:nvSpPr>
          <p:cNvPr id="17" name="Text 15"/>
          <p:cNvSpPr/>
          <p:nvPr/>
        </p:nvSpPr>
        <p:spPr>
          <a:xfrm>
            <a:off x="12772355" y="4071491"/>
            <a:ext cx="4390809"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FFFFFF"/>
                </a:solidFill>
                <a:latin typeface="Inter" pitchFamily="34" charset="0"/>
                <a:ea typeface="Inter" pitchFamily="34" charset="-122"/>
                <a:cs typeface="Inter" pitchFamily="34" charset="-120"/>
              </a:rPr>
              <a:t>Spend it on the next</a:t>
            </a:r>
            <a:endParaRPr lang="en-US" sz="2850" dirty="0"/>
          </a:p>
        </p:txBody>
      </p:sp>
      <p:sp>
        <p:nvSpPr>
          <p:cNvPr id="18" name="Text 16"/>
          <p:cNvSpPr/>
          <p:nvPr/>
        </p:nvSpPr>
        <p:spPr>
          <a:xfrm>
            <a:off x="12772355" y="4642991"/>
            <a:ext cx="4111394" cy="1152525"/>
          </a:xfrm>
          <a:prstGeom prst="rect">
            <a:avLst/>
          </a:prstGeom>
          <a:noFill/>
          <a:ln/>
        </p:spPr>
        <p:txBody>
          <a:bodyPr wrap="square" lIns="25400" tIns="25400" rIns="25400" bIns="25400" rtlCol="0" anchor="t">
            <a:normAutofit/>
          </a:bodyPr>
          <a:lstStyle/>
          <a:p>
            <a:pPr marL="0" indent="0" algn="l">
              <a:lnSpc>
                <a:spcPct val="130000"/>
              </a:lnSpc>
              <a:buNone/>
            </a:pPr>
            <a:r>
              <a:rPr lang="en-US" sz="2250" dirty="0">
                <a:solidFill>
                  <a:srgbClr val="CFE2D8"/>
                </a:solidFill>
                <a:latin typeface="Inter" pitchFamily="34" charset="0"/>
                <a:ea typeface="Inter" pitchFamily="34" charset="-122"/>
                <a:cs typeface="Inter" pitchFamily="34" charset="-120"/>
              </a:rPr>
              <a:t>Fuel a slightly bigger fix. The flywheel accelerates instead of stalling.</a:t>
            </a:r>
            <a:endParaRPr lang="en-US" sz="2250" dirty="0"/>
          </a:p>
        </p:txBody>
      </p:sp>
      <p:sp>
        <p:nvSpPr>
          <p:cNvPr id="19" name="Shape 17"/>
          <p:cNvSpPr/>
          <p:nvPr/>
        </p:nvSpPr>
        <p:spPr>
          <a:xfrm>
            <a:off x="1143000" y="6890891"/>
            <a:ext cx="16002000" cy="1472059"/>
          </a:xfrm>
          <a:prstGeom prst="roundRect">
            <a:avLst>
              <a:gd name="adj" fmla="val 10353"/>
            </a:avLst>
          </a:prstGeom>
          <a:solidFill>
            <a:srgbClr val="FBF3EA"/>
          </a:solidFill>
          <a:ln w="9525">
            <a:solidFill>
              <a:srgbClr val="EFDCC6"/>
            </a:solidFill>
            <a:prstDash val="solid"/>
          </a:ln>
        </p:spPr>
        <p:txBody>
          <a:bodyPr/>
          <a:lstStyle/>
          <a:p>
            <a:endParaRPr lang="en-US"/>
          </a:p>
        </p:txBody>
      </p:sp>
      <p:sp>
        <p:nvSpPr>
          <p:cNvPr id="20" name="Text 18"/>
          <p:cNvSpPr/>
          <p:nvPr/>
        </p:nvSpPr>
        <p:spPr>
          <a:xfrm>
            <a:off x="1514475" y="7167116"/>
            <a:ext cx="15739110" cy="957709"/>
          </a:xfrm>
          <a:prstGeom prst="rect">
            <a:avLst/>
          </a:prstGeom>
          <a:noFill/>
          <a:ln/>
        </p:spPr>
        <p:txBody>
          <a:bodyPr wrap="square" lIns="25400" tIns="25400" rIns="25400" bIns="25400" rtlCol="0" anchor="t">
            <a:normAutofit/>
          </a:bodyPr>
          <a:lstStyle/>
          <a:p>
            <a:pPr marL="0" indent="0" algn="l">
              <a:lnSpc>
                <a:spcPct val="142000"/>
              </a:lnSpc>
              <a:buNone/>
            </a:pPr>
            <a:r>
              <a:rPr lang="en-US" sz="1800" dirty="0">
                <a:solidFill>
                  <a:srgbClr val="B5651D"/>
                </a:solidFill>
                <a:highlight>
                  <a:srgbClr val="F4E2CF"/>
                </a:highlight>
                <a:latin typeface="JetBrains Mono" pitchFamily="34" charset="0"/>
                <a:ea typeface="JetBrains Mono" pitchFamily="34" charset="-122"/>
                <a:cs typeface="JetBrains Mono" pitchFamily="34" charset="-120"/>
              </a:rPr>
              <a:t>Right-size it </a:t>
            </a:r>
            <a:r>
              <a:rPr lang="en-US" sz="2550" dirty="0">
                <a:solidFill>
                  <a:srgbClr val="14201B"/>
                </a:solidFill>
                <a:highlight>
                  <a:srgbClr val="FBF3EA"/>
                </a:highlight>
                <a:latin typeface="Inter" pitchFamily="34" charset="0"/>
                <a:ea typeface="Inter" pitchFamily="34" charset="-122"/>
                <a:cs typeface="Inter" pitchFamily="34" charset="-120"/>
              </a:rPr>
              <a:t>Some are genuinely a </a:t>
            </a:r>
            <a:r>
              <a:rPr lang="en-US" sz="2550" b="1" dirty="0">
                <a:solidFill>
                  <a:srgbClr val="003824"/>
                </a:solidFill>
                <a:latin typeface="Inter" pitchFamily="34" charset="0"/>
                <a:ea typeface="Inter" pitchFamily="34" charset="-122"/>
                <a:cs typeface="Inter" pitchFamily="34" charset="-120"/>
              </a:rPr>
              <a:t>one-day fix</a:t>
            </a:r>
            <a:r>
              <a:rPr lang="en-US" sz="2550" dirty="0">
                <a:solidFill>
                  <a:srgbClr val="14201B"/>
                </a:solidFill>
                <a:highlight>
                  <a:srgbClr val="FBF3EA"/>
                </a:highlight>
                <a:latin typeface="Inter" pitchFamily="34" charset="0"/>
                <a:ea typeface="Inter" pitchFamily="34" charset="-122"/>
                <a:cs typeface="Inter" pitchFamily="34" charset="-120"/>
              </a:rPr>
              <a:t>; bigger moves like </a:t>
            </a:r>
            <a:r>
              <a:rPr lang="en-US" sz="2550" b="1" dirty="0">
                <a:solidFill>
                  <a:srgbClr val="003824"/>
                </a:solidFill>
                <a:latin typeface="Inter" pitchFamily="34" charset="0"/>
                <a:ea typeface="Inter" pitchFamily="34" charset="-122"/>
                <a:cs typeface="Inter" pitchFamily="34" charset="-120"/>
              </a:rPr>
              <a:t>migrating CI </a:t>
            </a:r>
            <a:r>
              <a:rPr lang="en-US" sz="2550" dirty="0">
                <a:solidFill>
                  <a:srgbClr val="14201B"/>
                </a:solidFill>
                <a:highlight>
                  <a:srgbClr val="FBF3EA"/>
                </a:highlight>
                <a:latin typeface="Inter" pitchFamily="34" charset="0"/>
                <a:ea typeface="Inter" pitchFamily="34" charset="-122"/>
                <a:cs typeface="Inter" pitchFamily="34" charset="-120"/>
              </a:rPr>
              <a:t>are a proper project — start with the quick ones and let them help fund the rest.</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THE PAVED ROAD</a:t>
            </a:r>
            <a:endParaRPr lang="en-US" sz="2100" dirty="0"/>
          </a:p>
        </p:txBody>
      </p:sp>
      <p:sp>
        <p:nvSpPr>
          <p:cNvPr id="3" name="Shape 1"/>
          <p:cNvSpPr/>
          <p:nvPr/>
        </p:nvSpPr>
        <p:spPr>
          <a:xfrm>
            <a:off x="952500" y="140017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952500" y="1771650"/>
            <a:ext cx="10876791" cy="724793"/>
          </a:xfrm>
          <a:prstGeom prst="rect">
            <a:avLst/>
          </a:prstGeom>
          <a:noFill/>
          <a:ln/>
        </p:spPr>
        <p:txBody>
          <a:bodyPr wrap="square" lIns="25400" tIns="25400" rIns="25400" bIns="25400" rtlCol="0" anchor="t">
            <a:normAutofit/>
          </a:bodyPr>
          <a:lstStyle/>
          <a:p>
            <a:pPr marL="0" indent="0" algn="l">
              <a:lnSpc>
                <a:spcPct val="103000"/>
              </a:lnSpc>
              <a:buNone/>
            </a:pPr>
            <a:r>
              <a:rPr lang="en-US" sz="5250" b="1" kern="0" spc="-105" dirty="0">
                <a:solidFill>
                  <a:srgbClr val="003824"/>
                </a:solidFill>
                <a:latin typeface="Inter" pitchFamily="34" charset="0"/>
                <a:ea typeface="Inter" pitchFamily="34" charset="-122"/>
                <a:cs typeface="Inter" pitchFamily="34" charset="-120"/>
              </a:rPr>
              <a:t>One way to build and ship.</a:t>
            </a:r>
            <a:endParaRPr lang="en-US" sz="5250" dirty="0"/>
          </a:p>
        </p:txBody>
      </p:sp>
      <p:sp>
        <p:nvSpPr>
          <p:cNvPr id="5" name="Shape 3"/>
          <p:cNvSpPr/>
          <p:nvPr/>
        </p:nvSpPr>
        <p:spPr>
          <a:xfrm>
            <a:off x="952500" y="2877443"/>
            <a:ext cx="8077200" cy="3161854"/>
          </a:xfrm>
          <a:prstGeom prst="roundRect">
            <a:avLst>
              <a:gd name="adj" fmla="val 6025"/>
            </a:avLst>
          </a:prstGeom>
          <a:solidFill>
            <a:srgbClr val="003824"/>
          </a:solidFill>
          <a:ln/>
        </p:spPr>
        <p:txBody>
          <a:bodyPr/>
          <a:lstStyle/>
          <a:p>
            <a:endParaRPr lang="en-US"/>
          </a:p>
        </p:txBody>
      </p:sp>
      <p:sp>
        <p:nvSpPr>
          <p:cNvPr id="6" name="Text 4"/>
          <p:cNvSpPr/>
          <p:nvPr/>
        </p:nvSpPr>
        <p:spPr>
          <a:xfrm>
            <a:off x="1352550" y="3251299"/>
            <a:ext cx="1196355"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9EC5B3"/>
                </a:solidFill>
                <a:latin typeface="JetBrains Mono" pitchFamily="34" charset="0"/>
                <a:ea typeface="JetBrains Mono" pitchFamily="34" charset="-122"/>
                <a:cs typeface="JetBrains Mono" pitchFamily="34" charset="-120"/>
              </a:rPr>
              <a:t>Harness</a:t>
            </a:r>
            <a:endParaRPr lang="en-US" sz="2100" dirty="0"/>
          </a:p>
        </p:txBody>
      </p:sp>
      <p:sp>
        <p:nvSpPr>
          <p:cNvPr id="7" name="Shape 5"/>
          <p:cNvSpPr/>
          <p:nvPr/>
        </p:nvSpPr>
        <p:spPr>
          <a:xfrm>
            <a:off x="6966942" y="3220343"/>
            <a:ext cx="1662708" cy="414338"/>
          </a:xfrm>
          <a:prstGeom prst="roundRect">
            <a:avLst>
              <a:gd name="adj" fmla="val 50000"/>
            </a:avLst>
          </a:prstGeom>
          <a:solidFill>
            <a:srgbClr val="9EC5B3"/>
          </a:solidFill>
          <a:ln/>
        </p:spPr>
        <p:txBody>
          <a:bodyPr/>
          <a:lstStyle/>
          <a:p>
            <a:endParaRPr lang="en-US"/>
          </a:p>
        </p:txBody>
      </p:sp>
      <p:sp>
        <p:nvSpPr>
          <p:cNvPr id="8" name="Text 6"/>
          <p:cNvSpPr/>
          <p:nvPr/>
        </p:nvSpPr>
        <p:spPr>
          <a:xfrm>
            <a:off x="7119342" y="3277493"/>
            <a:ext cx="1434108" cy="338138"/>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003824"/>
                </a:solidFill>
                <a:latin typeface="JetBrains Mono" pitchFamily="34" charset="0"/>
                <a:ea typeface="JetBrains Mono" pitchFamily="34" charset="-122"/>
                <a:cs typeface="JetBrains Mono" pitchFamily="34" charset="-120"/>
              </a:rPr>
              <a:t>ALL TEAMS</a:t>
            </a:r>
            <a:endParaRPr lang="en-US" sz="1800" dirty="0"/>
          </a:p>
        </p:txBody>
      </p:sp>
      <p:sp>
        <p:nvSpPr>
          <p:cNvPr id="9" name="Text 7"/>
          <p:cNvSpPr/>
          <p:nvPr/>
        </p:nvSpPr>
        <p:spPr>
          <a:xfrm>
            <a:off x="1352550" y="3787080"/>
            <a:ext cx="8004810" cy="421704"/>
          </a:xfrm>
          <a:prstGeom prst="rect">
            <a:avLst/>
          </a:prstGeom>
          <a:noFill/>
          <a:ln/>
        </p:spPr>
        <p:txBody>
          <a:bodyPr wrap="square" lIns="25400" tIns="25400" rIns="25400" bIns="25400" rtlCol="0" anchor="t">
            <a:normAutofit/>
          </a:bodyPr>
          <a:lstStyle/>
          <a:p>
            <a:pPr marL="0" indent="0" algn="l">
              <a:lnSpc>
                <a:spcPct val="106000"/>
              </a:lnSpc>
              <a:buNone/>
            </a:pPr>
            <a:r>
              <a:rPr lang="en-US" sz="2850" b="1" dirty="0">
                <a:solidFill>
                  <a:srgbClr val="FFFFFF"/>
                </a:solidFill>
                <a:latin typeface="Inter" pitchFamily="34" charset="0"/>
                <a:ea typeface="Inter" pitchFamily="34" charset="-122"/>
                <a:cs typeface="Inter" pitchFamily="34" charset="-120"/>
              </a:rPr>
              <a:t>Standard CI</a:t>
            </a:r>
            <a:endParaRPr lang="en-US" sz="2850" dirty="0"/>
          </a:p>
        </p:txBody>
      </p:sp>
      <p:sp>
        <p:nvSpPr>
          <p:cNvPr id="10" name="Text 8"/>
          <p:cNvSpPr/>
          <p:nvPr/>
        </p:nvSpPr>
        <p:spPr>
          <a:xfrm>
            <a:off x="1352550" y="4304035"/>
            <a:ext cx="7495413" cy="767209"/>
          </a:xfrm>
          <a:prstGeom prst="rect">
            <a:avLst/>
          </a:prstGeom>
          <a:noFill/>
          <a:ln/>
        </p:spPr>
        <p:txBody>
          <a:bodyPr wrap="square" lIns="25400" tIns="25400" rIns="25400" bIns="25400" rtlCol="0" anchor="t">
            <a:normAutofit/>
          </a:bodyPr>
          <a:lstStyle/>
          <a:p>
            <a:pPr marL="0" indent="0" algn="l">
              <a:lnSpc>
                <a:spcPct val="132000"/>
              </a:lnSpc>
              <a:buNone/>
            </a:pPr>
            <a:r>
              <a:rPr lang="en-US" sz="2175" dirty="0">
                <a:solidFill>
                  <a:srgbClr val="CFE2D8"/>
                </a:solidFill>
                <a:latin typeface="Inter" pitchFamily="34" charset="0"/>
                <a:ea typeface="Inter" pitchFamily="34" charset="-122"/>
                <a:cs typeface="Inter" pitchFamily="34" charset="-120"/>
              </a:rPr>
              <a:t>Every pipeline defined and run the same way — no bespoke build scripts per team.</a:t>
            </a:r>
            <a:endParaRPr lang="en-US" sz="2175" dirty="0"/>
          </a:p>
        </p:txBody>
      </p:sp>
      <p:sp>
        <p:nvSpPr>
          <p:cNvPr id="11" name="Shape 9"/>
          <p:cNvSpPr/>
          <p:nvPr/>
        </p:nvSpPr>
        <p:spPr>
          <a:xfrm>
            <a:off x="9258300" y="2877443"/>
            <a:ext cx="8077200" cy="3161854"/>
          </a:xfrm>
          <a:prstGeom prst="roundRect">
            <a:avLst>
              <a:gd name="adj" fmla="val 6025"/>
            </a:avLst>
          </a:prstGeom>
          <a:solidFill>
            <a:srgbClr val="003824"/>
          </a:solidFill>
          <a:ln/>
        </p:spPr>
        <p:txBody>
          <a:bodyPr/>
          <a:lstStyle/>
          <a:p>
            <a:endParaRPr lang="en-US"/>
          </a:p>
        </p:txBody>
      </p:sp>
      <p:sp>
        <p:nvSpPr>
          <p:cNvPr id="12" name="Text 10"/>
          <p:cNvSpPr/>
          <p:nvPr/>
        </p:nvSpPr>
        <p:spPr>
          <a:xfrm>
            <a:off x="9658350" y="3251299"/>
            <a:ext cx="55632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9EC5B3"/>
                </a:solidFill>
                <a:latin typeface="JetBrains Mono" pitchFamily="34" charset="0"/>
                <a:ea typeface="JetBrains Mono" pitchFamily="34" charset="-122"/>
                <a:cs typeface="JetBrains Mono" pitchFamily="34" charset="-120"/>
              </a:rPr>
              <a:t>SAR</a:t>
            </a:r>
            <a:endParaRPr lang="en-US" sz="2100" dirty="0"/>
          </a:p>
        </p:txBody>
      </p:sp>
      <p:sp>
        <p:nvSpPr>
          <p:cNvPr id="13" name="Shape 11"/>
          <p:cNvSpPr/>
          <p:nvPr/>
        </p:nvSpPr>
        <p:spPr>
          <a:xfrm>
            <a:off x="15272742" y="3220343"/>
            <a:ext cx="1662708" cy="414338"/>
          </a:xfrm>
          <a:prstGeom prst="roundRect">
            <a:avLst>
              <a:gd name="adj" fmla="val 50000"/>
            </a:avLst>
          </a:prstGeom>
          <a:solidFill>
            <a:srgbClr val="9EC5B3"/>
          </a:solidFill>
          <a:ln/>
        </p:spPr>
        <p:txBody>
          <a:bodyPr/>
          <a:lstStyle/>
          <a:p>
            <a:endParaRPr lang="en-US"/>
          </a:p>
        </p:txBody>
      </p:sp>
      <p:sp>
        <p:nvSpPr>
          <p:cNvPr id="14" name="Text 12"/>
          <p:cNvSpPr/>
          <p:nvPr/>
        </p:nvSpPr>
        <p:spPr>
          <a:xfrm>
            <a:off x="15425142" y="3277493"/>
            <a:ext cx="1434108" cy="338138"/>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003824"/>
                </a:solidFill>
                <a:latin typeface="JetBrains Mono" pitchFamily="34" charset="0"/>
                <a:ea typeface="JetBrains Mono" pitchFamily="34" charset="-122"/>
                <a:cs typeface="JetBrains Mono" pitchFamily="34" charset="-120"/>
              </a:rPr>
              <a:t>ALL TEAMS</a:t>
            </a:r>
            <a:endParaRPr lang="en-US" sz="1800" dirty="0"/>
          </a:p>
        </p:txBody>
      </p:sp>
      <p:sp>
        <p:nvSpPr>
          <p:cNvPr id="15" name="Text 13"/>
          <p:cNvSpPr/>
          <p:nvPr/>
        </p:nvSpPr>
        <p:spPr>
          <a:xfrm>
            <a:off x="9658350" y="3787080"/>
            <a:ext cx="8004810" cy="421704"/>
          </a:xfrm>
          <a:prstGeom prst="rect">
            <a:avLst/>
          </a:prstGeom>
          <a:noFill/>
          <a:ln/>
        </p:spPr>
        <p:txBody>
          <a:bodyPr wrap="square" lIns="25400" tIns="25400" rIns="25400" bIns="25400" rtlCol="0" anchor="t">
            <a:normAutofit/>
          </a:bodyPr>
          <a:lstStyle/>
          <a:p>
            <a:pPr marL="0" indent="0" algn="l">
              <a:lnSpc>
                <a:spcPct val="106000"/>
              </a:lnSpc>
              <a:buNone/>
            </a:pPr>
            <a:r>
              <a:rPr lang="en-US" sz="2850" b="1" dirty="0">
                <a:solidFill>
                  <a:srgbClr val="FFFFFF"/>
                </a:solidFill>
                <a:latin typeface="Inter" pitchFamily="34" charset="0"/>
                <a:ea typeface="Inter" pitchFamily="34" charset="-122"/>
                <a:cs typeface="Inter" pitchFamily="34" charset="-120"/>
              </a:rPr>
              <a:t>Single artefact repository</a:t>
            </a:r>
            <a:endParaRPr lang="en-US" sz="2850" dirty="0"/>
          </a:p>
        </p:txBody>
      </p:sp>
      <p:sp>
        <p:nvSpPr>
          <p:cNvPr id="16" name="Text 14"/>
          <p:cNvSpPr/>
          <p:nvPr/>
        </p:nvSpPr>
        <p:spPr>
          <a:xfrm>
            <a:off x="9658350" y="4304035"/>
            <a:ext cx="7495413" cy="767209"/>
          </a:xfrm>
          <a:prstGeom prst="rect">
            <a:avLst/>
          </a:prstGeom>
          <a:noFill/>
          <a:ln/>
        </p:spPr>
        <p:txBody>
          <a:bodyPr wrap="square" lIns="25400" tIns="25400" rIns="25400" bIns="25400" rtlCol="0" anchor="t">
            <a:normAutofit/>
          </a:bodyPr>
          <a:lstStyle/>
          <a:p>
            <a:pPr marL="0" indent="0" algn="l">
              <a:lnSpc>
                <a:spcPct val="132000"/>
              </a:lnSpc>
              <a:buNone/>
            </a:pPr>
            <a:r>
              <a:rPr lang="en-US" sz="2175" dirty="0">
                <a:solidFill>
                  <a:srgbClr val="CFE2D8"/>
                </a:solidFill>
                <a:latin typeface="Inter" pitchFamily="34" charset="0"/>
                <a:ea typeface="Inter" pitchFamily="34" charset="-122"/>
                <a:cs typeface="Inter" pitchFamily="34" charset="-120"/>
              </a:rPr>
              <a:t>One place every build publishes to and pulls from — the same versioned artefacts, across every team.</a:t>
            </a:r>
            <a:endParaRPr lang="en-US" sz="2175" dirty="0"/>
          </a:p>
        </p:txBody>
      </p:sp>
      <p:sp>
        <p:nvSpPr>
          <p:cNvPr id="17" name="Shape 15"/>
          <p:cNvSpPr/>
          <p:nvPr/>
        </p:nvSpPr>
        <p:spPr>
          <a:xfrm>
            <a:off x="952500" y="6267896"/>
            <a:ext cx="8077200" cy="3161854"/>
          </a:xfrm>
          <a:prstGeom prst="roundRect">
            <a:avLst>
              <a:gd name="adj" fmla="val 6025"/>
            </a:avLst>
          </a:prstGeom>
          <a:solidFill>
            <a:srgbClr val="F3F8F5"/>
          </a:solidFill>
          <a:ln w="9525">
            <a:solidFill>
              <a:srgbClr val="E6F1EC"/>
            </a:solidFill>
            <a:prstDash val="solid"/>
          </a:ln>
        </p:spPr>
        <p:txBody>
          <a:bodyPr/>
          <a:lstStyle/>
          <a:p>
            <a:endParaRPr lang="en-US"/>
          </a:p>
        </p:txBody>
      </p:sp>
      <p:sp>
        <p:nvSpPr>
          <p:cNvPr id="18" name="Text 16"/>
          <p:cNvSpPr/>
          <p:nvPr/>
        </p:nvSpPr>
        <p:spPr>
          <a:xfrm>
            <a:off x="1362075" y="6651278"/>
            <a:ext cx="264033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JetBrains Mono" pitchFamily="34" charset="0"/>
                <a:ea typeface="JetBrains Mono" pitchFamily="34" charset="-122"/>
                <a:cs typeface="JetBrains Mono" pitchFamily="34" charset="-120"/>
              </a:rPr>
              <a:t>IDP (Backstage)</a:t>
            </a:r>
            <a:endParaRPr lang="en-US" sz="2100" dirty="0"/>
          </a:p>
        </p:txBody>
      </p:sp>
      <p:sp>
        <p:nvSpPr>
          <p:cNvPr id="19" name="Shape 17"/>
          <p:cNvSpPr/>
          <p:nvPr/>
        </p:nvSpPr>
        <p:spPr>
          <a:xfrm>
            <a:off x="5599509" y="6620321"/>
            <a:ext cx="3020616" cy="414338"/>
          </a:xfrm>
          <a:prstGeom prst="roundRect">
            <a:avLst>
              <a:gd name="adj" fmla="val 50000"/>
            </a:avLst>
          </a:prstGeom>
          <a:solidFill>
            <a:srgbClr val="E6F1EC"/>
          </a:solidFill>
          <a:ln/>
        </p:spPr>
        <p:txBody>
          <a:bodyPr/>
          <a:lstStyle/>
          <a:p>
            <a:endParaRPr lang="en-US"/>
          </a:p>
        </p:txBody>
      </p:sp>
      <p:sp>
        <p:nvSpPr>
          <p:cNvPr id="20" name="Text 18"/>
          <p:cNvSpPr/>
          <p:nvPr/>
        </p:nvSpPr>
        <p:spPr>
          <a:xfrm>
            <a:off x="5751909" y="6677471"/>
            <a:ext cx="2806434" cy="338138"/>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006A4D"/>
                </a:solidFill>
                <a:latin typeface="JetBrains Mono" pitchFamily="34" charset="0"/>
                <a:ea typeface="JetBrains Mono" pitchFamily="34" charset="-122"/>
                <a:cs typeface="JetBrains Mono" pitchFamily="34" charset="-120"/>
              </a:rPr>
              <a:t>PUBLIC-CLOUD TEAMS</a:t>
            </a:r>
            <a:endParaRPr lang="en-US" sz="1800" dirty="0"/>
          </a:p>
        </p:txBody>
      </p:sp>
      <p:sp>
        <p:nvSpPr>
          <p:cNvPr id="21" name="Text 19"/>
          <p:cNvSpPr/>
          <p:nvPr/>
        </p:nvSpPr>
        <p:spPr>
          <a:xfrm>
            <a:off x="1362075" y="7187059"/>
            <a:ext cx="7983855" cy="421704"/>
          </a:xfrm>
          <a:prstGeom prst="rect">
            <a:avLst/>
          </a:prstGeom>
          <a:noFill/>
          <a:ln/>
        </p:spPr>
        <p:txBody>
          <a:bodyPr wrap="square" lIns="25400" tIns="25400" rIns="25400" bIns="25400" rtlCol="0" anchor="t">
            <a:normAutofit/>
          </a:bodyPr>
          <a:lstStyle/>
          <a:p>
            <a:pPr marL="0" indent="0" algn="l">
              <a:lnSpc>
                <a:spcPct val="106000"/>
              </a:lnSpc>
              <a:buNone/>
            </a:pPr>
            <a:r>
              <a:rPr lang="en-US" sz="2850" b="1" dirty="0">
                <a:solidFill>
                  <a:srgbClr val="003824"/>
                </a:solidFill>
                <a:latin typeface="Inter" pitchFamily="34" charset="0"/>
                <a:ea typeface="Inter" pitchFamily="34" charset="-122"/>
                <a:cs typeface="Inter" pitchFamily="34" charset="-120"/>
              </a:rPr>
              <a:t>One catalogue</a:t>
            </a:r>
            <a:endParaRPr lang="en-US" sz="2850" dirty="0"/>
          </a:p>
        </p:txBody>
      </p:sp>
      <p:sp>
        <p:nvSpPr>
          <p:cNvPr id="22" name="Text 20"/>
          <p:cNvSpPr/>
          <p:nvPr/>
        </p:nvSpPr>
        <p:spPr>
          <a:xfrm>
            <a:off x="1362075" y="7704013"/>
            <a:ext cx="7475792" cy="767209"/>
          </a:xfrm>
          <a:prstGeom prst="rect">
            <a:avLst/>
          </a:prstGeom>
          <a:noFill/>
          <a:ln/>
        </p:spPr>
        <p:txBody>
          <a:bodyPr wrap="square" lIns="25400" tIns="25400" rIns="25400" bIns="25400" rtlCol="0" anchor="t">
            <a:normAutofit/>
          </a:bodyPr>
          <a:lstStyle/>
          <a:p>
            <a:pPr marL="0" indent="0" algn="l">
              <a:lnSpc>
                <a:spcPct val="132000"/>
              </a:lnSpc>
              <a:buNone/>
            </a:pPr>
            <a:r>
              <a:rPr lang="en-US" sz="2175" dirty="0">
                <a:solidFill>
                  <a:srgbClr val="3B4A44"/>
                </a:solidFill>
                <a:latin typeface="Inter" pitchFamily="34" charset="0"/>
                <a:ea typeface="Inter" pitchFamily="34" charset="-122"/>
                <a:cs typeface="Inter" pitchFamily="34" charset="-120"/>
              </a:rPr>
              <a:t>Every service, its docs, owner and health in one portal. Cross-team work stops being archaeology.</a:t>
            </a:r>
            <a:endParaRPr lang="en-US" sz="2175" dirty="0"/>
          </a:p>
        </p:txBody>
      </p:sp>
      <p:sp>
        <p:nvSpPr>
          <p:cNvPr id="23" name="Shape 21"/>
          <p:cNvSpPr/>
          <p:nvPr/>
        </p:nvSpPr>
        <p:spPr>
          <a:xfrm>
            <a:off x="9258300" y="6267896"/>
            <a:ext cx="8077200" cy="3161854"/>
          </a:xfrm>
          <a:prstGeom prst="roundRect">
            <a:avLst>
              <a:gd name="adj" fmla="val 6025"/>
            </a:avLst>
          </a:prstGeom>
          <a:solidFill>
            <a:srgbClr val="F3F8F5"/>
          </a:solidFill>
          <a:ln w="9525">
            <a:solidFill>
              <a:srgbClr val="E6F1EC"/>
            </a:solidFill>
            <a:prstDash val="solid"/>
          </a:ln>
        </p:spPr>
        <p:txBody>
          <a:bodyPr/>
          <a:lstStyle/>
          <a:p>
            <a:endParaRPr lang="en-US"/>
          </a:p>
        </p:txBody>
      </p:sp>
      <p:sp>
        <p:nvSpPr>
          <p:cNvPr id="24" name="Text 22"/>
          <p:cNvSpPr/>
          <p:nvPr/>
        </p:nvSpPr>
        <p:spPr>
          <a:xfrm>
            <a:off x="9667875" y="6651278"/>
            <a:ext cx="1584231"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JetBrains Mono" pitchFamily="34" charset="0"/>
                <a:ea typeface="JetBrains Mono" pitchFamily="34" charset="-122"/>
                <a:cs typeface="JetBrains Mono" pitchFamily="34" charset="-120"/>
              </a:rPr>
              <a:t>Terraform</a:t>
            </a:r>
            <a:endParaRPr lang="en-US" sz="2100" dirty="0"/>
          </a:p>
        </p:txBody>
      </p:sp>
      <p:sp>
        <p:nvSpPr>
          <p:cNvPr id="25" name="Shape 23"/>
          <p:cNvSpPr/>
          <p:nvPr/>
        </p:nvSpPr>
        <p:spPr>
          <a:xfrm>
            <a:off x="13905309" y="6620321"/>
            <a:ext cx="3020616" cy="414338"/>
          </a:xfrm>
          <a:prstGeom prst="roundRect">
            <a:avLst>
              <a:gd name="adj" fmla="val 50000"/>
            </a:avLst>
          </a:prstGeom>
          <a:solidFill>
            <a:srgbClr val="E6F1EC"/>
          </a:solidFill>
          <a:ln/>
        </p:spPr>
        <p:txBody>
          <a:bodyPr/>
          <a:lstStyle/>
          <a:p>
            <a:endParaRPr lang="en-US"/>
          </a:p>
        </p:txBody>
      </p:sp>
      <p:sp>
        <p:nvSpPr>
          <p:cNvPr id="26" name="Text 24"/>
          <p:cNvSpPr/>
          <p:nvPr/>
        </p:nvSpPr>
        <p:spPr>
          <a:xfrm>
            <a:off x="14057709" y="6677471"/>
            <a:ext cx="2806434" cy="338138"/>
          </a:xfrm>
          <a:prstGeom prst="rect">
            <a:avLst/>
          </a:prstGeom>
          <a:noFill/>
          <a:ln/>
        </p:spPr>
        <p:txBody>
          <a:bodyPr wrap="none" lIns="25400" tIns="25400" rIns="25400" bIns="25400" rtlCol="0" anchor="t">
            <a:normAutofit/>
          </a:bodyPr>
          <a:lstStyle/>
          <a:p>
            <a:pPr marL="0" indent="0" algn="l">
              <a:buNone/>
            </a:pPr>
            <a:r>
              <a:rPr lang="en-US" sz="1800" kern="0" spc="108" dirty="0">
                <a:solidFill>
                  <a:srgbClr val="006A4D"/>
                </a:solidFill>
                <a:latin typeface="JetBrains Mono" pitchFamily="34" charset="0"/>
                <a:ea typeface="JetBrains Mono" pitchFamily="34" charset="-122"/>
                <a:cs typeface="JetBrains Mono" pitchFamily="34" charset="-120"/>
              </a:rPr>
              <a:t>PUBLIC-CLOUD TEAMS</a:t>
            </a:r>
            <a:endParaRPr lang="en-US" sz="1800" dirty="0"/>
          </a:p>
        </p:txBody>
      </p:sp>
      <p:sp>
        <p:nvSpPr>
          <p:cNvPr id="27" name="Text 25"/>
          <p:cNvSpPr/>
          <p:nvPr/>
        </p:nvSpPr>
        <p:spPr>
          <a:xfrm>
            <a:off x="9667875" y="7187059"/>
            <a:ext cx="7983855" cy="421704"/>
          </a:xfrm>
          <a:prstGeom prst="rect">
            <a:avLst/>
          </a:prstGeom>
          <a:noFill/>
          <a:ln/>
        </p:spPr>
        <p:txBody>
          <a:bodyPr wrap="square" lIns="25400" tIns="25400" rIns="25400" bIns="25400" rtlCol="0" anchor="t">
            <a:normAutofit/>
          </a:bodyPr>
          <a:lstStyle/>
          <a:p>
            <a:pPr marL="0" indent="0" algn="l">
              <a:lnSpc>
                <a:spcPct val="106000"/>
              </a:lnSpc>
              <a:buNone/>
            </a:pPr>
            <a:r>
              <a:rPr lang="en-US" sz="2850" b="1" dirty="0">
                <a:solidFill>
                  <a:srgbClr val="003824"/>
                </a:solidFill>
                <a:latin typeface="Inter" pitchFamily="34" charset="0"/>
                <a:ea typeface="Inter" pitchFamily="34" charset="-122"/>
                <a:cs typeface="Inter" pitchFamily="34" charset="-120"/>
              </a:rPr>
              <a:t>Infra as code</a:t>
            </a:r>
            <a:endParaRPr lang="en-US" sz="2850" dirty="0"/>
          </a:p>
        </p:txBody>
      </p:sp>
      <p:sp>
        <p:nvSpPr>
          <p:cNvPr id="28" name="Text 26"/>
          <p:cNvSpPr/>
          <p:nvPr/>
        </p:nvSpPr>
        <p:spPr>
          <a:xfrm>
            <a:off x="9667875" y="7704013"/>
            <a:ext cx="7475792" cy="767209"/>
          </a:xfrm>
          <a:prstGeom prst="rect">
            <a:avLst/>
          </a:prstGeom>
          <a:noFill/>
          <a:ln/>
        </p:spPr>
        <p:txBody>
          <a:bodyPr wrap="square" lIns="25400" tIns="25400" rIns="25400" bIns="25400" rtlCol="0" anchor="t">
            <a:normAutofit/>
          </a:bodyPr>
          <a:lstStyle/>
          <a:p>
            <a:pPr marL="0" indent="0" algn="l">
              <a:lnSpc>
                <a:spcPct val="132000"/>
              </a:lnSpc>
              <a:buNone/>
            </a:pPr>
            <a:r>
              <a:rPr lang="en-US" sz="2175" dirty="0">
                <a:solidFill>
                  <a:srgbClr val="3B4A44"/>
                </a:solidFill>
                <a:latin typeface="Inter" pitchFamily="34" charset="0"/>
                <a:ea typeface="Inter" pitchFamily="34" charset="-122"/>
                <a:cs typeface="Inter" pitchFamily="34" charset="-120"/>
              </a:rPr>
              <a:t>All cloud provisioning reviewed and repeatable. No click-ops, no snowflake environments.</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COPILOT EVERYWHERE · SUPERPOWERS ON TOP</a:t>
            </a:r>
            <a:endParaRPr lang="en-US" sz="2100" dirty="0"/>
          </a:p>
        </p:txBody>
      </p:sp>
      <p:sp>
        <p:nvSpPr>
          <p:cNvPr id="3" name="Shape 1"/>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1143000" y="2000250"/>
            <a:ext cx="11745384" cy="1504057"/>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FFFFFF"/>
                </a:solidFill>
                <a:latin typeface="Inter" pitchFamily="34" charset="0"/>
                <a:ea typeface="Inter" pitchFamily="34" charset="-122"/>
                <a:cs typeface="Inter" pitchFamily="34" charset="-120"/>
              </a:rPr>
              <a:t>Every engineer and CJM, AI-assisted.</a:t>
            </a:r>
            <a:endParaRPr lang="en-US" sz="5550" dirty="0"/>
          </a:p>
        </p:txBody>
      </p:sp>
      <p:sp>
        <p:nvSpPr>
          <p:cNvPr id="5" name="Shape 3"/>
          <p:cNvSpPr/>
          <p:nvPr/>
        </p:nvSpPr>
        <p:spPr>
          <a:xfrm>
            <a:off x="1143000" y="3923407"/>
            <a:ext cx="7877175" cy="3065859"/>
          </a:xfrm>
          <a:prstGeom prst="roundRect">
            <a:avLst>
              <a:gd name="adj" fmla="val 6214"/>
            </a:avLst>
          </a:prstGeom>
          <a:solidFill>
            <a:srgbClr val="0A4A31"/>
          </a:solidFill>
          <a:ln/>
        </p:spPr>
        <p:txBody>
          <a:bodyPr/>
          <a:lstStyle/>
          <a:p>
            <a:endParaRPr lang="en-US"/>
          </a:p>
        </p:txBody>
      </p:sp>
      <p:sp>
        <p:nvSpPr>
          <p:cNvPr id="6" name="Text 4"/>
          <p:cNvSpPr/>
          <p:nvPr/>
        </p:nvSpPr>
        <p:spPr>
          <a:xfrm>
            <a:off x="1581150" y="4342507"/>
            <a:ext cx="7700963"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BASELINE · EVERYONE</a:t>
            </a:r>
            <a:endParaRPr lang="en-US" sz="1800" dirty="0"/>
          </a:p>
        </p:txBody>
      </p:sp>
      <p:sp>
        <p:nvSpPr>
          <p:cNvPr id="7" name="Text 5"/>
          <p:cNvSpPr/>
          <p:nvPr/>
        </p:nvSpPr>
        <p:spPr>
          <a:xfrm>
            <a:off x="1581150" y="4794945"/>
            <a:ext cx="7210901" cy="906661"/>
          </a:xfrm>
          <a:prstGeom prst="rect">
            <a:avLst/>
          </a:prstGeom>
          <a:noFill/>
          <a:ln/>
        </p:spPr>
        <p:txBody>
          <a:bodyPr wrap="square" lIns="25400" tIns="25400" rIns="25400" bIns="25400" rtlCol="0" anchor="t">
            <a:normAutofit/>
          </a:bodyPr>
          <a:lstStyle/>
          <a:p>
            <a:pPr marL="0" indent="0" algn="l">
              <a:lnSpc>
                <a:spcPct val="114000"/>
              </a:lnSpc>
              <a:buNone/>
            </a:pPr>
            <a:r>
              <a:rPr lang="en-US" sz="3000" b="1" dirty="0">
                <a:solidFill>
                  <a:srgbClr val="FFFFFF"/>
                </a:solidFill>
                <a:latin typeface="Inter" pitchFamily="34" charset="0"/>
                <a:ea typeface="Inter" pitchFamily="34" charset="-122"/>
                <a:cs typeface="Inter" pitchFamily="34" charset="-120"/>
              </a:rPr>
              <a:t>GitHub Copilot for all engineers and CJMs</a:t>
            </a:r>
            <a:endParaRPr lang="en-US" sz="3000" dirty="0"/>
          </a:p>
        </p:txBody>
      </p:sp>
      <p:sp>
        <p:nvSpPr>
          <p:cNvPr id="8" name="Text 6"/>
          <p:cNvSpPr/>
          <p:nvPr/>
        </p:nvSpPr>
        <p:spPr>
          <a:xfrm>
            <a:off x="1581150" y="5815905"/>
            <a:ext cx="7210901"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CFE2D8"/>
                </a:solidFill>
                <a:latin typeface="Inter" pitchFamily="34" charset="0"/>
                <a:ea typeface="Inter" pitchFamily="34" charset="-122"/>
                <a:cs typeface="Inter" pitchFamily="34" charset="-120"/>
              </a:rPr>
              <a:t>Installed and configured in whichever editor you already use — JetBrains or VS Code.</a:t>
            </a:r>
            <a:endParaRPr lang="en-US" sz="2250" dirty="0"/>
          </a:p>
        </p:txBody>
      </p:sp>
      <p:sp>
        <p:nvSpPr>
          <p:cNvPr id="9" name="Shape 7"/>
          <p:cNvSpPr/>
          <p:nvPr/>
        </p:nvSpPr>
        <p:spPr>
          <a:xfrm>
            <a:off x="9267825" y="3923407"/>
            <a:ext cx="7877175" cy="3065859"/>
          </a:xfrm>
          <a:prstGeom prst="roundRect">
            <a:avLst>
              <a:gd name="adj" fmla="val 6214"/>
            </a:avLst>
          </a:prstGeom>
          <a:solidFill>
            <a:srgbClr val="9EC5B3"/>
          </a:solidFill>
          <a:ln/>
        </p:spPr>
        <p:txBody>
          <a:bodyPr/>
          <a:lstStyle/>
          <a:p>
            <a:endParaRPr lang="en-US"/>
          </a:p>
        </p:txBody>
      </p:sp>
      <p:sp>
        <p:nvSpPr>
          <p:cNvPr id="10" name="Text 8"/>
          <p:cNvSpPr/>
          <p:nvPr/>
        </p:nvSpPr>
        <p:spPr>
          <a:xfrm>
            <a:off x="9705975" y="4342507"/>
            <a:ext cx="7700963"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A4A31"/>
                </a:solidFill>
                <a:latin typeface="JetBrains Mono" pitchFamily="34" charset="0"/>
                <a:ea typeface="JetBrains Mono" pitchFamily="34" charset="-122"/>
                <a:cs typeface="JetBrains Mono" pitchFamily="34" charset="-120"/>
              </a:rPr>
              <a:t>SUPERPOWERS · ALL ENGINEERS</a:t>
            </a:r>
            <a:endParaRPr lang="en-US" sz="1800" dirty="0"/>
          </a:p>
        </p:txBody>
      </p:sp>
      <p:sp>
        <p:nvSpPr>
          <p:cNvPr id="11" name="Text 9"/>
          <p:cNvSpPr/>
          <p:nvPr/>
        </p:nvSpPr>
        <p:spPr>
          <a:xfrm>
            <a:off x="9705975" y="4794945"/>
            <a:ext cx="7700963" cy="472380"/>
          </a:xfrm>
          <a:prstGeom prst="rect">
            <a:avLst/>
          </a:prstGeom>
          <a:noFill/>
          <a:ln/>
        </p:spPr>
        <p:txBody>
          <a:bodyPr wrap="square" lIns="25400" tIns="25400" rIns="25400" bIns="25400" rtlCol="0" anchor="t">
            <a:normAutofit/>
          </a:bodyPr>
          <a:lstStyle/>
          <a:p>
            <a:pPr marL="0" indent="0" algn="l">
              <a:lnSpc>
                <a:spcPct val="114000"/>
              </a:lnSpc>
              <a:buNone/>
            </a:pPr>
            <a:r>
              <a:rPr lang="en-US" sz="3000" b="1" dirty="0">
                <a:solidFill>
                  <a:srgbClr val="003824"/>
                </a:solidFill>
                <a:latin typeface="Inter" pitchFamily="34" charset="0"/>
                <a:ea typeface="Inter" pitchFamily="34" charset="-122"/>
                <a:cs typeface="Inter" pitchFamily="34" charset="-120"/>
              </a:rPr>
              <a:t>Structured, repeatable workflows</a:t>
            </a:r>
            <a:endParaRPr lang="en-US" sz="3000" dirty="0"/>
          </a:p>
        </p:txBody>
      </p:sp>
      <p:sp>
        <p:nvSpPr>
          <p:cNvPr id="12" name="Text 10"/>
          <p:cNvSpPr/>
          <p:nvPr/>
        </p:nvSpPr>
        <p:spPr>
          <a:xfrm>
            <a:off x="9705975" y="5381625"/>
            <a:ext cx="7210901"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0A4A31"/>
                </a:solidFill>
                <a:latin typeface="Inter" pitchFamily="34" charset="0"/>
                <a:ea typeface="Inter" pitchFamily="34" charset="-122"/>
                <a:cs typeface="Inter" pitchFamily="34" charset="-120"/>
              </a:rPr>
              <a:t>A shared skill library the whole lab runs the same way — not one-off prompting.</a:t>
            </a:r>
            <a:endParaRPr lang="en-US" sz="2250" dirty="0"/>
          </a:p>
        </p:txBody>
      </p:sp>
      <p:sp>
        <p:nvSpPr>
          <p:cNvPr id="13" name="Text 11"/>
          <p:cNvSpPr/>
          <p:nvPr/>
        </p:nvSpPr>
        <p:spPr>
          <a:xfrm>
            <a:off x="1143000" y="7370266"/>
            <a:ext cx="17602200" cy="491430"/>
          </a:xfrm>
          <a:prstGeom prst="rect">
            <a:avLst/>
          </a:prstGeom>
          <a:noFill/>
          <a:ln/>
        </p:spPr>
        <p:txBody>
          <a:bodyPr wrap="square" lIns="25400" tIns="25400" rIns="25400" bIns="25400" rtlCol="0" anchor="t">
            <a:normAutofit/>
          </a:bodyPr>
          <a:lstStyle/>
          <a:p>
            <a:pPr marL="0" indent="0" algn="l">
              <a:lnSpc>
                <a:spcPct val="140000"/>
              </a:lnSpc>
              <a:buNone/>
            </a:pPr>
            <a:r>
              <a:rPr lang="en-US" sz="2550" dirty="0">
                <a:solidFill>
                  <a:srgbClr val="CFE2D8"/>
                </a:solidFill>
                <a:latin typeface="Inter" pitchFamily="34" charset="0"/>
                <a:ea typeface="Inter" pitchFamily="34" charset="-122"/>
                <a:cs typeface="Inter" pitchFamily="34" charset="-120"/>
              </a:rPr>
              <a:t>Same assistant, same skills, same conventions — </a:t>
            </a:r>
            <a:r>
              <a:rPr lang="en-US" sz="2550" b="1" dirty="0">
                <a:solidFill>
                  <a:srgbClr val="FFFFFF"/>
                </a:solidFill>
                <a:latin typeface="Inter" pitchFamily="34" charset="0"/>
                <a:ea typeface="Inter" pitchFamily="34" charset="-122"/>
                <a:cs typeface="Inter" pitchFamily="34" charset="-120"/>
              </a:rPr>
              <a:t>no matter whose screen you're looking at.</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AGENTS.MD · JUSTFILE</a:t>
            </a:r>
            <a:endParaRPr lang="en-US" sz="2100" dirty="0"/>
          </a:p>
        </p:txBody>
      </p:sp>
      <p:sp>
        <p:nvSpPr>
          <p:cNvPr id="3" name="Shape 1"/>
          <p:cNvSpPr/>
          <p:nvPr/>
        </p:nvSpPr>
        <p:spPr>
          <a:xfrm>
            <a:off x="952500" y="140017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952500" y="1771650"/>
            <a:ext cx="11692498" cy="1372344"/>
          </a:xfrm>
          <a:prstGeom prst="rect">
            <a:avLst/>
          </a:prstGeom>
          <a:noFill/>
          <a:ln/>
        </p:spPr>
        <p:txBody>
          <a:bodyPr wrap="square" lIns="25400" tIns="25400" rIns="25400" bIns="25400" rtlCol="0" anchor="t">
            <a:normAutofit/>
          </a:bodyPr>
          <a:lstStyle/>
          <a:p>
            <a:pPr marL="0" indent="0" algn="l">
              <a:lnSpc>
                <a:spcPct val="103000"/>
              </a:lnSpc>
              <a:buNone/>
            </a:pPr>
            <a:r>
              <a:rPr lang="en-US" sz="5100" b="1" kern="0" spc="-102" dirty="0">
                <a:solidFill>
                  <a:srgbClr val="003824"/>
                </a:solidFill>
                <a:latin typeface="Inter" pitchFamily="34" charset="0"/>
                <a:ea typeface="Inter" pitchFamily="34" charset="-122"/>
                <a:cs typeface="Inter" pitchFamily="34" charset="-120"/>
              </a:rPr>
              <a:t>Prime every repo — for humans and AI alike.</a:t>
            </a:r>
            <a:endParaRPr lang="en-US" sz="5100" dirty="0"/>
          </a:p>
        </p:txBody>
      </p:sp>
      <p:sp>
        <p:nvSpPr>
          <p:cNvPr id="5" name="Shape 3"/>
          <p:cNvSpPr/>
          <p:nvPr/>
        </p:nvSpPr>
        <p:spPr>
          <a:xfrm>
            <a:off x="952500" y="3486894"/>
            <a:ext cx="7659933" cy="3090863"/>
          </a:xfrm>
          <a:prstGeom prst="roundRect">
            <a:avLst>
              <a:gd name="adj" fmla="val 6239"/>
            </a:avLst>
          </a:prstGeom>
          <a:solidFill>
            <a:srgbClr val="0A1F17"/>
          </a:solidFill>
          <a:ln/>
          <a:effectLst>
            <a:outerShdw blurRad="571500" dist="285750" dir="5400000" algn="bl" rotWithShape="0">
              <a:srgbClr val="000000">
                <a:alpha val="50000"/>
              </a:srgbClr>
            </a:outerShdw>
          </a:effectLst>
        </p:spPr>
        <p:txBody>
          <a:bodyPr/>
          <a:lstStyle/>
          <a:p>
            <a:endParaRPr lang="en-US"/>
          </a:p>
        </p:txBody>
      </p:sp>
      <p:sp>
        <p:nvSpPr>
          <p:cNvPr id="6" name="Shape 4"/>
          <p:cNvSpPr/>
          <p:nvPr/>
        </p:nvSpPr>
        <p:spPr>
          <a:xfrm>
            <a:off x="1295400" y="3865513"/>
            <a:ext cx="104775" cy="104775"/>
          </a:xfrm>
          <a:prstGeom prst="ellipse">
            <a:avLst/>
          </a:prstGeom>
          <a:solidFill>
            <a:srgbClr val="9EC5B3"/>
          </a:solidFill>
          <a:ln/>
        </p:spPr>
        <p:txBody>
          <a:bodyPr/>
          <a:lstStyle/>
          <a:p>
            <a:endParaRPr lang="en-US"/>
          </a:p>
        </p:txBody>
      </p:sp>
      <p:sp>
        <p:nvSpPr>
          <p:cNvPr id="7" name="Text 5"/>
          <p:cNvSpPr/>
          <p:nvPr/>
        </p:nvSpPr>
        <p:spPr>
          <a:xfrm>
            <a:off x="1495425" y="3772644"/>
            <a:ext cx="1366413" cy="328613"/>
          </a:xfrm>
          <a:prstGeom prst="rect">
            <a:avLst/>
          </a:prstGeom>
          <a:noFill/>
          <a:ln/>
        </p:spPr>
        <p:txBody>
          <a:bodyPr wrap="square" lIns="25400" tIns="25400" rIns="25400" bIns="25400" rtlCol="0" anchor="t">
            <a:normAutofit/>
          </a:bodyPr>
          <a:lstStyle/>
          <a:p>
            <a:pPr marL="0" indent="0" algn="l">
              <a:buNone/>
            </a:pPr>
            <a:r>
              <a:rPr lang="en-US" sz="1725" kern="0" spc="52" dirty="0">
                <a:solidFill>
                  <a:srgbClr val="9EC5B3"/>
                </a:solidFill>
                <a:latin typeface="JetBrains Mono" pitchFamily="34" charset="0"/>
                <a:ea typeface="JetBrains Mono" pitchFamily="34" charset="-122"/>
                <a:cs typeface="JetBrains Mono" pitchFamily="34" charset="-120"/>
              </a:rPr>
              <a:t>AGENTS.md</a:t>
            </a:r>
            <a:endParaRPr lang="en-US" sz="1725" dirty="0"/>
          </a:p>
        </p:txBody>
      </p:sp>
      <p:sp>
        <p:nvSpPr>
          <p:cNvPr id="8" name="Text 6"/>
          <p:cNvSpPr/>
          <p:nvPr/>
        </p:nvSpPr>
        <p:spPr>
          <a:xfrm>
            <a:off x="1295400" y="4234607"/>
            <a:ext cx="8827222"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E8B98A"/>
                </a:solidFill>
                <a:latin typeface="JetBrains Mono" pitchFamily="34" charset="0"/>
                <a:ea typeface="JetBrains Mono" pitchFamily="34" charset="-122"/>
                <a:cs typeface="JetBrains Mono" pitchFamily="34" charset="-120"/>
              </a:rPr>
              <a:t># How we work here</a:t>
            </a:r>
            <a:endParaRPr lang="en-US" sz="1800" dirty="0"/>
          </a:p>
        </p:txBody>
      </p:sp>
      <p:sp>
        <p:nvSpPr>
          <p:cNvPr id="9" name="Text 7"/>
          <p:cNvSpPr/>
          <p:nvPr/>
        </p:nvSpPr>
        <p:spPr>
          <a:xfrm>
            <a:off x="1295400" y="4577507"/>
            <a:ext cx="8827222"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Stack</a:t>
            </a:r>
            <a:r>
              <a:rPr lang="en-US" sz="1800" dirty="0">
                <a:solidFill>
                  <a:srgbClr val="EAF4EF"/>
                </a:solidFill>
                <a:latin typeface="JetBrains Mono" pitchFamily="34" charset="0"/>
                <a:ea typeface="JetBrains Mono" pitchFamily="34" charset="-122"/>
                <a:cs typeface="JetBrains Mono" pitchFamily="34" charset="-120"/>
              </a:rPr>
              <a:t>: Spring Boot · Terraform</a:t>
            </a:r>
            <a:endParaRPr lang="en-US" sz="1800" dirty="0"/>
          </a:p>
        </p:txBody>
      </p:sp>
      <p:sp>
        <p:nvSpPr>
          <p:cNvPr id="10" name="Text 8"/>
          <p:cNvSpPr/>
          <p:nvPr/>
        </p:nvSpPr>
        <p:spPr>
          <a:xfrm>
            <a:off x="1295400" y="4920407"/>
            <a:ext cx="8827222"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Tests</a:t>
            </a:r>
            <a:r>
              <a:rPr lang="en-US" sz="1800" dirty="0">
                <a:solidFill>
                  <a:srgbClr val="EAF4EF"/>
                </a:solidFill>
                <a:latin typeface="JetBrains Mono" pitchFamily="34" charset="0"/>
                <a:ea typeface="JetBrains Mono" pitchFamily="34" charset="-122"/>
                <a:cs typeface="JetBrains Mono" pitchFamily="34" charset="-120"/>
              </a:rPr>
              <a:t>: run </a:t>
            </a:r>
            <a:r>
              <a:rPr lang="en-US" sz="1800" dirty="0">
                <a:solidFill>
                  <a:srgbClr val="CFE2D8"/>
                </a:solidFill>
                <a:latin typeface="JetBrains Mono" pitchFamily="34" charset="0"/>
                <a:ea typeface="JetBrains Mono" pitchFamily="34" charset="-122"/>
                <a:cs typeface="JetBrains Mono" pitchFamily="34" charset="-120"/>
              </a:rPr>
              <a:t>just test</a:t>
            </a:r>
            <a:r>
              <a:rPr lang="en-US" sz="1800" dirty="0">
                <a:solidFill>
                  <a:srgbClr val="EAF4EF"/>
                </a:solidFill>
                <a:latin typeface="JetBrains Mono" pitchFamily="34" charset="0"/>
                <a:ea typeface="JetBrains Mono" pitchFamily="34" charset="-122"/>
                <a:cs typeface="JetBrains Mono" pitchFamily="34" charset="-120"/>
              </a:rPr>
              <a:t> before PR</a:t>
            </a:r>
            <a:endParaRPr lang="en-US" sz="1800" dirty="0"/>
          </a:p>
        </p:txBody>
      </p:sp>
      <p:sp>
        <p:nvSpPr>
          <p:cNvPr id="11" name="Text 9"/>
          <p:cNvSpPr/>
          <p:nvPr/>
        </p:nvSpPr>
        <p:spPr>
          <a:xfrm>
            <a:off x="1295400" y="5263307"/>
            <a:ext cx="8827222"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Never</a:t>
            </a:r>
            <a:r>
              <a:rPr lang="en-US" sz="1800" dirty="0">
                <a:solidFill>
                  <a:srgbClr val="EAF4EF"/>
                </a:solidFill>
                <a:latin typeface="JetBrains Mono" pitchFamily="34" charset="0"/>
                <a:ea typeface="JetBrains Mono" pitchFamily="34" charset="-122"/>
                <a:cs typeface="JetBrains Mono" pitchFamily="34" charset="-120"/>
              </a:rPr>
              <a:t>: touch infra by hand</a:t>
            </a:r>
            <a:endParaRPr lang="en-US" sz="1800" dirty="0"/>
          </a:p>
        </p:txBody>
      </p:sp>
      <p:sp>
        <p:nvSpPr>
          <p:cNvPr id="12" name="Text 10"/>
          <p:cNvSpPr/>
          <p:nvPr/>
        </p:nvSpPr>
        <p:spPr>
          <a:xfrm>
            <a:off x="1295400" y="5606207"/>
            <a:ext cx="8827222"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Build</a:t>
            </a:r>
            <a:r>
              <a:rPr lang="en-US" sz="1800" dirty="0">
                <a:solidFill>
                  <a:srgbClr val="EAF4EF"/>
                </a:solidFill>
                <a:latin typeface="JetBrains Mono" pitchFamily="34" charset="0"/>
                <a:ea typeface="JetBrains Mono" pitchFamily="34" charset="-122"/>
                <a:cs typeface="JetBrains Mono" pitchFamily="34" charset="-120"/>
              </a:rPr>
              <a:t>: via Harness only</a:t>
            </a:r>
            <a:endParaRPr lang="en-US" sz="1800" dirty="0"/>
          </a:p>
        </p:txBody>
      </p:sp>
      <p:sp>
        <p:nvSpPr>
          <p:cNvPr id="13" name="Shape 11"/>
          <p:cNvSpPr/>
          <p:nvPr/>
        </p:nvSpPr>
        <p:spPr>
          <a:xfrm>
            <a:off x="9326881" y="3486894"/>
            <a:ext cx="8008620" cy="3090863"/>
          </a:xfrm>
          <a:prstGeom prst="roundRect">
            <a:avLst>
              <a:gd name="adj" fmla="val 5547"/>
            </a:avLst>
          </a:prstGeom>
          <a:solidFill>
            <a:srgbClr val="0A1F17"/>
          </a:solidFill>
          <a:ln/>
          <a:effectLst>
            <a:outerShdw blurRad="571500" dist="285750" dir="5400000" algn="bl" rotWithShape="0">
              <a:srgbClr val="000000">
                <a:alpha val="50000"/>
              </a:srgbClr>
            </a:outerShdw>
          </a:effectLst>
        </p:spPr>
        <p:txBody>
          <a:bodyPr/>
          <a:lstStyle/>
          <a:p>
            <a:endParaRPr lang="en-US"/>
          </a:p>
        </p:txBody>
      </p:sp>
      <p:sp>
        <p:nvSpPr>
          <p:cNvPr id="14" name="Shape 12"/>
          <p:cNvSpPr/>
          <p:nvPr/>
        </p:nvSpPr>
        <p:spPr>
          <a:xfrm>
            <a:off x="10837069" y="3865513"/>
            <a:ext cx="104775" cy="104775"/>
          </a:xfrm>
          <a:prstGeom prst="ellipse">
            <a:avLst/>
          </a:prstGeom>
          <a:solidFill>
            <a:srgbClr val="9EC5B3"/>
          </a:solidFill>
          <a:ln/>
        </p:spPr>
        <p:txBody>
          <a:bodyPr/>
          <a:lstStyle/>
          <a:p>
            <a:endParaRPr lang="en-US"/>
          </a:p>
        </p:txBody>
      </p:sp>
      <p:sp>
        <p:nvSpPr>
          <p:cNvPr id="15" name="Text 13"/>
          <p:cNvSpPr/>
          <p:nvPr/>
        </p:nvSpPr>
        <p:spPr>
          <a:xfrm>
            <a:off x="11037094" y="3772644"/>
            <a:ext cx="1180356" cy="328613"/>
          </a:xfrm>
          <a:prstGeom prst="rect">
            <a:avLst/>
          </a:prstGeom>
          <a:noFill/>
          <a:ln/>
        </p:spPr>
        <p:txBody>
          <a:bodyPr wrap="square" lIns="25400" tIns="25400" rIns="25400" bIns="25400" rtlCol="0" anchor="t">
            <a:normAutofit/>
          </a:bodyPr>
          <a:lstStyle/>
          <a:p>
            <a:pPr marL="0" indent="0" algn="l">
              <a:buNone/>
            </a:pPr>
            <a:r>
              <a:rPr lang="en-US" sz="1725" kern="0" spc="52" dirty="0">
                <a:solidFill>
                  <a:srgbClr val="9EC5B3"/>
                </a:solidFill>
                <a:latin typeface="JetBrains Mono" pitchFamily="34" charset="0"/>
                <a:ea typeface="JetBrains Mono" pitchFamily="34" charset="-122"/>
                <a:cs typeface="JetBrains Mono" pitchFamily="34" charset="-120"/>
              </a:rPr>
              <a:t>justfile</a:t>
            </a:r>
            <a:endParaRPr lang="en-US" sz="1725" dirty="0"/>
          </a:p>
        </p:txBody>
      </p:sp>
      <p:sp>
        <p:nvSpPr>
          <p:cNvPr id="16" name="Text 14"/>
          <p:cNvSpPr/>
          <p:nvPr/>
        </p:nvSpPr>
        <p:spPr>
          <a:xfrm>
            <a:off x="10837069" y="42346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setup</a:t>
            </a:r>
            <a:r>
              <a:rPr lang="en-US" sz="1800" dirty="0">
                <a:solidFill>
                  <a:srgbClr val="EAF4EF"/>
                </a:solidFill>
                <a:latin typeface="JetBrains Mono" pitchFamily="34" charset="0"/>
                <a:ea typeface="JetBrains Mono" pitchFamily="34" charset="-122"/>
                <a:cs typeface="JetBrains Mono" pitchFamily="34" charset="-120"/>
              </a:rPr>
              <a:t>:</a:t>
            </a:r>
            <a:endParaRPr lang="en-US" sz="1800" dirty="0"/>
          </a:p>
        </p:txBody>
      </p:sp>
      <p:sp>
        <p:nvSpPr>
          <p:cNvPr id="17" name="Text 15"/>
          <p:cNvSpPr/>
          <p:nvPr/>
        </p:nvSpPr>
        <p:spPr>
          <a:xfrm>
            <a:off x="10837069" y="45775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EAF4EF"/>
                </a:solidFill>
                <a:latin typeface="JetBrains Mono" pitchFamily="34" charset="0"/>
                <a:ea typeface="JetBrains Mono" pitchFamily="34" charset="-122"/>
                <a:cs typeface="JetBrains Mono" pitchFamily="34" charset="-120"/>
              </a:rPr>
              <a:t>    ./bootstrap</a:t>
            </a:r>
            <a:endParaRPr lang="en-US" sz="1800" dirty="0"/>
          </a:p>
        </p:txBody>
      </p:sp>
      <p:sp>
        <p:nvSpPr>
          <p:cNvPr id="18" name="Text 16"/>
          <p:cNvSpPr/>
          <p:nvPr/>
        </p:nvSpPr>
        <p:spPr>
          <a:xfrm>
            <a:off x="10837069" y="49204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test</a:t>
            </a:r>
            <a:r>
              <a:rPr lang="en-US" sz="1800" dirty="0">
                <a:solidFill>
                  <a:srgbClr val="EAF4EF"/>
                </a:solidFill>
                <a:latin typeface="JetBrains Mono" pitchFamily="34" charset="0"/>
                <a:ea typeface="JetBrains Mono" pitchFamily="34" charset="-122"/>
                <a:cs typeface="JetBrains Mono" pitchFamily="34" charset="-120"/>
              </a:rPr>
              <a:t>:</a:t>
            </a:r>
            <a:endParaRPr lang="en-US" sz="1800" dirty="0"/>
          </a:p>
        </p:txBody>
      </p:sp>
      <p:sp>
        <p:nvSpPr>
          <p:cNvPr id="19" name="Text 17"/>
          <p:cNvSpPr/>
          <p:nvPr/>
        </p:nvSpPr>
        <p:spPr>
          <a:xfrm>
            <a:off x="10837069" y="52633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EAF4EF"/>
                </a:solidFill>
                <a:latin typeface="JetBrains Mono" pitchFamily="34" charset="0"/>
                <a:ea typeface="JetBrains Mono" pitchFamily="34" charset="-122"/>
                <a:cs typeface="JetBrains Mono" pitchFamily="34" charset="-120"/>
              </a:rPr>
              <a:t>    ./run-tests</a:t>
            </a:r>
            <a:endParaRPr lang="en-US" sz="1800" dirty="0"/>
          </a:p>
        </p:txBody>
      </p:sp>
      <p:sp>
        <p:nvSpPr>
          <p:cNvPr id="20" name="Text 18"/>
          <p:cNvSpPr/>
          <p:nvPr/>
        </p:nvSpPr>
        <p:spPr>
          <a:xfrm>
            <a:off x="10837069" y="56062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9EC5B3"/>
                </a:solidFill>
                <a:latin typeface="JetBrains Mono" pitchFamily="34" charset="0"/>
                <a:ea typeface="JetBrains Mono" pitchFamily="34" charset="-122"/>
                <a:cs typeface="JetBrains Mono" pitchFamily="34" charset="-120"/>
              </a:rPr>
              <a:t>run</a:t>
            </a:r>
            <a:r>
              <a:rPr lang="en-US" sz="1800" dirty="0">
                <a:solidFill>
                  <a:srgbClr val="EAF4EF"/>
                </a:solidFill>
                <a:latin typeface="JetBrains Mono" pitchFamily="34" charset="0"/>
                <a:ea typeface="JetBrains Mono" pitchFamily="34" charset="-122"/>
                <a:cs typeface="JetBrains Mono" pitchFamily="34" charset="-120"/>
              </a:rPr>
              <a:t>:</a:t>
            </a:r>
            <a:endParaRPr lang="en-US" sz="1800" dirty="0"/>
          </a:p>
        </p:txBody>
      </p:sp>
      <p:sp>
        <p:nvSpPr>
          <p:cNvPr id="21" name="Text 19"/>
          <p:cNvSpPr/>
          <p:nvPr/>
        </p:nvSpPr>
        <p:spPr>
          <a:xfrm>
            <a:off x="10837069" y="5949107"/>
            <a:ext cx="6340197" cy="381000"/>
          </a:xfrm>
          <a:prstGeom prst="rect">
            <a:avLst/>
          </a:prstGeom>
          <a:noFill/>
          <a:ln/>
        </p:spPr>
        <p:txBody>
          <a:bodyPr wrap="none" lIns="25400" tIns="25400" rIns="25400" bIns="25400" rtlCol="0" anchor="t">
            <a:normAutofit/>
          </a:bodyPr>
          <a:lstStyle/>
          <a:p>
            <a:pPr marL="0" indent="0" algn="l">
              <a:lnSpc>
                <a:spcPct val="150000"/>
              </a:lnSpc>
              <a:buNone/>
            </a:pPr>
            <a:r>
              <a:rPr lang="en-US" sz="1800" dirty="0">
                <a:solidFill>
                  <a:srgbClr val="EAF4EF"/>
                </a:solidFill>
                <a:latin typeface="JetBrains Mono" pitchFamily="34" charset="0"/>
                <a:ea typeface="JetBrains Mono" pitchFamily="34" charset="-122"/>
                <a:cs typeface="JetBrains Mono" pitchFamily="34" charset="-120"/>
              </a:rPr>
              <a:t>    ./serve</a:t>
            </a:r>
            <a:endParaRPr lang="en-US" sz="1800" dirty="0"/>
          </a:p>
        </p:txBody>
      </p:sp>
      <p:sp>
        <p:nvSpPr>
          <p:cNvPr id="22" name="Shape 20"/>
          <p:cNvSpPr/>
          <p:nvPr/>
        </p:nvSpPr>
        <p:spPr>
          <a:xfrm>
            <a:off x="952500" y="6825407"/>
            <a:ext cx="16383000" cy="1572444"/>
          </a:xfrm>
          <a:prstGeom prst="roundRect">
            <a:avLst>
              <a:gd name="adj" fmla="val 10903"/>
            </a:avLst>
          </a:prstGeom>
          <a:solidFill>
            <a:srgbClr val="9EC5B3"/>
          </a:solidFill>
          <a:ln/>
        </p:spPr>
        <p:txBody>
          <a:bodyPr/>
          <a:lstStyle/>
          <a:p>
            <a:endParaRPr lang="en-US"/>
          </a:p>
        </p:txBody>
      </p:sp>
      <p:sp>
        <p:nvSpPr>
          <p:cNvPr id="23" name="Text 21"/>
          <p:cNvSpPr/>
          <p:nvPr/>
        </p:nvSpPr>
        <p:spPr>
          <a:xfrm>
            <a:off x="1333500" y="7423472"/>
            <a:ext cx="4337685" cy="414338"/>
          </a:xfrm>
          <a:prstGeom prst="rect">
            <a:avLst/>
          </a:prstGeom>
          <a:noFill/>
          <a:ln/>
        </p:spPr>
        <p:txBody>
          <a:bodyPr wrap="none" lIns="25400" tIns="25400" rIns="25400" bIns="25400" rtlCol="0" anchor="t">
            <a:normAutofit/>
          </a:bodyPr>
          <a:lstStyle/>
          <a:p>
            <a:pPr marL="0" indent="0" algn="l">
              <a:buNone/>
            </a:pPr>
            <a:r>
              <a:rPr lang="en-US" sz="2250" b="1" dirty="0">
                <a:solidFill>
                  <a:srgbClr val="003824"/>
                </a:solidFill>
                <a:latin typeface="JetBrains Mono" pitchFamily="34" charset="0"/>
                <a:ea typeface="JetBrains Mono" pitchFamily="34" charset="-122"/>
                <a:cs typeface="JetBrains Mono" pitchFamily="34" charset="-120"/>
              </a:rPr>
              <a:t>just setup · test · run</a:t>
            </a:r>
            <a:endParaRPr lang="en-US" sz="2250" dirty="0"/>
          </a:p>
        </p:txBody>
      </p:sp>
      <p:sp>
        <p:nvSpPr>
          <p:cNvPr id="24" name="Text 22"/>
          <p:cNvSpPr/>
          <p:nvPr/>
        </p:nvSpPr>
        <p:spPr>
          <a:xfrm>
            <a:off x="5619750" y="7073057"/>
            <a:ext cx="11674793" cy="1115244"/>
          </a:xfrm>
          <a:prstGeom prst="rect">
            <a:avLst/>
          </a:prstGeom>
          <a:noFill/>
          <a:ln/>
        </p:spPr>
        <p:txBody>
          <a:bodyPr wrap="square" lIns="25400" tIns="25400" rIns="25400" bIns="25400" rtlCol="0" anchor="t">
            <a:normAutofit/>
          </a:bodyPr>
          <a:lstStyle/>
          <a:p>
            <a:pPr marL="0" indent="0" algn="l">
              <a:lnSpc>
                <a:spcPct val="130000"/>
              </a:lnSpc>
              <a:buNone/>
            </a:pPr>
            <a:r>
              <a:rPr lang="en-US" sz="2175" dirty="0">
                <a:solidFill>
                  <a:srgbClr val="003824"/>
                </a:solidFill>
                <a:latin typeface="Inter" pitchFamily="34" charset="0"/>
                <a:ea typeface="Inter" pitchFamily="34" charset="-122"/>
                <a:cs typeface="Inter" pitchFamily="34" charset="-120"/>
              </a:rPr>
              <a:t>Two small files prime the repo so both people </a:t>
            </a:r>
            <a:r>
              <a:rPr lang="en-US" sz="2175" i="1" dirty="0">
                <a:solidFill>
                  <a:srgbClr val="003824"/>
                </a:solidFill>
                <a:latin typeface="Inter" pitchFamily="34" charset="0"/>
                <a:ea typeface="Inter" pitchFamily="34" charset="-122"/>
                <a:cs typeface="Inter" pitchFamily="34" charset="-120"/>
              </a:rPr>
              <a:t>and </a:t>
            </a:r>
            <a:r>
              <a:rPr lang="en-US" sz="2175" dirty="0">
                <a:solidFill>
                  <a:srgbClr val="003824"/>
                </a:solidFill>
                <a:latin typeface="Inter" pitchFamily="34" charset="0"/>
                <a:ea typeface="Inter" pitchFamily="34" charset="-122"/>
                <a:cs typeface="Inter" pitchFamily="34" charset="-120"/>
              </a:rPr>
              <a:t>Copilot know the architecture, conventions and commands — the same in every project. Better inputs, better outcomes.</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FIRST-PASS PR REVIEW</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7602200" cy="771079"/>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003824"/>
                </a:solidFill>
                <a:latin typeface="Inter" pitchFamily="34" charset="0"/>
                <a:ea typeface="Inter" pitchFamily="34" charset="-122"/>
                <a:cs typeface="Inter" pitchFamily="34" charset="-120"/>
              </a:rPr>
              <a:t>AI reviews first. Humans review second.</a:t>
            </a:r>
            <a:endParaRPr lang="en-US" sz="5550" dirty="0"/>
          </a:p>
        </p:txBody>
      </p:sp>
      <p:sp>
        <p:nvSpPr>
          <p:cNvPr id="5" name="Shape 3"/>
          <p:cNvSpPr/>
          <p:nvPr/>
        </p:nvSpPr>
        <p:spPr>
          <a:xfrm>
            <a:off x="1143000" y="3228529"/>
            <a:ext cx="7829550" cy="3028206"/>
          </a:xfrm>
          <a:prstGeom prst="roundRect">
            <a:avLst>
              <a:gd name="adj" fmla="val 5662"/>
            </a:avLst>
          </a:prstGeom>
          <a:solidFill>
            <a:srgbClr val="003824"/>
          </a:solidFill>
          <a:ln/>
        </p:spPr>
        <p:txBody>
          <a:bodyPr/>
          <a:lstStyle/>
          <a:p>
            <a:endParaRPr lang="en-US"/>
          </a:p>
        </p:txBody>
      </p:sp>
      <p:sp>
        <p:nvSpPr>
          <p:cNvPr id="6" name="Text 4"/>
          <p:cNvSpPr/>
          <p:nvPr/>
        </p:nvSpPr>
        <p:spPr>
          <a:xfrm>
            <a:off x="1562100" y="3609529"/>
            <a:ext cx="7690485"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Every PR · before human review</a:t>
            </a:r>
            <a:endParaRPr lang="en-US" sz="1950" dirty="0"/>
          </a:p>
        </p:txBody>
      </p:sp>
      <p:sp>
        <p:nvSpPr>
          <p:cNvPr id="7" name="Text 5"/>
          <p:cNvSpPr/>
          <p:nvPr/>
        </p:nvSpPr>
        <p:spPr>
          <a:xfrm>
            <a:off x="1562100" y="4071491"/>
            <a:ext cx="7201091" cy="935682"/>
          </a:xfrm>
          <a:prstGeom prst="rect">
            <a:avLst/>
          </a:prstGeom>
          <a:noFill/>
          <a:ln/>
        </p:spPr>
        <p:txBody>
          <a:bodyPr wrap="square" lIns="25400" tIns="25400" rIns="25400" bIns="25400" rtlCol="0" anchor="t">
            <a:normAutofit/>
          </a:bodyPr>
          <a:lstStyle/>
          <a:p>
            <a:pPr marL="0" indent="0" algn="l">
              <a:lnSpc>
                <a:spcPct val="124000"/>
              </a:lnSpc>
              <a:buNone/>
            </a:pPr>
            <a:r>
              <a:rPr lang="en-US" sz="2850" b="1" dirty="0">
                <a:solidFill>
                  <a:srgbClr val="FFFFFF"/>
                </a:solidFill>
                <a:latin typeface="Inter" pitchFamily="34" charset="0"/>
                <a:ea typeface="Inter" pitchFamily="34" charset="-122"/>
                <a:cs typeface="Inter" pitchFamily="34" charset="-120"/>
              </a:rPr>
              <a:t>Copilot does the first pass automatically.</a:t>
            </a:r>
            <a:endParaRPr lang="en-US" sz="2850" dirty="0"/>
          </a:p>
        </p:txBody>
      </p:sp>
      <p:sp>
        <p:nvSpPr>
          <p:cNvPr id="8" name="Text 6"/>
          <p:cNvSpPr/>
          <p:nvPr/>
        </p:nvSpPr>
        <p:spPr>
          <a:xfrm>
            <a:off x="1562100" y="5121473"/>
            <a:ext cx="7201091"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CFE2D8"/>
                </a:solidFill>
                <a:latin typeface="Inter" pitchFamily="34" charset="0"/>
                <a:ea typeface="Inter" pitchFamily="34" charset="-122"/>
                <a:cs typeface="Inter" pitchFamily="34" charset="-120"/>
              </a:rPr>
              <a:t>Style, missing tests, unhandled edge cases, drift from AGENTS.md — caught before a human looks.</a:t>
            </a:r>
            <a:endParaRPr lang="en-US" sz="2250" dirty="0"/>
          </a:p>
        </p:txBody>
      </p:sp>
      <p:sp>
        <p:nvSpPr>
          <p:cNvPr id="9" name="Shape 7"/>
          <p:cNvSpPr/>
          <p:nvPr/>
        </p:nvSpPr>
        <p:spPr>
          <a:xfrm>
            <a:off x="9315450" y="3228529"/>
            <a:ext cx="7829550" cy="3028206"/>
          </a:xfrm>
          <a:prstGeom prst="roundRect">
            <a:avLst>
              <a:gd name="adj" fmla="val 6598"/>
            </a:avLst>
          </a:prstGeom>
          <a:solidFill>
            <a:srgbClr val="F3F8F5"/>
          </a:solidFill>
          <a:ln w="9525">
            <a:solidFill>
              <a:srgbClr val="E6F1EC"/>
            </a:solidFill>
            <a:prstDash val="solid"/>
          </a:ln>
        </p:spPr>
        <p:txBody>
          <a:bodyPr/>
          <a:lstStyle/>
          <a:p>
            <a:endParaRPr lang="en-US"/>
          </a:p>
        </p:txBody>
      </p:sp>
      <p:sp>
        <p:nvSpPr>
          <p:cNvPr id="10" name="Text 8"/>
          <p:cNvSpPr/>
          <p:nvPr/>
        </p:nvSpPr>
        <p:spPr>
          <a:xfrm>
            <a:off x="9744075" y="3619054"/>
            <a:ext cx="7669530" cy="366713"/>
          </a:xfrm>
          <a:prstGeom prst="rect">
            <a:avLst/>
          </a:prstGeom>
          <a:noFill/>
          <a:ln/>
        </p:spPr>
        <p:txBody>
          <a:bodyPr wrap="square" lIns="25400" tIns="25400" rIns="25400" bIns="25400" rtlCol="0" anchor="t">
            <a:normAutofit/>
          </a:bodyPr>
          <a:lstStyle/>
          <a:p>
            <a:pPr marL="0" indent="0" algn="l">
              <a:buNone/>
            </a:pPr>
            <a:r>
              <a:rPr lang="en-US" sz="1950" dirty="0">
                <a:solidFill>
                  <a:srgbClr val="006A4D"/>
                </a:solidFill>
                <a:latin typeface="JetBrains Mono" pitchFamily="34" charset="0"/>
                <a:ea typeface="JetBrains Mono" pitchFamily="34" charset="-122"/>
                <a:cs typeface="JetBrains Mono" pitchFamily="34" charset="-120"/>
              </a:rPr>
              <a:t>So human time goes to</a:t>
            </a:r>
            <a:endParaRPr lang="en-US" sz="1950" dirty="0"/>
          </a:p>
        </p:txBody>
      </p:sp>
      <p:sp>
        <p:nvSpPr>
          <p:cNvPr id="11" name="Text 9"/>
          <p:cNvSpPr/>
          <p:nvPr/>
        </p:nvSpPr>
        <p:spPr>
          <a:xfrm>
            <a:off x="9744075" y="4081016"/>
            <a:ext cx="7669530" cy="486891"/>
          </a:xfrm>
          <a:prstGeom prst="rect">
            <a:avLst/>
          </a:prstGeom>
          <a:noFill/>
          <a:ln/>
        </p:spPr>
        <p:txBody>
          <a:bodyPr wrap="square" lIns="25400" tIns="25400" rIns="25400" bIns="25400" rtlCol="0" anchor="t">
            <a:normAutofit/>
          </a:bodyPr>
          <a:lstStyle/>
          <a:p>
            <a:pPr marL="0" indent="0" algn="l">
              <a:lnSpc>
                <a:spcPct val="124000"/>
              </a:lnSpc>
              <a:buNone/>
            </a:pPr>
            <a:r>
              <a:rPr lang="en-US" sz="2850" b="1" dirty="0">
                <a:solidFill>
                  <a:srgbClr val="14201B"/>
                </a:solidFill>
                <a:latin typeface="Inter" pitchFamily="34" charset="0"/>
                <a:ea typeface="Inter" pitchFamily="34" charset="-122"/>
                <a:cs typeface="Inter" pitchFamily="34" charset="-120"/>
              </a:rPr>
              <a:t>Logic and design — not nitpicks.</a:t>
            </a:r>
            <a:endParaRPr lang="en-US" sz="2850" dirty="0"/>
          </a:p>
        </p:txBody>
      </p:sp>
      <p:sp>
        <p:nvSpPr>
          <p:cNvPr id="12" name="Text 10"/>
          <p:cNvSpPr/>
          <p:nvPr/>
        </p:nvSpPr>
        <p:spPr>
          <a:xfrm>
            <a:off x="9744075" y="4682207"/>
            <a:ext cx="7181469"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3B4A44"/>
                </a:solidFill>
                <a:latin typeface="Inter" pitchFamily="34" charset="0"/>
                <a:ea typeface="Inter" pitchFamily="34" charset="-122"/>
                <a:cs typeface="Inter" pitchFamily="34" charset="-120"/>
              </a:rPr>
              <a:t>Shorter review loop, consistency taught by default, authors fix before anyone else has to.</a:t>
            </a:r>
            <a:endParaRPr lang="en-US" sz="2250" dirty="0"/>
          </a:p>
        </p:txBody>
      </p:sp>
      <p:sp>
        <p:nvSpPr>
          <p:cNvPr id="13" name="Text 11"/>
          <p:cNvSpPr/>
          <p:nvPr/>
        </p:nvSpPr>
        <p:spPr>
          <a:xfrm>
            <a:off x="1143000" y="6675834"/>
            <a:ext cx="17602200" cy="491430"/>
          </a:xfrm>
          <a:prstGeom prst="rect">
            <a:avLst/>
          </a:prstGeom>
          <a:noFill/>
          <a:ln/>
        </p:spPr>
        <p:txBody>
          <a:bodyPr wrap="square" lIns="25400" tIns="25400" rIns="25400" bIns="25400" rtlCol="0" anchor="t">
            <a:normAutofit/>
          </a:bodyPr>
          <a:lstStyle/>
          <a:p>
            <a:pPr marL="0" indent="0" algn="l">
              <a:lnSpc>
                <a:spcPct val="140000"/>
              </a:lnSpc>
              <a:buNone/>
            </a:pPr>
            <a:r>
              <a:rPr lang="en-US" sz="2550" dirty="0">
                <a:solidFill>
                  <a:srgbClr val="3B4A44"/>
                </a:solidFill>
                <a:latin typeface="Inter" pitchFamily="34" charset="0"/>
                <a:ea typeface="Inter" pitchFamily="34" charset="-122"/>
                <a:cs typeface="Inter" pitchFamily="34" charset="-120"/>
              </a:rPr>
              <a:t>Cheap to turn on. </a:t>
            </a:r>
            <a:r>
              <a:rPr lang="en-US" sz="2550" b="1" dirty="0">
                <a:solidFill>
                  <a:srgbClr val="003824"/>
                </a:solidFill>
                <a:latin typeface="Inter" pitchFamily="34" charset="0"/>
                <a:ea typeface="Inter" pitchFamily="34" charset="-122"/>
                <a:cs typeface="Inter" pitchFamily="34" charset="-120"/>
              </a:rPr>
              <a:t>Immediate payback on every review.</a:t>
            </a:r>
            <a:endParaRPr lang="en-US" sz="2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ROVO · JIRA &amp; CONFLUENCE</a:t>
            </a:r>
            <a:endParaRPr lang="en-US" sz="2100" dirty="0"/>
          </a:p>
        </p:txBody>
      </p:sp>
      <p:sp>
        <p:nvSpPr>
          <p:cNvPr id="3" name="Shape 1"/>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1143000" y="2000250"/>
            <a:ext cx="10766608" cy="1504057"/>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FFFFFF"/>
                </a:solidFill>
                <a:latin typeface="Inter" pitchFamily="34" charset="0"/>
                <a:ea typeface="Inter" pitchFamily="34" charset="-122"/>
                <a:cs typeface="Inter" pitchFamily="34" charset="-120"/>
              </a:rPr>
              <a:t>Lean into Rovo — in Jira and Confluence.</a:t>
            </a:r>
            <a:endParaRPr lang="en-US" sz="5550" dirty="0"/>
          </a:p>
        </p:txBody>
      </p:sp>
      <p:sp>
        <p:nvSpPr>
          <p:cNvPr id="5" name="Shape 3"/>
          <p:cNvSpPr/>
          <p:nvPr/>
        </p:nvSpPr>
        <p:spPr>
          <a:xfrm>
            <a:off x="1143000" y="3923407"/>
            <a:ext cx="7877175" cy="2622054"/>
          </a:xfrm>
          <a:prstGeom prst="roundRect">
            <a:avLst>
              <a:gd name="adj" fmla="val 7265"/>
            </a:avLst>
          </a:prstGeom>
          <a:solidFill>
            <a:srgbClr val="0A4A31"/>
          </a:solidFill>
          <a:ln/>
        </p:spPr>
        <p:txBody>
          <a:bodyPr/>
          <a:lstStyle/>
          <a:p>
            <a:endParaRPr lang="en-US"/>
          </a:p>
        </p:txBody>
      </p:sp>
      <p:sp>
        <p:nvSpPr>
          <p:cNvPr id="6" name="Text 4"/>
          <p:cNvSpPr/>
          <p:nvPr/>
        </p:nvSpPr>
        <p:spPr>
          <a:xfrm>
            <a:off x="1581150" y="4342507"/>
            <a:ext cx="7700963"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In Confluence</a:t>
            </a:r>
            <a:endParaRPr lang="en-US" sz="1950" dirty="0"/>
          </a:p>
        </p:txBody>
      </p:sp>
      <p:sp>
        <p:nvSpPr>
          <p:cNvPr id="7" name="Text 5"/>
          <p:cNvSpPr/>
          <p:nvPr/>
        </p:nvSpPr>
        <p:spPr>
          <a:xfrm>
            <a:off x="1581150" y="4804470"/>
            <a:ext cx="7700963" cy="472380"/>
          </a:xfrm>
          <a:prstGeom prst="rect">
            <a:avLst/>
          </a:prstGeom>
          <a:noFill/>
          <a:ln/>
        </p:spPr>
        <p:txBody>
          <a:bodyPr wrap="square" lIns="25400" tIns="25400" rIns="25400" bIns="25400" rtlCol="0" anchor="t">
            <a:normAutofit/>
          </a:bodyPr>
          <a:lstStyle/>
          <a:p>
            <a:pPr marL="0" indent="0" algn="l">
              <a:lnSpc>
                <a:spcPct val="120000"/>
              </a:lnSpc>
              <a:buNone/>
            </a:pPr>
            <a:r>
              <a:rPr lang="en-US" sz="2850" b="1" dirty="0">
                <a:solidFill>
                  <a:srgbClr val="FFFFFF"/>
                </a:solidFill>
                <a:latin typeface="Inter" pitchFamily="34" charset="0"/>
                <a:ea typeface="Inter" pitchFamily="34" charset="-122"/>
                <a:cs typeface="Inter" pitchFamily="34" charset="-120"/>
              </a:rPr>
              <a:t>Pages that stay current</a:t>
            </a:r>
            <a:endParaRPr lang="en-US" sz="2850" dirty="0"/>
          </a:p>
        </p:txBody>
      </p:sp>
      <p:sp>
        <p:nvSpPr>
          <p:cNvPr id="8" name="Text 6"/>
          <p:cNvSpPr/>
          <p:nvPr/>
        </p:nvSpPr>
        <p:spPr>
          <a:xfrm>
            <a:off x="1581150" y="5372100"/>
            <a:ext cx="7210901"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CFE2D8"/>
                </a:solidFill>
                <a:latin typeface="Inter" pitchFamily="34" charset="0"/>
                <a:ea typeface="Inter" pitchFamily="34" charset="-122"/>
                <a:cs typeface="Inter" pitchFamily="34" charset="-120"/>
              </a:rPr>
              <a:t>Draft, summarise long threads, link related spaces. Knowledge that's findable, not tribal.</a:t>
            </a:r>
            <a:endParaRPr lang="en-US" sz="2250" dirty="0"/>
          </a:p>
        </p:txBody>
      </p:sp>
      <p:sp>
        <p:nvSpPr>
          <p:cNvPr id="9" name="Shape 7"/>
          <p:cNvSpPr/>
          <p:nvPr/>
        </p:nvSpPr>
        <p:spPr>
          <a:xfrm>
            <a:off x="9267825" y="3923407"/>
            <a:ext cx="7877175" cy="2622054"/>
          </a:xfrm>
          <a:prstGeom prst="roundRect">
            <a:avLst>
              <a:gd name="adj" fmla="val 7265"/>
            </a:avLst>
          </a:prstGeom>
          <a:solidFill>
            <a:srgbClr val="0A4A31"/>
          </a:solidFill>
          <a:ln/>
        </p:spPr>
        <p:txBody>
          <a:bodyPr/>
          <a:lstStyle/>
          <a:p>
            <a:endParaRPr lang="en-US"/>
          </a:p>
        </p:txBody>
      </p:sp>
      <p:sp>
        <p:nvSpPr>
          <p:cNvPr id="10" name="Text 8"/>
          <p:cNvSpPr/>
          <p:nvPr/>
        </p:nvSpPr>
        <p:spPr>
          <a:xfrm>
            <a:off x="9705975" y="4342507"/>
            <a:ext cx="7700963"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In Jira</a:t>
            </a:r>
            <a:endParaRPr lang="en-US" sz="1950" dirty="0"/>
          </a:p>
        </p:txBody>
      </p:sp>
      <p:sp>
        <p:nvSpPr>
          <p:cNvPr id="11" name="Text 9"/>
          <p:cNvSpPr/>
          <p:nvPr/>
        </p:nvSpPr>
        <p:spPr>
          <a:xfrm>
            <a:off x="9705975" y="4804470"/>
            <a:ext cx="7700963" cy="472380"/>
          </a:xfrm>
          <a:prstGeom prst="rect">
            <a:avLst/>
          </a:prstGeom>
          <a:noFill/>
          <a:ln/>
        </p:spPr>
        <p:txBody>
          <a:bodyPr wrap="square" lIns="25400" tIns="25400" rIns="25400" bIns="25400" rtlCol="0" anchor="t">
            <a:normAutofit/>
          </a:bodyPr>
          <a:lstStyle/>
          <a:p>
            <a:pPr marL="0" indent="0" algn="l">
              <a:lnSpc>
                <a:spcPct val="120000"/>
              </a:lnSpc>
              <a:buNone/>
            </a:pPr>
            <a:r>
              <a:rPr lang="en-US" sz="2850" b="1" dirty="0">
                <a:solidFill>
                  <a:srgbClr val="FFFFFF"/>
                </a:solidFill>
                <a:latin typeface="Inter" pitchFamily="34" charset="0"/>
                <a:ea typeface="Inter" pitchFamily="34" charset="-122"/>
                <a:cs typeface="Inter" pitchFamily="34" charset="-120"/>
              </a:rPr>
              <a:t>Tickets that don't bounce</a:t>
            </a:r>
            <a:endParaRPr lang="en-US" sz="2850" dirty="0"/>
          </a:p>
        </p:txBody>
      </p:sp>
      <p:sp>
        <p:nvSpPr>
          <p:cNvPr id="12" name="Text 10"/>
          <p:cNvSpPr/>
          <p:nvPr/>
        </p:nvSpPr>
        <p:spPr>
          <a:xfrm>
            <a:off x="9705975" y="5372100"/>
            <a:ext cx="7210901" cy="79236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CFE2D8"/>
                </a:solidFill>
                <a:latin typeface="Inter" pitchFamily="34" charset="0"/>
                <a:ea typeface="Inter" pitchFamily="34" charset="-122"/>
                <a:cs typeface="Inter" pitchFamily="34" charset="-120"/>
              </a:rPr>
              <a:t>Clear description, acceptance criteria, linked work — not a one-line stub. Cleaner sprints.</a:t>
            </a:r>
            <a:endParaRPr lang="en-US" sz="2250" dirty="0"/>
          </a:p>
        </p:txBody>
      </p:sp>
      <p:sp>
        <p:nvSpPr>
          <p:cNvPr id="13" name="Shape 11"/>
          <p:cNvSpPr/>
          <p:nvPr/>
        </p:nvSpPr>
        <p:spPr>
          <a:xfrm>
            <a:off x="1143000" y="6926461"/>
            <a:ext cx="16002000" cy="1459111"/>
          </a:xfrm>
          <a:prstGeom prst="roundRect">
            <a:avLst>
              <a:gd name="adj" fmla="val 10445"/>
            </a:avLst>
          </a:prstGeom>
          <a:solidFill>
            <a:srgbClr val="FFFFFF">
              <a:alpha val="8000"/>
            </a:srgbClr>
          </a:solidFill>
          <a:ln w="9525">
            <a:solidFill>
              <a:srgbClr val="9EC5B3">
                <a:alpha val="28000"/>
              </a:srgbClr>
            </a:solidFill>
            <a:prstDash val="solid"/>
          </a:ln>
        </p:spPr>
        <p:txBody>
          <a:bodyPr/>
          <a:lstStyle/>
          <a:p>
            <a:endParaRPr lang="en-US"/>
          </a:p>
        </p:txBody>
      </p:sp>
      <p:sp>
        <p:nvSpPr>
          <p:cNvPr id="14" name="Text 12"/>
          <p:cNvSpPr/>
          <p:nvPr/>
        </p:nvSpPr>
        <p:spPr>
          <a:xfrm>
            <a:off x="1514475" y="7202686"/>
            <a:ext cx="15739110" cy="9447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550" dirty="0">
                <a:solidFill>
                  <a:srgbClr val="FFFFFF"/>
                </a:solidFill>
                <a:latin typeface="Inter" pitchFamily="34" charset="0"/>
                <a:ea typeface="Inter" pitchFamily="34" charset="-122"/>
              </a:rPr>
              <a:t>We already pay for Rovo and under-use it — </a:t>
            </a:r>
            <a:r>
              <a:rPr lang="en-US" sz="2550" b="1" dirty="0">
                <a:solidFill>
                  <a:srgbClr val="FFFFFF"/>
                </a:solidFill>
                <a:latin typeface="Inter" pitchFamily="34" charset="0"/>
                <a:ea typeface="Inter" pitchFamily="34" charset="-122"/>
              </a:rPr>
              <a:t>make it the default </a:t>
            </a:r>
            <a:r>
              <a:rPr lang="en-US" sz="2550" dirty="0">
                <a:solidFill>
                  <a:srgbClr val="FFFFFF"/>
                </a:solidFill>
                <a:latin typeface="Inter" pitchFamily="34" charset="0"/>
                <a:ea typeface="Inter" pitchFamily="34" charset="-122"/>
              </a:rPr>
              <a:t>for every ticket and page. It drafts, we edit; we don't start from blank.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MAKE IT STICK</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1498320" cy="771079"/>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11" dirty="0">
                <a:solidFill>
                  <a:srgbClr val="003824"/>
                </a:solidFill>
                <a:latin typeface="Inter" pitchFamily="34" charset="0"/>
                <a:ea typeface="Inter" pitchFamily="34" charset="-122"/>
                <a:cs typeface="Inter" pitchFamily="34" charset="-120"/>
              </a:rPr>
              <a:t>Real work — not side of desk.</a:t>
            </a:r>
            <a:endParaRPr lang="en-US" sz="5550" dirty="0"/>
          </a:p>
        </p:txBody>
      </p:sp>
      <p:sp>
        <p:nvSpPr>
          <p:cNvPr id="5" name="Shape 3"/>
          <p:cNvSpPr/>
          <p:nvPr/>
        </p:nvSpPr>
        <p:spPr>
          <a:xfrm>
            <a:off x="1143000" y="3114229"/>
            <a:ext cx="5168875" cy="4759226"/>
          </a:xfrm>
          <a:prstGeom prst="roundRect">
            <a:avLst>
              <a:gd name="adj" fmla="val 4003"/>
            </a:avLst>
          </a:prstGeom>
          <a:solidFill>
            <a:srgbClr val="003824"/>
          </a:solidFill>
          <a:ln/>
        </p:spPr>
        <p:txBody>
          <a:bodyPr/>
          <a:lstStyle/>
          <a:p>
            <a:endParaRPr lang="en-US"/>
          </a:p>
        </p:txBody>
      </p:sp>
      <p:sp>
        <p:nvSpPr>
          <p:cNvPr id="6" name="Text 4"/>
          <p:cNvSpPr/>
          <p:nvPr/>
        </p:nvSpPr>
        <p:spPr>
          <a:xfrm>
            <a:off x="1543050" y="3533329"/>
            <a:ext cx="4805653"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9EC5B3"/>
                </a:solidFill>
                <a:latin typeface="JetBrains Mono" pitchFamily="34" charset="0"/>
                <a:ea typeface="JetBrains Mono" pitchFamily="34" charset="-122"/>
                <a:cs typeface="JetBrains Mono" pitchFamily="34" charset="-120"/>
              </a:rPr>
              <a:t>Ticketed</a:t>
            </a:r>
            <a:endParaRPr lang="en-US" sz="2100" dirty="0"/>
          </a:p>
        </p:txBody>
      </p:sp>
      <p:sp>
        <p:nvSpPr>
          <p:cNvPr id="7" name="Text 5"/>
          <p:cNvSpPr/>
          <p:nvPr/>
        </p:nvSpPr>
        <p:spPr>
          <a:xfrm>
            <a:off x="1543050" y="4057204"/>
            <a:ext cx="4805653" cy="436215"/>
          </a:xfrm>
          <a:prstGeom prst="rect">
            <a:avLst/>
          </a:prstGeom>
          <a:noFill/>
          <a:ln/>
        </p:spPr>
        <p:txBody>
          <a:bodyPr wrap="square" lIns="25400" tIns="25400" rIns="25400" bIns="25400" rtlCol="0" anchor="t">
            <a:normAutofit/>
          </a:bodyPr>
          <a:lstStyle/>
          <a:p>
            <a:pPr marL="0" indent="0" algn="l">
              <a:lnSpc>
                <a:spcPct val="110000"/>
              </a:lnSpc>
              <a:buNone/>
            </a:pPr>
            <a:r>
              <a:rPr lang="en-US" sz="2850" b="1" dirty="0">
                <a:solidFill>
                  <a:srgbClr val="FFFFFF"/>
                </a:solidFill>
                <a:latin typeface="Inter" pitchFamily="34" charset="0"/>
                <a:ea typeface="Inter" pitchFamily="34" charset="-122"/>
                <a:cs typeface="Inter" pitchFamily="34" charset="-120"/>
              </a:rPr>
              <a:t>In sprints, in Jira</a:t>
            </a:r>
            <a:endParaRPr lang="en-US" sz="2850" dirty="0"/>
          </a:p>
        </p:txBody>
      </p:sp>
      <p:sp>
        <p:nvSpPr>
          <p:cNvPr id="8" name="Text 6"/>
          <p:cNvSpPr/>
          <p:nvPr/>
        </p:nvSpPr>
        <p:spPr>
          <a:xfrm>
            <a:off x="1543050" y="4607719"/>
            <a:ext cx="4499838" cy="1169491"/>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CFE2D8"/>
                </a:solidFill>
                <a:latin typeface="Inter" pitchFamily="34" charset="0"/>
                <a:ea typeface="Inter" pitchFamily="34" charset="-122"/>
                <a:cs typeface="Inter" pitchFamily="34" charset="-120"/>
              </a:rPr>
              <a:t>Pulled in like feature work. If it isn't a ticket, it doesn't exist — no best-effort afternoons.</a:t>
            </a:r>
            <a:endParaRPr lang="en-US" sz="2250" dirty="0"/>
          </a:p>
        </p:txBody>
      </p:sp>
      <p:sp>
        <p:nvSpPr>
          <p:cNvPr id="9" name="Shape 7"/>
          <p:cNvSpPr/>
          <p:nvPr/>
        </p:nvSpPr>
        <p:spPr>
          <a:xfrm>
            <a:off x="6559525" y="3114229"/>
            <a:ext cx="5168875" cy="4759226"/>
          </a:xfrm>
          <a:prstGeom prst="roundRect">
            <a:avLst>
              <a:gd name="adj" fmla="val 4003"/>
            </a:avLst>
          </a:prstGeom>
          <a:solidFill>
            <a:srgbClr val="F3F8F5"/>
          </a:solidFill>
          <a:ln w="9525">
            <a:solidFill>
              <a:srgbClr val="E6F1EC"/>
            </a:solidFill>
            <a:prstDash val="solid"/>
          </a:ln>
        </p:spPr>
        <p:txBody>
          <a:bodyPr/>
          <a:lstStyle/>
          <a:p>
            <a:endParaRPr lang="en-US"/>
          </a:p>
        </p:txBody>
      </p:sp>
      <p:sp>
        <p:nvSpPr>
          <p:cNvPr id="10" name="Text 8"/>
          <p:cNvSpPr/>
          <p:nvPr/>
        </p:nvSpPr>
        <p:spPr>
          <a:xfrm>
            <a:off x="6969100" y="3542854"/>
            <a:ext cx="4784698"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JetBrains Mono" pitchFamily="34" charset="0"/>
                <a:ea typeface="JetBrains Mono" pitchFamily="34" charset="-122"/>
                <a:cs typeface="JetBrains Mono" pitchFamily="34" charset="-120"/>
              </a:rPr>
              <a:t>Enabling teams</a:t>
            </a:r>
            <a:endParaRPr lang="en-US" sz="2100" dirty="0"/>
          </a:p>
        </p:txBody>
      </p:sp>
      <p:sp>
        <p:nvSpPr>
          <p:cNvPr id="11" name="Text 9"/>
          <p:cNvSpPr/>
          <p:nvPr/>
        </p:nvSpPr>
        <p:spPr>
          <a:xfrm>
            <a:off x="6969100" y="4066729"/>
            <a:ext cx="4784698" cy="436215"/>
          </a:xfrm>
          <a:prstGeom prst="rect">
            <a:avLst/>
          </a:prstGeom>
          <a:noFill/>
          <a:ln/>
        </p:spPr>
        <p:txBody>
          <a:bodyPr wrap="square" lIns="25400" tIns="25400" rIns="25400" bIns="25400" rtlCol="0" anchor="t">
            <a:normAutofit/>
          </a:bodyPr>
          <a:lstStyle/>
          <a:p>
            <a:pPr marL="0" indent="0" algn="l">
              <a:lnSpc>
                <a:spcPct val="110000"/>
              </a:lnSpc>
              <a:buNone/>
            </a:pPr>
            <a:r>
              <a:rPr lang="en-US" sz="2850" b="1" dirty="0">
                <a:solidFill>
                  <a:srgbClr val="003824"/>
                </a:solidFill>
                <a:latin typeface="Inter" pitchFamily="34" charset="0"/>
                <a:ea typeface="Inter" pitchFamily="34" charset="-122"/>
                <a:cs typeface="Inter" pitchFamily="34" charset="-120"/>
              </a:rPr>
              <a:t>Build the paved road</a:t>
            </a:r>
            <a:endParaRPr lang="en-US" sz="2850" dirty="0"/>
          </a:p>
        </p:txBody>
      </p:sp>
      <p:sp>
        <p:nvSpPr>
          <p:cNvPr id="12" name="Text 10"/>
          <p:cNvSpPr/>
          <p:nvPr/>
        </p:nvSpPr>
        <p:spPr>
          <a:xfrm>
            <a:off x="6969100" y="4617244"/>
            <a:ext cx="4480217" cy="1546622"/>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3B4A44"/>
                </a:solidFill>
                <a:latin typeface="Inter" pitchFamily="34" charset="0"/>
                <a:ea typeface="Inter" pitchFamily="34" charset="-122"/>
                <a:cs typeface="Inter" pitchFamily="34" charset="-120"/>
              </a:rPr>
              <a:t>They ship the templates, catalogue and scaffolds so adopting is easy. No team invents this alone.</a:t>
            </a:r>
            <a:endParaRPr lang="en-US" sz="2250" dirty="0"/>
          </a:p>
        </p:txBody>
      </p:sp>
      <p:sp>
        <p:nvSpPr>
          <p:cNvPr id="13" name="Shape 11"/>
          <p:cNvSpPr/>
          <p:nvPr/>
        </p:nvSpPr>
        <p:spPr>
          <a:xfrm>
            <a:off x="11976050" y="3114229"/>
            <a:ext cx="5168950" cy="4759226"/>
          </a:xfrm>
          <a:prstGeom prst="roundRect">
            <a:avLst>
              <a:gd name="adj" fmla="val 4003"/>
            </a:avLst>
          </a:prstGeom>
          <a:solidFill>
            <a:srgbClr val="F3F8F5"/>
          </a:solidFill>
          <a:ln w="9525">
            <a:solidFill>
              <a:srgbClr val="E6F1EC"/>
            </a:solidFill>
            <a:prstDash val="solid"/>
          </a:ln>
        </p:spPr>
        <p:txBody>
          <a:bodyPr/>
          <a:lstStyle/>
          <a:p>
            <a:endParaRPr lang="en-US"/>
          </a:p>
        </p:txBody>
      </p:sp>
      <p:sp>
        <p:nvSpPr>
          <p:cNvPr id="14" name="Text 12"/>
          <p:cNvSpPr/>
          <p:nvPr/>
        </p:nvSpPr>
        <p:spPr>
          <a:xfrm>
            <a:off x="12385625" y="3542854"/>
            <a:ext cx="478478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JetBrains Mono" pitchFamily="34" charset="0"/>
                <a:ea typeface="JetBrains Mono" pitchFamily="34" charset="-122"/>
                <a:cs typeface="JetBrains Mono" pitchFamily="34" charset="-120"/>
              </a:rPr>
              <a:t>Coordinator</a:t>
            </a:r>
            <a:endParaRPr lang="en-US" sz="2100" dirty="0"/>
          </a:p>
        </p:txBody>
      </p:sp>
      <p:sp>
        <p:nvSpPr>
          <p:cNvPr id="15" name="Text 13"/>
          <p:cNvSpPr/>
          <p:nvPr/>
        </p:nvSpPr>
        <p:spPr>
          <a:xfrm>
            <a:off x="12385625" y="4066729"/>
            <a:ext cx="4784780" cy="436215"/>
          </a:xfrm>
          <a:prstGeom prst="rect">
            <a:avLst/>
          </a:prstGeom>
          <a:noFill/>
          <a:ln/>
        </p:spPr>
        <p:txBody>
          <a:bodyPr wrap="square" lIns="25400" tIns="25400" rIns="25400" bIns="25400" rtlCol="0" anchor="t">
            <a:normAutofit/>
          </a:bodyPr>
          <a:lstStyle/>
          <a:p>
            <a:pPr marL="0" indent="0" algn="l">
              <a:lnSpc>
                <a:spcPct val="110000"/>
              </a:lnSpc>
              <a:buNone/>
            </a:pPr>
            <a:r>
              <a:rPr lang="en-US" sz="2850" b="1" dirty="0">
                <a:solidFill>
                  <a:srgbClr val="003824"/>
                </a:solidFill>
                <a:latin typeface="Inter" pitchFamily="34" charset="0"/>
                <a:ea typeface="Inter" pitchFamily="34" charset="-122"/>
                <a:cs typeface="Inter" pitchFamily="34" charset="-120"/>
              </a:rPr>
              <a:t>One thread-holder</a:t>
            </a:r>
            <a:endParaRPr lang="en-US" sz="2850" dirty="0"/>
          </a:p>
        </p:txBody>
      </p:sp>
      <p:sp>
        <p:nvSpPr>
          <p:cNvPr id="16" name="Text 14"/>
          <p:cNvSpPr/>
          <p:nvPr/>
        </p:nvSpPr>
        <p:spPr>
          <a:xfrm>
            <a:off x="12385625" y="4617244"/>
            <a:ext cx="4480294" cy="1546622"/>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3B4A44"/>
                </a:solidFill>
                <a:latin typeface="Inter" pitchFamily="34" charset="0"/>
                <a:ea typeface="Inter" pitchFamily="34" charset="-122"/>
                <a:cs typeface="Inter" pitchFamily="34" charset="-120"/>
              </a:rPr>
              <a:t>A light lab lead keeps the backlog visible, unblocks and reports. A coordinator, not a committee.</a:t>
            </a:r>
            <a:endParaRPr lang="en-US" sz="2250" dirty="0"/>
          </a:p>
        </p:txBody>
      </p:sp>
      <p:sp>
        <p:nvSpPr>
          <p:cNvPr id="17" name="Shape 15"/>
          <p:cNvSpPr/>
          <p:nvPr/>
        </p:nvSpPr>
        <p:spPr>
          <a:xfrm>
            <a:off x="1143000" y="8121104"/>
            <a:ext cx="16002000" cy="1213396"/>
          </a:xfrm>
          <a:prstGeom prst="roundRect">
            <a:avLst>
              <a:gd name="adj" fmla="val 14130"/>
            </a:avLst>
          </a:prstGeom>
          <a:solidFill>
            <a:srgbClr val="9EC5B3"/>
          </a:solidFill>
          <a:ln/>
        </p:spPr>
        <p:txBody>
          <a:bodyPr/>
          <a:lstStyle/>
          <a:p>
            <a:endParaRPr lang="en-US"/>
          </a:p>
        </p:txBody>
      </p:sp>
      <p:sp>
        <p:nvSpPr>
          <p:cNvPr id="18" name="Text 16"/>
          <p:cNvSpPr/>
          <p:nvPr/>
        </p:nvSpPr>
        <p:spPr>
          <a:xfrm>
            <a:off x="1524000" y="8539683"/>
            <a:ext cx="3017520" cy="414338"/>
          </a:xfrm>
          <a:prstGeom prst="rect">
            <a:avLst/>
          </a:prstGeom>
          <a:noFill/>
          <a:ln/>
        </p:spPr>
        <p:txBody>
          <a:bodyPr wrap="none" lIns="25400" tIns="25400" rIns="25400" bIns="25400" rtlCol="0" anchor="t">
            <a:normAutofit/>
          </a:bodyPr>
          <a:lstStyle/>
          <a:p>
            <a:pPr marL="0" indent="0" algn="l">
              <a:buNone/>
            </a:pPr>
            <a:r>
              <a:rPr lang="en-US" sz="2250" b="1" dirty="0">
                <a:solidFill>
                  <a:srgbClr val="003824"/>
                </a:solidFill>
                <a:latin typeface="JetBrains Mono" pitchFamily="34" charset="0"/>
                <a:ea typeface="JetBrains Mono" pitchFamily="34" charset="-122"/>
                <a:cs typeface="JetBrains Mono" pitchFamily="34" charset="-120"/>
              </a:rPr>
              <a:t>Confluence space</a:t>
            </a:r>
            <a:endParaRPr lang="en-US" sz="2250" dirty="0"/>
          </a:p>
        </p:txBody>
      </p:sp>
      <p:sp>
        <p:nvSpPr>
          <p:cNvPr id="19" name="Text 17"/>
          <p:cNvSpPr/>
          <p:nvPr/>
        </p:nvSpPr>
        <p:spPr>
          <a:xfrm>
            <a:off x="4610100" y="8368754"/>
            <a:ext cx="12518517" cy="756196"/>
          </a:xfrm>
          <a:prstGeom prst="rect">
            <a:avLst/>
          </a:prstGeom>
          <a:noFill/>
          <a:ln/>
        </p:spPr>
        <p:txBody>
          <a:bodyPr wrap="square" lIns="25400" tIns="25400" rIns="25400" bIns="25400" rtlCol="0" anchor="t">
            <a:normAutofit/>
          </a:bodyPr>
          <a:lstStyle/>
          <a:p>
            <a:pPr marL="0" indent="0" algn="l">
              <a:lnSpc>
                <a:spcPct val="130000"/>
              </a:lnSpc>
              <a:buNone/>
            </a:pPr>
            <a:r>
              <a:rPr lang="en-US" sz="2175" dirty="0">
                <a:solidFill>
                  <a:srgbClr val="003824"/>
                </a:solidFill>
                <a:latin typeface="Inter" pitchFamily="34" charset="0"/>
                <a:ea typeface="Inter" pitchFamily="34" charset="-122"/>
                <a:cs typeface="Inter" pitchFamily="34" charset="-120"/>
              </a:rPr>
              <a:t>One home to capture learnings, patterns and playbooks as we go — so each win is written down and the whole approach is reproducible, not relearned by every team.</a:t>
            </a:r>
            <a:endParaRPr lang="en-US" sz="21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3824">
                  <a:alpha val="100000"/>
                </a:srgbClr>
              </a:gs>
              <a:gs pos="100000">
                <a:srgbClr val="006A4D">
                  <a:alpha val="100000"/>
                </a:srgbClr>
              </a:gs>
            </a:gsLst>
            <a:lin ang="2700000" scaled="0"/>
          </a:gradFill>
          <a:ln/>
        </p:spPr>
        <p:txBody>
          <a:bodyPr/>
          <a:lstStyle/>
          <a:p>
            <a:endParaRPr lang="en-US"/>
          </a:p>
        </p:txBody>
      </p:sp>
      <p:sp>
        <p:nvSpPr>
          <p:cNvPr id="3" name="Text 1"/>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WHAT "DONE" LOOKS LIKE</a:t>
            </a:r>
            <a:endParaRPr lang="en-US" sz="2100" dirty="0"/>
          </a:p>
        </p:txBody>
      </p:sp>
      <p:sp>
        <p:nvSpPr>
          <p:cNvPr id="4" name="Shape 2"/>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5" name="Text 3"/>
          <p:cNvSpPr/>
          <p:nvPr/>
        </p:nvSpPr>
        <p:spPr>
          <a:xfrm>
            <a:off x="1143000" y="2000250"/>
            <a:ext cx="11809125" cy="783654"/>
          </a:xfrm>
          <a:prstGeom prst="rect">
            <a:avLst/>
          </a:prstGeom>
          <a:noFill/>
          <a:ln/>
        </p:spPr>
        <p:txBody>
          <a:bodyPr wrap="square" lIns="25400" tIns="25400" rIns="25400" bIns="25400" rtlCol="0" anchor="t">
            <a:normAutofit/>
          </a:bodyPr>
          <a:lstStyle/>
          <a:p>
            <a:pPr marL="0" indent="0" algn="l">
              <a:lnSpc>
                <a:spcPct val="103000"/>
              </a:lnSpc>
              <a:buNone/>
            </a:pPr>
            <a:r>
              <a:rPr lang="en-US" sz="5700" b="1" kern="0" spc="-114" dirty="0">
                <a:solidFill>
                  <a:srgbClr val="FFFFFF"/>
                </a:solidFill>
                <a:latin typeface="Inter" pitchFamily="34" charset="0"/>
                <a:ea typeface="Inter" pitchFamily="34" charset="-122"/>
                <a:cs typeface="Inter" pitchFamily="34" charset="-120"/>
              </a:rPr>
              <a:t>A lab that makes its own space.</a:t>
            </a:r>
            <a:endParaRPr lang="en-US" sz="5700" dirty="0"/>
          </a:p>
        </p:txBody>
      </p:sp>
      <p:sp>
        <p:nvSpPr>
          <p:cNvPr id="6" name="Shape 4"/>
          <p:cNvSpPr/>
          <p:nvPr/>
        </p:nvSpPr>
        <p:spPr>
          <a:xfrm>
            <a:off x="1143000" y="4160267"/>
            <a:ext cx="7772400" cy="9525"/>
          </a:xfrm>
          <a:prstGeom prst="rect">
            <a:avLst/>
          </a:prstGeom>
          <a:solidFill>
            <a:srgbClr val="9EC5B3">
              <a:alpha val="28000"/>
            </a:srgbClr>
          </a:solidFill>
          <a:ln/>
        </p:spPr>
        <p:txBody>
          <a:bodyPr/>
          <a:lstStyle/>
          <a:p>
            <a:endParaRPr lang="en-US"/>
          </a:p>
        </p:txBody>
      </p:sp>
      <p:sp>
        <p:nvSpPr>
          <p:cNvPr id="7" name="Text 5"/>
          <p:cNvSpPr/>
          <p:nvPr/>
        </p:nvSpPr>
        <p:spPr>
          <a:xfrm>
            <a:off x="1143000" y="3222054"/>
            <a:ext cx="248245" cy="414338"/>
          </a:xfrm>
          <a:prstGeom prst="rect">
            <a:avLst/>
          </a:prstGeom>
          <a:noFill/>
          <a:ln/>
        </p:spPr>
        <p:txBody>
          <a:bodyPr wrap="square" lIns="25400" tIns="25400" rIns="25400" bIns="25400" rtlCol="0" anchor="t">
            <a:normAutofit/>
          </a:bodyPr>
          <a:lstStyle/>
          <a:p>
            <a:pPr marL="0" indent="0" algn="l">
              <a:buNone/>
            </a:pPr>
            <a:r>
              <a:rPr lang="en-US" sz="2250" dirty="0">
                <a:solidFill>
                  <a:srgbClr val="9EC5B3"/>
                </a:solidFill>
                <a:latin typeface="JetBrains Mono" pitchFamily="34" charset="0"/>
                <a:ea typeface="JetBrains Mono" pitchFamily="34" charset="-122"/>
                <a:cs typeface="JetBrains Mono" pitchFamily="34" charset="-120"/>
              </a:rPr>
              <a:t>✓</a:t>
            </a:r>
            <a:endParaRPr lang="en-US" sz="2250" dirty="0"/>
          </a:p>
        </p:txBody>
      </p:sp>
      <p:sp>
        <p:nvSpPr>
          <p:cNvPr id="8" name="Text 6"/>
          <p:cNvSpPr/>
          <p:nvPr/>
        </p:nvSpPr>
        <p:spPr>
          <a:xfrm>
            <a:off x="1505545" y="3203004"/>
            <a:ext cx="7632150" cy="823913"/>
          </a:xfrm>
          <a:prstGeom prst="rect">
            <a:avLst/>
          </a:prstGeom>
          <a:noFill/>
          <a:ln/>
        </p:spPr>
        <p:txBody>
          <a:bodyPr wrap="square" lIns="25400" tIns="25400" rIns="25400" bIns="25400" rtlCol="0" anchor="t">
            <a:normAutofit/>
          </a:bodyPr>
          <a:lstStyle/>
          <a:p>
            <a:pPr marL="0" indent="0" algn="l">
              <a:lnSpc>
                <a:spcPct val="125000"/>
              </a:lnSpc>
              <a:buNone/>
            </a:pPr>
            <a:r>
              <a:rPr lang="en-US" sz="2475" dirty="0">
                <a:solidFill>
                  <a:srgbClr val="EAF4EF"/>
                </a:solidFill>
                <a:latin typeface="Inter" pitchFamily="34" charset="0"/>
                <a:ea typeface="Inter" pitchFamily="34" charset="-122"/>
                <a:cs typeface="Inter" pitchFamily="34" charset="-120"/>
              </a:rPr>
              <a:t>A fixed slice of every change reserved for automation &amp; debt</a:t>
            </a:r>
            <a:endParaRPr lang="en-US" sz="2475" dirty="0"/>
          </a:p>
        </p:txBody>
      </p:sp>
      <p:sp>
        <p:nvSpPr>
          <p:cNvPr id="9" name="Shape 7"/>
          <p:cNvSpPr/>
          <p:nvPr/>
        </p:nvSpPr>
        <p:spPr>
          <a:xfrm>
            <a:off x="9372600" y="4160267"/>
            <a:ext cx="7772400" cy="9525"/>
          </a:xfrm>
          <a:prstGeom prst="rect">
            <a:avLst/>
          </a:prstGeom>
          <a:solidFill>
            <a:srgbClr val="9EC5B3">
              <a:alpha val="28000"/>
            </a:srgbClr>
          </a:solidFill>
          <a:ln/>
        </p:spPr>
        <p:txBody>
          <a:bodyPr/>
          <a:lstStyle/>
          <a:p>
            <a:endParaRPr lang="en-US"/>
          </a:p>
        </p:txBody>
      </p:sp>
      <p:sp>
        <p:nvSpPr>
          <p:cNvPr id="10" name="Text 8"/>
          <p:cNvSpPr/>
          <p:nvPr/>
        </p:nvSpPr>
        <p:spPr>
          <a:xfrm>
            <a:off x="9372600" y="3222054"/>
            <a:ext cx="248245" cy="414338"/>
          </a:xfrm>
          <a:prstGeom prst="rect">
            <a:avLst/>
          </a:prstGeom>
          <a:noFill/>
          <a:ln/>
        </p:spPr>
        <p:txBody>
          <a:bodyPr wrap="square" lIns="25400" tIns="25400" rIns="25400" bIns="25400" rtlCol="0" anchor="t">
            <a:normAutofit/>
          </a:bodyPr>
          <a:lstStyle/>
          <a:p>
            <a:pPr marL="0" indent="0" algn="l">
              <a:buNone/>
            </a:pPr>
            <a:r>
              <a:rPr lang="en-US" sz="2250" dirty="0">
                <a:solidFill>
                  <a:srgbClr val="9EC5B3"/>
                </a:solidFill>
                <a:latin typeface="JetBrains Mono" pitchFamily="34" charset="0"/>
                <a:ea typeface="JetBrains Mono" pitchFamily="34" charset="-122"/>
                <a:cs typeface="JetBrains Mono" pitchFamily="34" charset="-120"/>
              </a:rPr>
              <a:t>✓</a:t>
            </a:r>
            <a:endParaRPr lang="en-US" sz="2250" dirty="0"/>
          </a:p>
        </p:txBody>
      </p:sp>
      <p:sp>
        <p:nvSpPr>
          <p:cNvPr id="11" name="Text 9"/>
          <p:cNvSpPr/>
          <p:nvPr/>
        </p:nvSpPr>
        <p:spPr>
          <a:xfrm>
            <a:off x="9735145" y="3203004"/>
            <a:ext cx="7632150" cy="823913"/>
          </a:xfrm>
          <a:prstGeom prst="rect">
            <a:avLst/>
          </a:prstGeom>
          <a:noFill/>
          <a:ln/>
        </p:spPr>
        <p:txBody>
          <a:bodyPr wrap="square" lIns="25400" tIns="25400" rIns="25400" bIns="25400" rtlCol="0" anchor="t">
            <a:normAutofit/>
          </a:bodyPr>
          <a:lstStyle/>
          <a:p>
            <a:pPr marL="0" indent="0" algn="l">
              <a:lnSpc>
                <a:spcPct val="125000"/>
              </a:lnSpc>
              <a:buNone/>
            </a:pPr>
            <a:r>
              <a:rPr lang="en-US" sz="2475" dirty="0">
                <a:solidFill>
                  <a:srgbClr val="EAF4EF"/>
                </a:solidFill>
                <a:latin typeface="Inter" pitchFamily="34" charset="0"/>
                <a:ea typeface="Inter" pitchFamily="34" charset="-122"/>
                <a:cs typeface="Inter" pitchFamily="34" charset="-120"/>
              </a:rPr>
              <a:t>One paved road — Harness · Backstage · Terraform</a:t>
            </a:r>
            <a:endParaRPr lang="en-US" sz="2475" dirty="0"/>
          </a:p>
        </p:txBody>
      </p:sp>
      <p:sp>
        <p:nvSpPr>
          <p:cNvPr id="12" name="Shape 10"/>
          <p:cNvSpPr/>
          <p:nvPr/>
        </p:nvSpPr>
        <p:spPr>
          <a:xfrm>
            <a:off x="1143000" y="5317554"/>
            <a:ext cx="7772400" cy="9525"/>
          </a:xfrm>
          <a:prstGeom prst="rect">
            <a:avLst/>
          </a:prstGeom>
          <a:solidFill>
            <a:srgbClr val="9EC5B3">
              <a:alpha val="28000"/>
            </a:srgbClr>
          </a:solidFill>
          <a:ln/>
        </p:spPr>
        <p:txBody>
          <a:bodyPr/>
          <a:lstStyle/>
          <a:p>
            <a:endParaRPr lang="en-US"/>
          </a:p>
        </p:txBody>
      </p:sp>
      <p:sp>
        <p:nvSpPr>
          <p:cNvPr id="13" name="Text 11"/>
          <p:cNvSpPr/>
          <p:nvPr/>
        </p:nvSpPr>
        <p:spPr>
          <a:xfrm>
            <a:off x="1143000" y="4379342"/>
            <a:ext cx="248245" cy="414338"/>
          </a:xfrm>
          <a:prstGeom prst="rect">
            <a:avLst/>
          </a:prstGeom>
          <a:noFill/>
          <a:ln/>
        </p:spPr>
        <p:txBody>
          <a:bodyPr wrap="square" lIns="25400" tIns="25400" rIns="25400" bIns="25400" rtlCol="0" anchor="t">
            <a:normAutofit/>
          </a:bodyPr>
          <a:lstStyle/>
          <a:p>
            <a:pPr marL="0" indent="0" algn="l">
              <a:buNone/>
            </a:pPr>
            <a:r>
              <a:rPr lang="en-US" sz="2250" dirty="0">
                <a:solidFill>
                  <a:srgbClr val="9EC5B3"/>
                </a:solidFill>
                <a:latin typeface="JetBrains Mono" pitchFamily="34" charset="0"/>
                <a:ea typeface="JetBrains Mono" pitchFamily="34" charset="-122"/>
                <a:cs typeface="JetBrains Mono" pitchFamily="34" charset="-120"/>
              </a:rPr>
              <a:t>✓</a:t>
            </a:r>
            <a:endParaRPr lang="en-US" sz="2250" dirty="0"/>
          </a:p>
        </p:txBody>
      </p:sp>
      <p:sp>
        <p:nvSpPr>
          <p:cNvPr id="14" name="Text 12"/>
          <p:cNvSpPr/>
          <p:nvPr/>
        </p:nvSpPr>
        <p:spPr>
          <a:xfrm>
            <a:off x="1505545" y="4360292"/>
            <a:ext cx="7632150" cy="823913"/>
          </a:xfrm>
          <a:prstGeom prst="rect">
            <a:avLst/>
          </a:prstGeom>
          <a:noFill/>
          <a:ln/>
        </p:spPr>
        <p:txBody>
          <a:bodyPr wrap="square" lIns="25400" tIns="25400" rIns="25400" bIns="25400" rtlCol="0" anchor="t">
            <a:normAutofit/>
          </a:bodyPr>
          <a:lstStyle/>
          <a:p>
            <a:pPr marL="0" indent="0" algn="l">
              <a:lnSpc>
                <a:spcPct val="125000"/>
              </a:lnSpc>
              <a:buNone/>
            </a:pPr>
            <a:r>
              <a:rPr lang="en-US" sz="2475" dirty="0">
                <a:solidFill>
                  <a:srgbClr val="EAF4EF"/>
                </a:solidFill>
                <a:latin typeface="Inter" pitchFamily="34" charset="0"/>
                <a:ea typeface="Inter" pitchFamily="34" charset="-122"/>
                <a:cs typeface="Inter" pitchFamily="34" charset="-120"/>
              </a:rPr>
              <a:t>Copilot + Superpowers everywhere · AI-first PR review · Rovo in Atlassian</a:t>
            </a:r>
            <a:endParaRPr lang="en-US" sz="2475" dirty="0"/>
          </a:p>
        </p:txBody>
      </p:sp>
      <p:sp>
        <p:nvSpPr>
          <p:cNvPr id="15" name="Shape 13"/>
          <p:cNvSpPr/>
          <p:nvPr/>
        </p:nvSpPr>
        <p:spPr>
          <a:xfrm>
            <a:off x="9372600" y="5317554"/>
            <a:ext cx="7772400" cy="9525"/>
          </a:xfrm>
          <a:prstGeom prst="rect">
            <a:avLst/>
          </a:prstGeom>
          <a:solidFill>
            <a:srgbClr val="9EC5B3">
              <a:alpha val="28000"/>
            </a:srgbClr>
          </a:solidFill>
          <a:ln/>
        </p:spPr>
        <p:txBody>
          <a:bodyPr/>
          <a:lstStyle/>
          <a:p>
            <a:endParaRPr lang="en-US"/>
          </a:p>
        </p:txBody>
      </p:sp>
      <p:sp>
        <p:nvSpPr>
          <p:cNvPr id="16" name="Text 14"/>
          <p:cNvSpPr/>
          <p:nvPr/>
        </p:nvSpPr>
        <p:spPr>
          <a:xfrm>
            <a:off x="9372600" y="4379342"/>
            <a:ext cx="248245" cy="414338"/>
          </a:xfrm>
          <a:prstGeom prst="rect">
            <a:avLst/>
          </a:prstGeom>
          <a:noFill/>
          <a:ln/>
        </p:spPr>
        <p:txBody>
          <a:bodyPr wrap="square" lIns="25400" tIns="25400" rIns="25400" bIns="25400" rtlCol="0" anchor="t">
            <a:normAutofit/>
          </a:bodyPr>
          <a:lstStyle/>
          <a:p>
            <a:pPr marL="0" indent="0" algn="l">
              <a:buNone/>
            </a:pPr>
            <a:r>
              <a:rPr lang="en-US" sz="2250" dirty="0">
                <a:solidFill>
                  <a:srgbClr val="9EC5B3"/>
                </a:solidFill>
                <a:latin typeface="JetBrains Mono" pitchFamily="34" charset="0"/>
                <a:ea typeface="JetBrains Mono" pitchFamily="34" charset="-122"/>
                <a:cs typeface="JetBrains Mono" pitchFamily="34" charset="-120"/>
              </a:rPr>
              <a:t>✓</a:t>
            </a:r>
            <a:endParaRPr lang="en-US" sz="2250" dirty="0"/>
          </a:p>
        </p:txBody>
      </p:sp>
      <p:sp>
        <p:nvSpPr>
          <p:cNvPr id="17" name="Text 15"/>
          <p:cNvSpPr/>
          <p:nvPr/>
        </p:nvSpPr>
        <p:spPr>
          <a:xfrm>
            <a:off x="9735145" y="4360292"/>
            <a:ext cx="7632150" cy="823913"/>
          </a:xfrm>
          <a:prstGeom prst="rect">
            <a:avLst/>
          </a:prstGeom>
          <a:noFill/>
          <a:ln/>
        </p:spPr>
        <p:txBody>
          <a:bodyPr wrap="square" lIns="25400" tIns="25400" rIns="25400" bIns="25400" rtlCol="0" anchor="t">
            <a:normAutofit/>
          </a:bodyPr>
          <a:lstStyle/>
          <a:p>
            <a:pPr marL="0" indent="0" algn="l">
              <a:lnSpc>
                <a:spcPct val="125000"/>
              </a:lnSpc>
              <a:buNone/>
            </a:pPr>
            <a:r>
              <a:rPr lang="en-US" sz="2475" dirty="0">
                <a:solidFill>
                  <a:srgbClr val="EAF4EF"/>
                </a:solidFill>
                <a:latin typeface="Inter" pitchFamily="34" charset="0"/>
                <a:ea typeface="Inter" pitchFamily="34" charset="-122"/>
                <a:cs typeface="Inter" pitchFamily="34" charset="-120"/>
              </a:rPr>
              <a:t>Ticketed in sprints · built by enabling teams · one coordinator</a:t>
            </a:r>
            <a:endParaRPr lang="en-US" sz="2475" dirty="0"/>
          </a:p>
        </p:txBody>
      </p:sp>
      <p:sp>
        <p:nvSpPr>
          <p:cNvPr id="18" name="Text 16"/>
          <p:cNvSpPr/>
          <p:nvPr/>
        </p:nvSpPr>
        <p:spPr>
          <a:xfrm>
            <a:off x="1143000" y="7791450"/>
            <a:ext cx="9116026" cy="15811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FFFFFF"/>
                </a:solidFill>
                <a:latin typeface="Inter" pitchFamily="34" charset="0"/>
                <a:ea typeface="Inter" pitchFamily="34" charset="-122"/>
                <a:cs typeface="Inter" pitchFamily="34" charset="-120"/>
              </a:rPr>
              <a:t>Cheap on their own. Valuable because they compound. </a:t>
            </a:r>
            <a:r>
              <a:rPr lang="en-US" sz="3000" dirty="0">
                <a:solidFill>
                  <a:srgbClr val="9EC5B3"/>
                </a:solidFill>
                <a:latin typeface="Inter" pitchFamily="34" charset="0"/>
                <a:ea typeface="Inter" pitchFamily="34" charset="-122"/>
                <a:cs typeface="Inter" pitchFamily="34" charset="-120"/>
              </a:rPr>
              <a:t>Let's ticket the first quick wins this sprint.</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2609</Words>
  <Application>Microsoft Macintosh PowerPoint</Application>
  <PresentationFormat>Custom</PresentationFormat>
  <Paragraphs>154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Frost</cp:lastModifiedBy>
  <cp:revision>2</cp:revision>
  <dcterms:created xsi:type="dcterms:W3CDTF">2026-07-08T16:55:20Z</dcterms:created>
  <dcterms:modified xsi:type="dcterms:W3CDTF">2026-07-08T16:57:34Z</dcterms:modified>
</cp:coreProperties>
</file>