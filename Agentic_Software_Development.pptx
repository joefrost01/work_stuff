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912"/>
    <p:restoredTop sz="91279"/>
  </p:normalViewPr>
  <p:slideViewPr>
    <p:cSldViewPr snapToGrid="0" snapToObjects="1">
      <p:cViewPr varScale="1">
        <p:scale>
          <a:sx n="77" d="100"/>
          <a:sy n="77" d="100"/>
        </p:scale>
        <p:origin x="224" y="35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8687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number, no throat-clearing. We're now building software at least five times faster than we were. Work that used to take weeks, we turn around in days. Let it sit. Then: I'm going to show you what that actually means, how we make it reliable, and why it matters to a room like this </a:t>
            </a:r>
            <a:r>
              <a:rPr lang="en-US"/>
              <a:t>one - </a:t>
            </a:r>
            <a:r>
              <a:rPr lang="en-US" dirty="0"/>
              <a:t>and it isn't a someday thing, it's how we already 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translation for everyone who isn't an engineer. Most people assume AI coding is fancy </a:t>
            </a:r>
            <a:r>
              <a:rPr lang="en-US"/>
              <a:t>autocomplete - </a:t>
            </a:r>
            <a:r>
              <a:rPr lang="en-US" dirty="0"/>
              <a:t>it finishes the line you're typing. That's not what we're talking about. Agentic means you hand over an </a:t>
            </a:r>
            <a:r>
              <a:rPr lang="en-US"/>
              <a:t>objective - </a:t>
            </a:r>
            <a:r>
              <a:rPr lang="en-US" dirty="0"/>
              <a:t>build this, investigate </a:t>
            </a:r>
            <a:r>
              <a:rPr lang="en-US"/>
              <a:t>that - </a:t>
            </a:r>
            <a:r>
              <a:rPr lang="en-US" dirty="0"/>
              <a:t>and it works out the steps itself: it plans, it does the work, and it checks its own output. You're delegating an outcome, not steering keystroke by keystroke.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pin that to something real. Take a concrete piece of work - building a reporting UI for surveillance research and investigation. The before: about three weeks, one developer, heads down. The after: three days, with us reviewing the work. Same output, same standard, a fraction of the time. Swap in whatever example lands best with your team.  How do I know this?  Because I’m that developer, working on a codebase that I built pre-AI and seeing the gains when implementing new features with agentic development.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this isn't only about writing code, which is the part people fixate on. The agent helps across the whole lifecycle - shaping ideas, analysing an existing codebase, designing, building, reviewing code, and writing the tests. In practice that's GitHub Copilot with the Superpowers plugin doing the heavy lifting across all of it. We also use Copilot for M365 for some analysis work, though not really for coding. The breadth is the point: the gains compound across the work, not just in one slice of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speed isn't luck, and it isn't typing wishes into a box and hoping. Two things make it reliable. First, before any implementation, we have the agent write a detailed spec that we read and approve. Second, it then builds feature by feature, </a:t>
            </a:r>
            <a:r>
              <a:rPr lang="en-US"/>
              <a:t>test-driven - </a:t>
            </a:r>
            <a:r>
              <a:rPr lang="en-US" dirty="0"/>
              <a:t>the test comes first, so every step is verified before it moves to the next. That discipline, backed by the Superpowers techniques running inside Copilot, is why the speed repeats instead of being a lucky one-off.</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there's a second multiplier people miss. When you hand a task to the agent, you're not sitting watching it </a:t>
            </a:r>
            <a:r>
              <a:rPr lang="en-US"/>
              <a:t>type - </a:t>
            </a:r>
            <a:r>
              <a:rPr lang="en-US" dirty="0"/>
              <a:t>you're free. You review the last piece of work, scope the next one, or pick up something else entirely. So one person keeps several streams moving at once. It isn't only that each task is </a:t>
            </a:r>
            <a:r>
              <a:rPr lang="en-US"/>
              <a:t>faster - </a:t>
            </a:r>
            <a:r>
              <a:rPr lang="en-US" dirty="0"/>
              <a:t>it's that more of them are in flight. That's a big part of where the five-times comes from.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pull up from the detail to what it means for this room. The headline isn't that the tool is </a:t>
            </a:r>
            <a:r>
              <a:rPr lang="en-US"/>
              <a:t>clever - </a:t>
            </a:r>
            <a:r>
              <a:rPr lang="en-US" dirty="0"/>
              <a:t>it's what a small team can now do. The right method makes a handful of people several times more </a:t>
            </a:r>
            <a:r>
              <a:rPr lang="en-US"/>
              <a:t>productive - </a:t>
            </a:r>
            <a:r>
              <a:rPr lang="en-US" dirty="0"/>
              <a:t>call it five times, faster on each task and several running at once. And the part I want you to hold onto: this is here now. Not a roadmap, not a pilot for next year. The capability is on the table today, and that's what should change how we plan.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03824"/>
          </a:solidFill>
          <a:ln/>
        </p:spPr>
        <p:txBody>
          <a:bodyPr/>
          <a:lstStyle/>
          <a:p>
            <a:endParaRPr lang="en-US"/>
          </a:p>
        </p:txBody>
      </p:sp>
      <p:pic>
        <p:nvPicPr>
          <p:cNvPr id="12" name="Picture 11">
            <a:extLst>
              <a:ext uri="{FF2B5EF4-FFF2-40B4-BE49-F238E27FC236}">
                <a16:creationId xmlns:a16="http://schemas.microsoft.com/office/drawing/2014/main" id="{E1563256-9156-6F90-7033-71CBB0C1FA20}"/>
              </a:ext>
            </a:extLst>
          </p:cNvPr>
          <p:cNvPicPr>
            <a:picLocks noChangeAspect="1"/>
          </p:cNvPicPr>
          <p:nvPr/>
        </p:nvPicPr>
        <p:blipFill>
          <a:blip r:embed="rId3"/>
          <a:stretch>
            <a:fillRect/>
          </a:stretch>
        </p:blipFill>
        <p:spPr>
          <a:xfrm>
            <a:off x="1" y="0"/>
            <a:ext cx="18288000" cy="10287000"/>
          </a:xfrm>
          <a:prstGeom prst="rect">
            <a:avLst/>
          </a:prstGeom>
        </p:spPr>
      </p:pic>
      <p:sp>
        <p:nvSpPr>
          <p:cNvPr id="3" name="Text 1"/>
          <p:cNvSpPr/>
          <p:nvPr/>
        </p:nvSpPr>
        <p:spPr>
          <a:xfrm>
            <a:off x="1143000" y="1047750"/>
            <a:ext cx="16482060" cy="390525"/>
          </a:xfrm>
          <a:prstGeom prst="rect">
            <a:avLst/>
          </a:prstGeom>
          <a:noFill/>
          <a:ln/>
        </p:spPr>
        <p:txBody>
          <a:bodyPr wrap="square" lIns="25400" tIns="25400" rIns="25400" bIns="25400" rtlCol="0" anchor="t">
            <a:normAutofit/>
          </a:bodyPr>
          <a:lstStyle/>
          <a:p>
            <a:pPr marL="0" indent="0" algn="l">
              <a:buNone/>
            </a:pPr>
            <a:r>
              <a:rPr lang="en-US" sz="2100" kern="0" spc="378" dirty="0">
                <a:solidFill>
                  <a:srgbClr val="9EC5B3"/>
                </a:solidFill>
                <a:latin typeface="JetBrains Mono" pitchFamily="34" charset="0"/>
                <a:ea typeface="JetBrains Mono" pitchFamily="34" charset="-122"/>
                <a:cs typeface="JetBrains Mono" pitchFamily="34" charset="-120"/>
              </a:rPr>
              <a:t>AGENTIC SOFTWARE DEVELOPMENT</a:t>
            </a:r>
            <a:endParaRPr lang="en-US" sz="2100" dirty="0"/>
          </a:p>
        </p:txBody>
      </p:sp>
      <p:sp>
        <p:nvSpPr>
          <p:cNvPr id="4" name="Text 2"/>
          <p:cNvSpPr/>
          <p:nvPr/>
        </p:nvSpPr>
        <p:spPr>
          <a:xfrm>
            <a:off x="1143000" y="2434716"/>
            <a:ext cx="16482060" cy="490538"/>
          </a:xfrm>
          <a:prstGeom prst="rect">
            <a:avLst/>
          </a:prstGeom>
          <a:noFill/>
          <a:ln/>
        </p:spPr>
        <p:txBody>
          <a:bodyPr wrap="square" lIns="25400" tIns="25400" rIns="25400" bIns="25400" rtlCol="0" anchor="t">
            <a:normAutofit/>
          </a:bodyPr>
          <a:lstStyle/>
          <a:p>
            <a:pPr marL="0" indent="0" algn="l">
              <a:buNone/>
            </a:pPr>
            <a:r>
              <a:rPr lang="en-US" sz="2700" kern="0" spc="378" dirty="0">
                <a:solidFill>
                  <a:srgbClr val="9EC5B3"/>
                </a:solidFill>
                <a:latin typeface="JetBrains Mono" pitchFamily="34" charset="0"/>
                <a:ea typeface="JetBrains Mono" pitchFamily="34" charset="-122"/>
                <a:cs typeface="JetBrains Mono" pitchFamily="34" charset="-120"/>
              </a:rPr>
              <a:t>AT LEAST FIVE TIMES FASTER</a:t>
            </a:r>
            <a:endParaRPr lang="en-US" sz="2700" dirty="0"/>
          </a:p>
        </p:txBody>
      </p:sp>
      <p:sp>
        <p:nvSpPr>
          <p:cNvPr id="5" name="Text 3"/>
          <p:cNvSpPr/>
          <p:nvPr/>
        </p:nvSpPr>
        <p:spPr>
          <a:xfrm>
            <a:off x="1142999" y="3921695"/>
            <a:ext cx="4869121" cy="3391347"/>
          </a:xfrm>
          <a:prstGeom prst="rect">
            <a:avLst/>
          </a:prstGeom>
          <a:noFill/>
          <a:ln/>
        </p:spPr>
        <p:txBody>
          <a:bodyPr wrap="square" lIns="25400" tIns="25400" rIns="25400" bIns="25400" rtlCol="0" anchor="t">
            <a:normAutofit fontScale="85000" lnSpcReduction="20000"/>
          </a:bodyPr>
          <a:lstStyle/>
          <a:p>
            <a:pPr marL="0" indent="0" algn="l">
              <a:lnSpc>
                <a:spcPct val="82000"/>
              </a:lnSpc>
              <a:buNone/>
            </a:pPr>
            <a:r>
              <a:rPr lang="en-US" sz="34300" b="1" kern="0" spc="-900" dirty="0">
                <a:solidFill>
                  <a:srgbClr val="FFFFFF"/>
                </a:solidFill>
                <a:latin typeface="Inter" pitchFamily="34" charset="0"/>
                <a:ea typeface="Inter" pitchFamily="34" charset="-122"/>
                <a:cs typeface="Inter" pitchFamily="34" charset="-120"/>
              </a:rPr>
              <a:t>5×</a:t>
            </a:r>
            <a:endParaRPr lang="en-US" sz="34300" dirty="0"/>
          </a:p>
        </p:txBody>
      </p:sp>
      <p:sp>
        <p:nvSpPr>
          <p:cNvPr id="6" name="Text 4"/>
          <p:cNvSpPr/>
          <p:nvPr/>
        </p:nvSpPr>
        <p:spPr>
          <a:xfrm>
            <a:off x="1143000" y="6762304"/>
            <a:ext cx="6554972" cy="1360970"/>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4800" b="1" dirty="0">
                <a:solidFill>
                  <a:srgbClr val="EAF4EF"/>
                </a:solidFill>
                <a:latin typeface="Inter" pitchFamily="34" charset="0"/>
                <a:ea typeface="Inter" pitchFamily="34" charset="-122"/>
                <a:cs typeface="Inter" pitchFamily="34" charset="-120"/>
              </a:rPr>
              <a:t>-- The right work moves from days to hours...</a:t>
            </a:r>
            <a:endParaRPr lang="en-US" sz="4800" dirty="0"/>
          </a:p>
        </p:txBody>
      </p:sp>
      <p:sp>
        <p:nvSpPr>
          <p:cNvPr id="7" name="Text 5"/>
          <p:cNvSpPr/>
          <p:nvPr/>
        </p:nvSpPr>
        <p:spPr>
          <a:xfrm>
            <a:off x="1143000" y="8886825"/>
            <a:ext cx="8883864" cy="390525"/>
          </a:xfrm>
          <a:prstGeom prst="rect">
            <a:avLst/>
          </a:prstGeom>
          <a:noFill/>
          <a:ln/>
        </p:spPr>
        <p:txBody>
          <a:bodyPr wrap="square" lIns="25400" tIns="25400" rIns="25400" bIns="25400" rtlCol="0" anchor="t">
            <a:normAutofit/>
          </a:bodyPr>
          <a:lstStyle/>
          <a:p>
            <a:pPr marL="0" indent="0" algn="l">
              <a:buNone/>
            </a:pPr>
            <a:r>
              <a:rPr lang="en-US" sz="2100" kern="0" spc="126" dirty="0">
                <a:solidFill>
                  <a:srgbClr val="9EC5B3"/>
                </a:solidFill>
                <a:latin typeface="JetBrains Mono" pitchFamily="34" charset="0"/>
                <a:ea typeface="JetBrains Mono" pitchFamily="34" charset="-122"/>
                <a:cs typeface="JetBrains Mono" pitchFamily="34" charset="-120"/>
              </a:rPr>
              <a:t>Writing software faster and better with AI agents</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952500"/>
            <a:ext cx="16482060" cy="390525"/>
          </a:xfrm>
          <a:prstGeom prst="rect">
            <a:avLst/>
          </a:prstGeom>
          <a:noFill/>
          <a:ln/>
        </p:spPr>
        <p:txBody>
          <a:bodyPr wrap="square" lIns="25400" tIns="25400" rIns="25400" bIns="25400" rtlCol="0" anchor="t">
            <a:normAutofit/>
          </a:bodyPr>
          <a:lstStyle/>
          <a:p>
            <a:pPr marL="0" indent="0" algn="l">
              <a:buNone/>
            </a:pPr>
            <a:r>
              <a:rPr lang="en-US" sz="2100" kern="0" spc="336" dirty="0">
                <a:solidFill>
                  <a:srgbClr val="006A4D"/>
                </a:solidFill>
                <a:latin typeface="JetBrains Mono" pitchFamily="34" charset="0"/>
                <a:ea typeface="JetBrains Mono" pitchFamily="34" charset="-122"/>
                <a:cs typeface="JetBrains Mono" pitchFamily="34" charset="-120"/>
              </a:rPr>
              <a:t>WHAT “AGENTIC” MEANS</a:t>
            </a:r>
            <a:endParaRPr lang="en-US" sz="2100" dirty="0"/>
          </a:p>
        </p:txBody>
      </p:sp>
      <p:sp>
        <p:nvSpPr>
          <p:cNvPr id="3" name="Shape 1"/>
          <p:cNvSpPr/>
          <p:nvPr/>
        </p:nvSpPr>
        <p:spPr>
          <a:xfrm>
            <a:off x="1143000" y="1533525"/>
            <a:ext cx="685800" cy="47625"/>
          </a:xfrm>
          <a:prstGeom prst="roundRect">
            <a:avLst>
              <a:gd name="adj" fmla="val 40000"/>
            </a:avLst>
          </a:prstGeom>
          <a:solidFill>
            <a:srgbClr val="006A4D"/>
          </a:solidFill>
          <a:ln/>
        </p:spPr>
        <p:txBody>
          <a:bodyPr/>
          <a:lstStyle/>
          <a:p>
            <a:endParaRPr lang="en-US"/>
          </a:p>
        </p:txBody>
      </p:sp>
      <p:sp>
        <p:nvSpPr>
          <p:cNvPr id="4" name="Text 2"/>
          <p:cNvSpPr/>
          <p:nvPr/>
        </p:nvSpPr>
        <p:spPr>
          <a:xfrm>
            <a:off x="1143000" y="2038350"/>
            <a:ext cx="14874240" cy="1781473"/>
          </a:xfrm>
          <a:prstGeom prst="rect">
            <a:avLst/>
          </a:prstGeom>
          <a:noFill/>
          <a:ln/>
        </p:spPr>
        <p:txBody>
          <a:bodyPr wrap="square" lIns="25400" tIns="25400" rIns="25400" bIns="25400" rtlCol="0" anchor="t">
            <a:normAutofit/>
          </a:bodyPr>
          <a:lstStyle/>
          <a:p>
            <a:pPr marL="0" indent="0" algn="l">
              <a:lnSpc>
                <a:spcPct val="104000"/>
              </a:lnSpc>
              <a:buNone/>
            </a:pPr>
            <a:r>
              <a:rPr lang="en-US" sz="6600" b="1" kern="0" spc="-132" dirty="0">
                <a:solidFill>
                  <a:srgbClr val="003824"/>
                </a:solidFill>
                <a:latin typeface="Inter" pitchFamily="34" charset="0"/>
                <a:ea typeface="Inter" pitchFamily="34" charset="-122"/>
                <a:cs typeface="Inter" pitchFamily="34" charset="-120"/>
              </a:rPr>
              <a:t>Not autocomplete. You hand over a goal.</a:t>
            </a:r>
            <a:endParaRPr lang="en-US" sz="6600" dirty="0"/>
          </a:p>
        </p:txBody>
      </p:sp>
      <p:sp>
        <p:nvSpPr>
          <p:cNvPr id="5" name="Shape 3"/>
          <p:cNvSpPr/>
          <p:nvPr/>
        </p:nvSpPr>
        <p:spPr>
          <a:xfrm>
            <a:off x="1143000" y="4353223"/>
            <a:ext cx="7810500" cy="3362176"/>
          </a:xfrm>
          <a:prstGeom prst="roundRect">
            <a:avLst>
              <a:gd name="adj" fmla="val 5666"/>
            </a:avLst>
          </a:prstGeom>
          <a:solidFill>
            <a:srgbClr val="F3F8F5"/>
          </a:solidFill>
          <a:ln w="9525">
            <a:solidFill>
              <a:srgbClr val="E6F1EC"/>
            </a:solidFill>
            <a:prstDash val="solid"/>
          </a:ln>
        </p:spPr>
        <p:txBody>
          <a:bodyPr/>
          <a:lstStyle/>
          <a:p>
            <a:endParaRPr lang="en-US"/>
          </a:p>
        </p:txBody>
      </p:sp>
      <p:sp>
        <p:nvSpPr>
          <p:cNvPr id="6" name="Text 4"/>
          <p:cNvSpPr/>
          <p:nvPr/>
        </p:nvSpPr>
        <p:spPr>
          <a:xfrm>
            <a:off x="1666875" y="4858048"/>
            <a:ext cx="6965633" cy="390525"/>
          </a:xfrm>
          <a:prstGeom prst="rect">
            <a:avLst/>
          </a:prstGeom>
          <a:noFill/>
          <a:ln/>
        </p:spPr>
        <p:txBody>
          <a:bodyPr wrap="square" lIns="25400" tIns="25400" rIns="25400" bIns="25400" rtlCol="0" anchor="t">
            <a:normAutofit/>
          </a:bodyPr>
          <a:lstStyle/>
          <a:p>
            <a:pPr marL="0" indent="0" algn="l">
              <a:buNone/>
            </a:pPr>
            <a:r>
              <a:rPr lang="en-US" sz="2100" kern="0" spc="210" dirty="0">
                <a:solidFill>
                  <a:srgbClr val="3B4A44"/>
                </a:solidFill>
                <a:latin typeface="JetBrains Mono" pitchFamily="34" charset="0"/>
                <a:ea typeface="JetBrains Mono" pitchFamily="34" charset="-122"/>
                <a:cs typeface="JetBrains Mono" pitchFamily="34" charset="-120"/>
              </a:rPr>
              <a:t>THE ASSUMPTION</a:t>
            </a:r>
            <a:endParaRPr lang="en-US" sz="2100" dirty="0"/>
          </a:p>
        </p:txBody>
      </p:sp>
      <p:sp>
        <p:nvSpPr>
          <p:cNvPr id="7" name="Text 5"/>
          <p:cNvSpPr/>
          <p:nvPr/>
        </p:nvSpPr>
        <p:spPr>
          <a:xfrm>
            <a:off x="1666875" y="5477173"/>
            <a:ext cx="6965633" cy="5866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3600" b="1" dirty="0">
                <a:solidFill>
                  <a:srgbClr val="14201B"/>
                </a:solidFill>
                <a:latin typeface="Inter" pitchFamily="34" charset="0"/>
                <a:ea typeface="Inter" pitchFamily="34" charset="-122"/>
                <a:cs typeface="Inter" pitchFamily="34" charset="-120"/>
              </a:rPr>
              <a:t>Fancy autocomplete.</a:t>
            </a:r>
            <a:endParaRPr lang="en-US" sz="3600" dirty="0"/>
          </a:p>
        </p:txBody>
      </p:sp>
      <p:sp>
        <p:nvSpPr>
          <p:cNvPr id="8" name="Text 6"/>
          <p:cNvSpPr/>
          <p:nvPr/>
        </p:nvSpPr>
        <p:spPr>
          <a:xfrm>
            <a:off x="1666875" y="6197203"/>
            <a:ext cx="6965633" cy="1051471"/>
          </a:xfrm>
          <a:prstGeom prst="rect">
            <a:avLst/>
          </a:prstGeom>
          <a:noFill/>
          <a:ln/>
        </p:spPr>
        <p:txBody>
          <a:bodyPr wrap="square" lIns="25400" tIns="25400" rIns="25400" bIns="25400" rtlCol="0" anchor="t">
            <a:normAutofit/>
          </a:bodyPr>
          <a:lstStyle/>
          <a:p>
            <a:pPr marL="0" indent="0" algn="l">
              <a:lnSpc>
                <a:spcPct val="140000"/>
              </a:lnSpc>
              <a:buNone/>
            </a:pPr>
            <a:r>
              <a:rPr lang="en-US" sz="2850" dirty="0">
                <a:solidFill>
                  <a:srgbClr val="3B4A44"/>
                </a:solidFill>
                <a:latin typeface="Inter" pitchFamily="34" charset="0"/>
                <a:ea typeface="Inter" pitchFamily="34" charset="-122"/>
                <a:cs typeface="Inter" pitchFamily="34" charset="-120"/>
              </a:rPr>
              <a:t>It finishes the line you are already typing.</a:t>
            </a:r>
            <a:endParaRPr lang="en-US" sz="2850" dirty="0"/>
          </a:p>
        </p:txBody>
      </p:sp>
      <p:sp>
        <p:nvSpPr>
          <p:cNvPr id="9" name="Shape 7"/>
          <p:cNvSpPr/>
          <p:nvPr/>
        </p:nvSpPr>
        <p:spPr>
          <a:xfrm>
            <a:off x="9334500" y="4353223"/>
            <a:ext cx="7810500" cy="3362176"/>
          </a:xfrm>
          <a:prstGeom prst="roundRect">
            <a:avLst>
              <a:gd name="adj" fmla="val 5666"/>
            </a:avLst>
          </a:prstGeom>
          <a:solidFill>
            <a:srgbClr val="003824"/>
          </a:solidFill>
          <a:ln w="9525">
            <a:solidFill>
              <a:srgbClr val="003824"/>
            </a:solidFill>
            <a:prstDash val="solid"/>
          </a:ln>
        </p:spPr>
        <p:txBody>
          <a:bodyPr/>
          <a:lstStyle/>
          <a:p>
            <a:endParaRPr lang="en-US"/>
          </a:p>
        </p:txBody>
      </p:sp>
      <p:sp>
        <p:nvSpPr>
          <p:cNvPr id="10" name="Text 8"/>
          <p:cNvSpPr/>
          <p:nvPr/>
        </p:nvSpPr>
        <p:spPr>
          <a:xfrm>
            <a:off x="9858375" y="4858048"/>
            <a:ext cx="6965633" cy="390525"/>
          </a:xfrm>
          <a:prstGeom prst="rect">
            <a:avLst/>
          </a:prstGeom>
          <a:noFill/>
          <a:ln/>
        </p:spPr>
        <p:txBody>
          <a:bodyPr wrap="square" lIns="25400" tIns="25400" rIns="25400" bIns="25400" rtlCol="0" anchor="t">
            <a:normAutofit/>
          </a:bodyPr>
          <a:lstStyle/>
          <a:p>
            <a:pPr marL="0" indent="0" algn="l">
              <a:buNone/>
            </a:pPr>
            <a:r>
              <a:rPr lang="en-US" sz="2100" kern="0" spc="210" dirty="0">
                <a:solidFill>
                  <a:srgbClr val="9EC5B3"/>
                </a:solidFill>
                <a:latin typeface="JetBrains Mono" pitchFamily="34" charset="0"/>
                <a:ea typeface="JetBrains Mono" pitchFamily="34" charset="-122"/>
                <a:cs typeface="JetBrains Mono" pitchFamily="34" charset="-120"/>
              </a:rPr>
              <a:t>WHAT IT ACTUALLY IS</a:t>
            </a:r>
            <a:endParaRPr lang="en-US" sz="2100" dirty="0"/>
          </a:p>
        </p:txBody>
      </p:sp>
      <p:sp>
        <p:nvSpPr>
          <p:cNvPr id="11" name="Text 9"/>
          <p:cNvSpPr/>
          <p:nvPr/>
        </p:nvSpPr>
        <p:spPr>
          <a:xfrm>
            <a:off x="9858375" y="5477173"/>
            <a:ext cx="6965633" cy="5866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3600" b="1" dirty="0">
                <a:solidFill>
                  <a:srgbClr val="FFFFFF"/>
                </a:solidFill>
                <a:latin typeface="Inter" pitchFamily="34" charset="0"/>
                <a:ea typeface="Inter" pitchFamily="34" charset="-122"/>
                <a:cs typeface="Inter" pitchFamily="34" charset="-120"/>
              </a:rPr>
              <a:t>You give it the objective.</a:t>
            </a:r>
            <a:endParaRPr lang="en-US" sz="3600" dirty="0"/>
          </a:p>
        </p:txBody>
      </p:sp>
      <p:sp>
        <p:nvSpPr>
          <p:cNvPr id="12" name="Text 10"/>
          <p:cNvSpPr/>
          <p:nvPr/>
        </p:nvSpPr>
        <p:spPr>
          <a:xfrm>
            <a:off x="9858375" y="6090878"/>
            <a:ext cx="6965633" cy="1518196"/>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2850" dirty="0">
                <a:solidFill>
                  <a:srgbClr val="CFE2D8"/>
                </a:solidFill>
                <a:latin typeface="Inter" pitchFamily="34" charset="0"/>
                <a:ea typeface="Inter" pitchFamily="34" charset="-122"/>
                <a:cs typeface="Inter" pitchFamily="34" charset="-120"/>
              </a:rPr>
              <a:t>It plans the steps, does the work, and checks its own output.</a:t>
            </a:r>
            <a:br>
              <a:rPr lang="en-US" sz="2850" dirty="0">
                <a:solidFill>
                  <a:srgbClr val="CFE2D8"/>
                </a:solidFill>
                <a:latin typeface="Inter" pitchFamily="34" charset="0"/>
                <a:ea typeface="Inter" pitchFamily="34" charset="-122"/>
                <a:cs typeface="Inter" pitchFamily="34" charset="-120"/>
              </a:rPr>
            </a:br>
            <a:r>
              <a:rPr lang="en-US" sz="2850" b="1" dirty="0">
                <a:solidFill>
                  <a:srgbClr val="CFE2D8"/>
                </a:solidFill>
                <a:latin typeface="Inter" pitchFamily="34" charset="0"/>
                <a:ea typeface="Inter" pitchFamily="34" charset="-122"/>
                <a:cs typeface="Inter" pitchFamily="34" charset="-120"/>
              </a:rPr>
              <a:t>You remain in control and accountable</a:t>
            </a:r>
            <a:endParaRPr lang="en-US" sz="285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952500"/>
            <a:ext cx="16482060" cy="390525"/>
          </a:xfrm>
          <a:prstGeom prst="rect">
            <a:avLst/>
          </a:prstGeom>
          <a:noFill/>
          <a:ln/>
        </p:spPr>
        <p:txBody>
          <a:bodyPr wrap="square" lIns="25400" tIns="25400" rIns="25400" bIns="25400" rtlCol="0" anchor="t">
            <a:normAutofit/>
          </a:bodyPr>
          <a:lstStyle/>
          <a:p>
            <a:pPr marL="0" indent="0" algn="l">
              <a:buNone/>
            </a:pPr>
            <a:r>
              <a:rPr lang="en-US" sz="2100" kern="0" spc="336" dirty="0">
                <a:solidFill>
                  <a:srgbClr val="006A4D"/>
                </a:solidFill>
                <a:latin typeface="JetBrains Mono" pitchFamily="34" charset="0"/>
                <a:ea typeface="JetBrains Mono" pitchFamily="34" charset="-122"/>
                <a:cs typeface="JetBrains Mono" pitchFamily="34" charset="-120"/>
              </a:rPr>
              <a:t>THE PROOF</a:t>
            </a:r>
            <a:endParaRPr lang="en-US" sz="2100" dirty="0"/>
          </a:p>
        </p:txBody>
      </p:sp>
      <p:sp>
        <p:nvSpPr>
          <p:cNvPr id="3" name="Shape 1"/>
          <p:cNvSpPr/>
          <p:nvPr/>
        </p:nvSpPr>
        <p:spPr>
          <a:xfrm>
            <a:off x="1143000" y="1533525"/>
            <a:ext cx="685800" cy="47625"/>
          </a:xfrm>
          <a:prstGeom prst="roundRect">
            <a:avLst>
              <a:gd name="adj" fmla="val 40000"/>
            </a:avLst>
          </a:prstGeom>
          <a:solidFill>
            <a:srgbClr val="006A4D"/>
          </a:solidFill>
          <a:ln/>
        </p:spPr>
        <p:txBody>
          <a:bodyPr/>
          <a:lstStyle/>
          <a:p>
            <a:endParaRPr lang="en-US"/>
          </a:p>
        </p:txBody>
      </p:sp>
      <p:sp>
        <p:nvSpPr>
          <p:cNvPr id="4" name="Text 2"/>
          <p:cNvSpPr/>
          <p:nvPr/>
        </p:nvSpPr>
        <p:spPr>
          <a:xfrm>
            <a:off x="1143000" y="2038350"/>
            <a:ext cx="12803565" cy="909786"/>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6600" b="1" kern="0" spc="-132" dirty="0">
                <a:solidFill>
                  <a:srgbClr val="003824"/>
                </a:solidFill>
                <a:latin typeface="Inter" pitchFamily="34" charset="0"/>
                <a:ea typeface="Inter" pitchFamily="34" charset="-122"/>
                <a:cs typeface="Inter" pitchFamily="34" charset="-120"/>
              </a:rPr>
              <a:t>From days to hours.</a:t>
            </a:r>
            <a:endParaRPr lang="en-US" sz="6600" dirty="0"/>
          </a:p>
        </p:txBody>
      </p:sp>
      <p:sp>
        <p:nvSpPr>
          <p:cNvPr id="5" name="Text 3"/>
          <p:cNvSpPr/>
          <p:nvPr/>
        </p:nvSpPr>
        <p:spPr>
          <a:xfrm>
            <a:off x="1143000" y="3138636"/>
            <a:ext cx="16482060" cy="571500"/>
          </a:xfrm>
          <a:prstGeom prst="rect">
            <a:avLst/>
          </a:prstGeom>
          <a:noFill/>
          <a:ln/>
        </p:spPr>
        <p:txBody>
          <a:bodyPr wrap="square" lIns="25400" tIns="25400" rIns="25400" bIns="25400" rtlCol="0" anchor="t">
            <a:normAutofit fontScale="85000" lnSpcReduction="20000"/>
          </a:bodyPr>
          <a:lstStyle/>
          <a:p>
            <a:pPr marL="0" indent="0" algn="l">
              <a:lnSpc>
                <a:spcPct val="140000"/>
              </a:lnSpc>
              <a:buNone/>
            </a:pPr>
            <a:r>
              <a:rPr lang="en-US" sz="3500" dirty="0">
                <a:solidFill>
                  <a:srgbClr val="006A4D"/>
                </a:solidFill>
                <a:highlight>
                  <a:srgbClr val="E6F1EC"/>
                </a:highlight>
                <a:latin typeface="JetBrains Mono" pitchFamily="34" charset="0"/>
                <a:ea typeface="JetBrains Mono" pitchFamily="34" charset="-122"/>
                <a:cs typeface="JetBrains Mono" pitchFamily="34" charset="-120"/>
              </a:rPr>
              <a:t>The task </a:t>
            </a:r>
            <a:r>
              <a:rPr lang="en-US" sz="3000" dirty="0">
                <a:solidFill>
                  <a:srgbClr val="3B4A44"/>
                </a:solidFill>
                <a:latin typeface="Inter" pitchFamily="34" charset="0"/>
                <a:ea typeface="Inter" pitchFamily="34" charset="-122"/>
                <a:cs typeface="Inter" pitchFamily="34" charset="-120"/>
              </a:rPr>
              <a:t>  A reporting UI, GCP data retrieval, caching and automation for surveillance research and investigation.</a:t>
            </a:r>
            <a:endParaRPr lang="en-US" sz="3000" dirty="0"/>
          </a:p>
        </p:txBody>
      </p:sp>
      <p:sp>
        <p:nvSpPr>
          <p:cNvPr id="6" name="Shape 4"/>
          <p:cNvSpPr/>
          <p:nvPr/>
        </p:nvSpPr>
        <p:spPr>
          <a:xfrm>
            <a:off x="1143000" y="4167336"/>
            <a:ext cx="7312968" cy="2935560"/>
          </a:xfrm>
          <a:prstGeom prst="roundRect">
            <a:avLst>
              <a:gd name="adj" fmla="val 6489"/>
            </a:avLst>
          </a:prstGeom>
          <a:solidFill>
            <a:srgbClr val="F3F8F5"/>
          </a:solidFill>
          <a:ln w="9525">
            <a:solidFill>
              <a:srgbClr val="E6F1EC"/>
            </a:solidFill>
            <a:prstDash val="solid"/>
          </a:ln>
        </p:spPr>
        <p:txBody>
          <a:bodyPr/>
          <a:lstStyle/>
          <a:p>
            <a:endParaRPr lang="en-US"/>
          </a:p>
        </p:txBody>
      </p:sp>
      <p:sp>
        <p:nvSpPr>
          <p:cNvPr id="7" name="Text 5"/>
          <p:cNvSpPr/>
          <p:nvPr/>
        </p:nvSpPr>
        <p:spPr>
          <a:xfrm>
            <a:off x="1647825" y="4634061"/>
            <a:ext cx="6492417" cy="390525"/>
          </a:xfrm>
          <a:prstGeom prst="rect">
            <a:avLst/>
          </a:prstGeom>
          <a:noFill/>
          <a:ln/>
        </p:spPr>
        <p:txBody>
          <a:bodyPr wrap="square" lIns="25400" tIns="25400" rIns="25400" bIns="25400" rtlCol="0" anchor="t">
            <a:normAutofit/>
          </a:bodyPr>
          <a:lstStyle/>
          <a:p>
            <a:pPr marL="0" indent="0" algn="l">
              <a:buNone/>
            </a:pPr>
            <a:r>
              <a:rPr lang="en-US" sz="2100" kern="0" spc="210" dirty="0">
                <a:solidFill>
                  <a:srgbClr val="3B4A44"/>
                </a:solidFill>
                <a:latin typeface="JetBrains Mono" pitchFamily="34" charset="0"/>
                <a:ea typeface="JetBrains Mono" pitchFamily="34" charset="-122"/>
                <a:cs typeface="JetBrains Mono" pitchFamily="34" charset="-120"/>
              </a:rPr>
              <a:t>BEFORE</a:t>
            </a:r>
            <a:endParaRPr lang="en-US" sz="2100" dirty="0"/>
          </a:p>
        </p:txBody>
      </p:sp>
      <p:sp>
        <p:nvSpPr>
          <p:cNvPr id="8" name="Text 6"/>
          <p:cNvSpPr/>
          <p:nvPr/>
        </p:nvSpPr>
        <p:spPr>
          <a:xfrm>
            <a:off x="1647825" y="5234136"/>
            <a:ext cx="6492417"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700" b="1" kern="0" spc="-114" dirty="0">
                <a:solidFill>
                  <a:srgbClr val="14201B"/>
                </a:solidFill>
                <a:latin typeface="Inter" pitchFamily="34" charset="0"/>
                <a:ea typeface="Inter" pitchFamily="34" charset="-122"/>
                <a:cs typeface="Inter" pitchFamily="34" charset="-120"/>
              </a:rPr>
              <a:t>3 weeks</a:t>
            </a:r>
            <a:endParaRPr lang="en-US" sz="5700" dirty="0"/>
          </a:p>
        </p:txBody>
      </p:sp>
      <p:sp>
        <p:nvSpPr>
          <p:cNvPr id="9" name="Text 7"/>
          <p:cNvSpPr/>
          <p:nvPr/>
        </p:nvSpPr>
        <p:spPr>
          <a:xfrm>
            <a:off x="1647825" y="6129486"/>
            <a:ext cx="6492417" cy="54478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850" dirty="0">
                <a:solidFill>
                  <a:srgbClr val="3B4A44"/>
                </a:solidFill>
                <a:latin typeface="Inter" pitchFamily="34" charset="0"/>
                <a:ea typeface="Inter" pitchFamily="34" charset="-122"/>
                <a:cs typeface="Inter" pitchFamily="34" charset="-120"/>
              </a:rPr>
              <a:t>One developer, heads down.</a:t>
            </a:r>
            <a:endParaRPr lang="en-US" sz="2850" dirty="0"/>
          </a:p>
        </p:txBody>
      </p:sp>
      <p:sp>
        <p:nvSpPr>
          <p:cNvPr id="10" name="Text 8"/>
          <p:cNvSpPr/>
          <p:nvPr/>
        </p:nvSpPr>
        <p:spPr>
          <a:xfrm>
            <a:off x="8760768" y="4167336"/>
            <a:ext cx="766390" cy="2973660"/>
          </a:xfrm>
          <a:prstGeom prst="rect">
            <a:avLst/>
          </a:prstGeom>
          <a:noFill/>
          <a:ln/>
        </p:spPr>
        <p:txBody>
          <a:bodyPr wrap="square" lIns="25400" tIns="25400" rIns="25400" bIns="25400" rtlCol="0" anchor="ctr">
            <a:normAutofit/>
          </a:bodyPr>
          <a:lstStyle/>
          <a:p>
            <a:pPr marL="0" indent="0" algn="ctr">
              <a:buNone/>
            </a:pPr>
            <a:r>
              <a:rPr lang="en-US" sz="6000" dirty="0">
                <a:solidFill>
                  <a:srgbClr val="9EC5B3"/>
                </a:solidFill>
                <a:latin typeface="Inter" pitchFamily="34" charset="0"/>
                <a:ea typeface="Inter" pitchFamily="34" charset="-122"/>
                <a:cs typeface="Inter" pitchFamily="34" charset="-120"/>
              </a:rPr>
              <a:t>→</a:t>
            </a:r>
            <a:endParaRPr lang="en-US" sz="6000" dirty="0"/>
          </a:p>
        </p:txBody>
      </p:sp>
      <p:sp>
        <p:nvSpPr>
          <p:cNvPr id="11" name="Shape 9"/>
          <p:cNvSpPr/>
          <p:nvPr/>
        </p:nvSpPr>
        <p:spPr>
          <a:xfrm>
            <a:off x="9831958" y="4167336"/>
            <a:ext cx="7499112" cy="2935560"/>
          </a:xfrm>
          <a:prstGeom prst="roundRect">
            <a:avLst>
              <a:gd name="adj" fmla="val 6489"/>
            </a:avLst>
          </a:prstGeom>
          <a:solidFill>
            <a:srgbClr val="003824"/>
          </a:solidFill>
          <a:ln w="9525">
            <a:solidFill>
              <a:srgbClr val="003824"/>
            </a:solidFill>
            <a:prstDash val="solid"/>
          </a:ln>
        </p:spPr>
        <p:txBody>
          <a:bodyPr/>
          <a:lstStyle/>
          <a:p>
            <a:endParaRPr lang="en-US" dirty="0"/>
          </a:p>
        </p:txBody>
      </p:sp>
      <p:sp>
        <p:nvSpPr>
          <p:cNvPr id="12" name="Text 10"/>
          <p:cNvSpPr/>
          <p:nvPr/>
        </p:nvSpPr>
        <p:spPr>
          <a:xfrm>
            <a:off x="10336783" y="4634061"/>
            <a:ext cx="6492494" cy="390525"/>
          </a:xfrm>
          <a:prstGeom prst="rect">
            <a:avLst/>
          </a:prstGeom>
          <a:noFill/>
          <a:ln/>
        </p:spPr>
        <p:txBody>
          <a:bodyPr wrap="square" lIns="25400" tIns="25400" rIns="25400" bIns="25400" rtlCol="0" anchor="t">
            <a:normAutofit/>
          </a:bodyPr>
          <a:lstStyle/>
          <a:p>
            <a:pPr marL="0" indent="0" algn="l">
              <a:buNone/>
            </a:pPr>
            <a:r>
              <a:rPr lang="en-US" sz="2100" kern="0" spc="210" dirty="0">
                <a:solidFill>
                  <a:srgbClr val="9EC5B3"/>
                </a:solidFill>
                <a:latin typeface="JetBrains Mono" pitchFamily="34" charset="0"/>
                <a:ea typeface="JetBrains Mono" pitchFamily="34" charset="-122"/>
                <a:cs typeface="JetBrains Mono" pitchFamily="34" charset="-120"/>
              </a:rPr>
              <a:t>AFTER</a:t>
            </a:r>
            <a:endParaRPr lang="en-US" sz="2100" dirty="0"/>
          </a:p>
        </p:txBody>
      </p:sp>
      <p:sp>
        <p:nvSpPr>
          <p:cNvPr id="13" name="Text 11"/>
          <p:cNvSpPr/>
          <p:nvPr/>
        </p:nvSpPr>
        <p:spPr>
          <a:xfrm>
            <a:off x="10336783" y="5234136"/>
            <a:ext cx="6492494"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700" b="1" kern="0" spc="-114" dirty="0">
                <a:solidFill>
                  <a:srgbClr val="FFFFFF"/>
                </a:solidFill>
                <a:latin typeface="Inter" pitchFamily="34" charset="0"/>
                <a:ea typeface="Inter" pitchFamily="34" charset="-122"/>
                <a:cs typeface="Inter" pitchFamily="34" charset="-120"/>
              </a:rPr>
              <a:t>3 days</a:t>
            </a:r>
            <a:endParaRPr lang="en-US" sz="5700" dirty="0"/>
          </a:p>
        </p:txBody>
      </p:sp>
      <p:sp>
        <p:nvSpPr>
          <p:cNvPr id="14" name="Text 12"/>
          <p:cNvSpPr/>
          <p:nvPr/>
        </p:nvSpPr>
        <p:spPr>
          <a:xfrm>
            <a:off x="10336783" y="5996136"/>
            <a:ext cx="6808216" cy="54478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850" dirty="0">
                <a:solidFill>
                  <a:srgbClr val="CFE2D8"/>
                </a:solidFill>
                <a:latin typeface="Inter" pitchFamily="34" charset="0"/>
                <a:ea typeface="Inter" pitchFamily="34" charset="-122"/>
                <a:cs typeface="Inter" pitchFamily="34" charset="-120"/>
              </a:rPr>
              <a:t>Agent builds; engineer reviews, tests and accepts.</a:t>
            </a:r>
            <a:endParaRPr lang="en-US" sz="2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762000"/>
            <a:ext cx="16482060" cy="390525"/>
          </a:xfrm>
          <a:prstGeom prst="rect">
            <a:avLst/>
          </a:prstGeom>
          <a:noFill/>
          <a:ln/>
        </p:spPr>
        <p:txBody>
          <a:bodyPr wrap="square" lIns="25400" tIns="25400" rIns="25400" bIns="25400" rtlCol="0" anchor="t">
            <a:normAutofit/>
          </a:bodyPr>
          <a:lstStyle/>
          <a:p>
            <a:pPr marL="0" indent="0" algn="l">
              <a:buNone/>
            </a:pPr>
            <a:r>
              <a:rPr lang="en-US" sz="2100" kern="0" spc="336" dirty="0">
                <a:solidFill>
                  <a:srgbClr val="006A4D"/>
                </a:solidFill>
                <a:latin typeface="JetBrains Mono" pitchFamily="34" charset="0"/>
                <a:ea typeface="JetBrains Mono" pitchFamily="34" charset="-122"/>
                <a:cs typeface="JetBrains Mono" pitchFamily="34" charset="-120"/>
              </a:rPr>
              <a:t>ACROSS THE WHOLE LIFECYCLE</a:t>
            </a:r>
            <a:endParaRPr lang="en-US" sz="2100" dirty="0"/>
          </a:p>
        </p:txBody>
      </p:sp>
      <p:sp>
        <p:nvSpPr>
          <p:cNvPr id="3" name="Shape 1"/>
          <p:cNvSpPr/>
          <p:nvPr/>
        </p:nvSpPr>
        <p:spPr>
          <a:xfrm>
            <a:off x="1143000" y="1304925"/>
            <a:ext cx="685800" cy="47625"/>
          </a:xfrm>
          <a:prstGeom prst="roundRect">
            <a:avLst>
              <a:gd name="adj" fmla="val 40000"/>
            </a:avLst>
          </a:prstGeom>
          <a:solidFill>
            <a:srgbClr val="006A4D"/>
          </a:solidFill>
          <a:ln/>
        </p:spPr>
        <p:txBody>
          <a:bodyPr/>
          <a:lstStyle/>
          <a:p>
            <a:endParaRPr lang="en-US"/>
          </a:p>
        </p:txBody>
      </p:sp>
      <p:sp>
        <p:nvSpPr>
          <p:cNvPr id="4" name="Text 2"/>
          <p:cNvSpPr/>
          <p:nvPr/>
        </p:nvSpPr>
        <p:spPr>
          <a:xfrm>
            <a:off x="1143000" y="1657350"/>
            <a:ext cx="12062854" cy="790947"/>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5700" b="1" kern="0" spc="-114" dirty="0">
                <a:solidFill>
                  <a:srgbClr val="003824"/>
                </a:solidFill>
                <a:latin typeface="Inter" pitchFamily="34" charset="0"/>
                <a:ea typeface="Inter" pitchFamily="34" charset="-122"/>
                <a:cs typeface="Inter" pitchFamily="34" charset="-120"/>
              </a:rPr>
              <a:t>Not just writing code.</a:t>
            </a:r>
            <a:endParaRPr lang="en-US" sz="5700" dirty="0"/>
          </a:p>
        </p:txBody>
      </p:sp>
      <p:sp>
        <p:nvSpPr>
          <p:cNvPr id="5" name="Shape 3"/>
          <p:cNvSpPr/>
          <p:nvPr/>
        </p:nvSpPr>
        <p:spPr>
          <a:xfrm>
            <a:off x="1143000" y="2791197"/>
            <a:ext cx="5181600" cy="1936105"/>
          </a:xfrm>
          <a:prstGeom prst="roundRect">
            <a:avLst>
              <a:gd name="adj" fmla="val 8855"/>
            </a:avLst>
          </a:prstGeom>
          <a:solidFill>
            <a:srgbClr val="F3F8F5"/>
          </a:solidFill>
          <a:ln w="9525">
            <a:solidFill>
              <a:srgbClr val="E6F1EC"/>
            </a:solidFill>
            <a:prstDash val="solid"/>
          </a:ln>
        </p:spPr>
        <p:txBody>
          <a:bodyPr/>
          <a:lstStyle/>
          <a:p>
            <a:endParaRPr lang="en-US"/>
          </a:p>
        </p:txBody>
      </p:sp>
      <p:sp>
        <p:nvSpPr>
          <p:cNvPr id="6" name="Text 4"/>
          <p:cNvSpPr/>
          <p:nvPr/>
        </p:nvSpPr>
        <p:spPr>
          <a:xfrm>
            <a:off x="1476375" y="3086472"/>
            <a:ext cx="4650296" cy="464790"/>
          </a:xfrm>
          <a:prstGeom prst="rect">
            <a:avLst/>
          </a:prstGeom>
          <a:noFill/>
          <a:ln/>
        </p:spPr>
        <p:txBody>
          <a:bodyPr wrap="square" lIns="25400" tIns="25400" rIns="25400" bIns="25400" rtlCol="0" anchor="t">
            <a:normAutofit fontScale="92500" lnSpcReduction="20000"/>
          </a:bodyPr>
          <a:lstStyle/>
          <a:p>
            <a:pPr marL="0" indent="0" algn="l">
              <a:lnSpc>
                <a:spcPct val="112000"/>
              </a:lnSpc>
              <a:buNone/>
            </a:pPr>
            <a:r>
              <a:rPr lang="en-US" sz="3000" b="1" dirty="0">
                <a:solidFill>
                  <a:srgbClr val="14201B"/>
                </a:solidFill>
                <a:latin typeface="Inter" pitchFamily="34" charset="0"/>
                <a:ea typeface="Inter" pitchFamily="34" charset="-122"/>
                <a:cs typeface="Inter" pitchFamily="34" charset="-120"/>
              </a:rPr>
              <a:t>Ideation</a:t>
            </a:r>
            <a:endParaRPr lang="en-US" sz="3000" dirty="0"/>
          </a:p>
        </p:txBody>
      </p:sp>
      <p:sp>
        <p:nvSpPr>
          <p:cNvPr id="7" name="Text 5"/>
          <p:cNvSpPr/>
          <p:nvPr/>
        </p:nvSpPr>
        <p:spPr>
          <a:xfrm>
            <a:off x="1476375" y="3520455"/>
            <a:ext cx="4650296" cy="842665"/>
          </a:xfrm>
          <a:prstGeom prst="rect">
            <a:avLst/>
          </a:prstGeom>
          <a:noFill/>
          <a:ln/>
        </p:spPr>
        <p:txBody>
          <a:bodyPr wrap="square" lIns="25400" tIns="25400" rIns="25400" bIns="25400" rtlCol="0" anchor="t">
            <a:noAutofit/>
          </a:bodyPr>
          <a:lstStyle/>
          <a:p>
            <a:pPr marL="0" indent="0" algn="l">
              <a:lnSpc>
                <a:spcPct val="132000"/>
              </a:lnSpc>
              <a:buNone/>
            </a:pPr>
            <a:r>
              <a:rPr lang="en-US" sz="2600" dirty="0">
                <a:solidFill>
                  <a:srgbClr val="3B4A44"/>
                </a:solidFill>
                <a:latin typeface="Inter" pitchFamily="34" charset="0"/>
                <a:ea typeface="Inter" pitchFamily="34" charset="-122"/>
              </a:rPr>
              <a:t>Shape options before committing to one.</a:t>
            </a:r>
          </a:p>
        </p:txBody>
      </p:sp>
      <p:sp>
        <p:nvSpPr>
          <p:cNvPr id="8" name="Shape 6"/>
          <p:cNvSpPr/>
          <p:nvPr/>
        </p:nvSpPr>
        <p:spPr>
          <a:xfrm>
            <a:off x="6553200" y="2791197"/>
            <a:ext cx="5181600" cy="1936105"/>
          </a:xfrm>
          <a:prstGeom prst="roundRect">
            <a:avLst>
              <a:gd name="adj" fmla="val 8855"/>
            </a:avLst>
          </a:prstGeom>
          <a:solidFill>
            <a:srgbClr val="F3F8F5"/>
          </a:solidFill>
          <a:ln w="9525">
            <a:solidFill>
              <a:srgbClr val="E6F1EC"/>
            </a:solidFill>
            <a:prstDash val="solid"/>
          </a:ln>
        </p:spPr>
        <p:txBody>
          <a:bodyPr/>
          <a:lstStyle/>
          <a:p>
            <a:endParaRPr lang="en-US"/>
          </a:p>
        </p:txBody>
      </p:sp>
      <p:sp>
        <p:nvSpPr>
          <p:cNvPr id="9" name="Text 7"/>
          <p:cNvSpPr/>
          <p:nvPr/>
        </p:nvSpPr>
        <p:spPr>
          <a:xfrm>
            <a:off x="6886575" y="3086472"/>
            <a:ext cx="4650296" cy="464790"/>
          </a:xfrm>
          <a:prstGeom prst="rect">
            <a:avLst/>
          </a:prstGeom>
          <a:noFill/>
          <a:ln/>
        </p:spPr>
        <p:txBody>
          <a:bodyPr wrap="square" lIns="25400" tIns="25400" rIns="25400" bIns="25400" rtlCol="0" anchor="t">
            <a:normAutofit fontScale="92500" lnSpcReduction="20000"/>
          </a:bodyPr>
          <a:lstStyle/>
          <a:p>
            <a:pPr marL="0" indent="0" algn="l">
              <a:lnSpc>
                <a:spcPct val="112000"/>
              </a:lnSpc>
              <a:buNone/>
            </a:pPr>
            <a:r>
              <a:rPr lang="en-US" sz="3000" b="1" dirty="0">
                <a:solidFill>
                  <a:srgbClr val="14201B"/>
                </a:solidFill>
                <a:latin typeface="Inter" pitchFamily="34" charset="0"/>
                <a:ea typeface="Inter" pitchFamily="34" charset="-122"/>
                <a:cs typeface="Inter" pitchFamily="34" charset="-120"/>
              </a:rPr>
              <a:t>Analysis</a:t>
            </a:r>
            <a:endParaRPr lang="en-US" sz="3000" dirty="0"/>
          </a:p>
        </p:txBody>
      </p:sp>
      <p:sp>
        <p:nvSpPr>
          <p:cNvPr id="10" name="Text 8"/>
          <p:cNvSpPr/>
          <p:nvPr/>
        </p:nvSpPr>
        <p:spPr>
          <a:xfrm>
            <a:off x="6886575" y="3520455"/>
            <a:ext cx="4650296" cy="842665"/>
          </a:xfrm>
          <a:prstGeom prst="rect">
            <a:avLst/>
          </a:prstGeom>
          <a:noFill/>
          <a:ln/>
        </p:spPr>
        <p:txBody>
          <a:bodyPr wrap="square" lIns="25400" tIns="25400" rIns="25400" bIns="25400" rtlCol="0" anchor="t">
            <a:noAutofit/>
          </a:bodyPr>
          <a:lstStyle/>
          <a:p>
            <a:pPr marL="0" indent="0" algn="l">
              <a:lnSpc>
                <a:spcPct val="132000"/>
              </a:lnSpc>
              <a:buNone/>
            </a:pPr>
            <a:r>
              <a:rPr lang="en-US" sz="2600" dirty="0">
                <a:solidFill>
                  <a:srgbClr val="3B4A44"/>
                </a:solidFill>
                <a:latin typeface="Inter" pitchFamily="34" charset="0"/>
                <a:ea typeface="Inter" pitchFamily="34" charset="-122"/>
              </a:rPr>
              <a:t>Explore a codebase and surface trade-offs.</a:t>
            </a:r>
          </a:p>
        </p:txBody>
      </p:sp>
      <p:sp>
        <p:nvSpPr>
          <p:cNvPr id="11" name="Shape 9"/>
          <p:cNvSpPr/>
          <p:nvPr/>
        </p:nvSpPr>
        <p:spPr>
          <a:xfrm>
            <a:off x="11963400" y="2791197"/>
            <a:ext cx="5181600" cy="1936105"/>
          </a:xfrm>
          <a:prstGeom prst="roundRect">
            <a:avLst>
              <a:gd name="adj" fmla="val 8855"/>
            </a:avLst>
          </a:prstGeom>
          <a:solidFill>
            <a:srgbClr val="F3F8F5"/>
          </a:solidFill>
          <a:ln w="9525">
            <a:solidFill>
              <a:srgbClr val="E6F1EC"/>
            </a:solidFill>
            <a:prstDash val="solid"/>
          </a:ln>
        </p:spPr>
        <p:txBody>
          <a:bodyPr/>
          <a:lstStyle/>
          <a:p>
            <a:endParaRPr lang="en-US"/>
          </a:p>
        </p:txBody>
      </p:sp>
      <p:sp>
        <p:nvSpPr>
          <p:cNvPr id="12" name="Text 10"/>
          <p:cNvSpPr/>
          <p:nvPr/>
        </p:nvSpPr>
        <p:spPr>
          <a:xfrm>
            <a:off x="12296775" y="3086472"/>
            <a:ext cx="4650296" cy="464790"/>
          </a:xfrm>
          <a:prstGeom prst="rect">
            <a:avLst/>
          </a:prstGeom>
          <a:noFill/>
          <a:ln/>
        </p:spPr>
        <p:txBody>
          <a:bodyPr wrap="square" lIns="25400" tIns="25400" rIns="25400" bIns="25400" rtlCol="0" anchor="t">
            <a:normAutofit fontScale="92500" lnSpcReduction="20000"/>
          </a:bodyPr>
          <a:lstStyle/>
          <a:p>
            <a:pPr marL="0" indent="0" algn="l">
              <a:lnSpc>
                <a:spcPct val="112000"/>
              </a:lnSpc>
              <a:buNone/>
            </a:pPr>
            <a:r>
              <a:rPr lang="en-US" sz="3000" b="1" dirty="0">
                <a:solidFill>
                  <a:srgbClr val="14201B"/>
                </a:solidFill>
                <a:latin typeface="Inter" pitchFamily="34" charset="0"/>
                <a:ea typeface="Inter" pitchFamily="34" charset="-122"/>
                <a:cs typeface="Inter" pitchFamily="34" charset="-120"/>
              </a:rPr>
              <a:t>Design</a:t>
            </a:r>
            <a:endParaRPr lang="en-US" sz="3000" dirty="0"/>
          </a:p>
        </p:txBody>
      </p:sp>
      <p:sp>
        <p:nvSpPr>
          <p:cNvPr id="13" name="Text 11"/>
          <p:cNvSpPr/>
          <p:nvPr/>
        </p:nvSpPr>
        <p:spPr>
          <a:xfrm>
            <a:off x="12296775" y="3505557"/>
            <a:ext cx="4650296" cy="842665"/>
          </a:xfrm>
          <a:prstGeom prst="rect">
            <a:avLst/>
          </a:prstGeom>
          <a:noFill/>
          <a:ln/>
        </p:spPr>
        <p:txBody>
          <a:bodyPr wrap="square" lIns="25400" tIns="25400" rIns="25400" bIns="25400" rtlCol="0" anchor="t">
            <a:noAutofit/>
          </a:bodyPr>
          <a:lstStyle/>
          <a:p>
            <a:pPr marL="0" indent="0" algn="l">
              <a:lnSpc>
                <a:spcPct val="132000"/>
              </a:lnSpc>
              <a:buNone/>
            </a:pPr>
            <a:r>
              <a:rPr lang="en-US" sz="2600" dirty="0">
                <a:solidFill>
                  <a:srgbClr val="3B4A44"/>
                </a:solidFill>
                <a:latin typeface="Inter" pitchFamily="34" charset="0"/>
                <a:ea typeface="Inter" pitchFamily="34" charset="-122"/>
              </a:rPr>
              <a:t>Produce a design we review before code.</a:t>
            </a:r>
          </a:p>
        </p:txBody>
      </p:sp>
      <p:sp>
        <p:nvSpPr>
          <p:cNvPr id="14" name="Shape 12"/>
          <p:cNvSpPr/>
          <p:nvPr/>
        </p:nvSpPr>
        <p:spPr>
          <a:xfrm>
            <a:off x="1143000" y="4955901"/>
            <a:ext cx="5181600" cy="1936105"/>
          </a:xfrm>
          <a:prstGeom prst="roundRect">
            <a:avLst>
              <a:gd name="adj" fmla="val 8855"/>
            </a:avLst>
          </a:prstGeom>
          <a:solidFill>
            <a:srgbClr val="F3F8F5"/>
          </a:solidFill>
          <a:ln w="9525">
            <a:solidFill>
              <a:srgbClr val="E6F1EC"/>
            </a:solidFill>
            <a:prstDash val="solid"/>
          </a:ln>
        </p:spPr>
        <p:txBody>
          <a:bodyPr/>
          <a:lstStyle/>
          <a:p>
            <a:endParaRPr lang="en-US"/>
          </a:p>
        </p:txBody>
      </p:sp>
      <p:sp>
        <p:nvSpPr>
          <p:cNvPr id="15" name="Text 13"/>
          <p:cNvSpPr/>
          <p:nvPr/>
        </p:nvSpPr>
        <p:spPr>
          <a:xfrm>
            <a:off x="1476375" y="5251177"/>
            <a:ext cx="4650296" cy="464790"/>
          </a:xfrm>
          <a:prstGeom prst="rect">
            <a:avLst/>
          </a:prstGeom>
          <a:noFill/>
          <a:ln/>
        </p:spPr>
        <p:txBody>
          <a:bodyPr wrap="square" lIns="25400" tIns="25400" rIns="25400" bIns="25400" rtlCol="0" anchor="t">
            <a:normAutofit fontScale="92500" lnSpcReduction="20000"/>
          </a:bodyPr>
          <a:lstStyle/>
          <a:p>
            <a:pPr marL="0" indent="0" algn="l">
              <a:lnSpc>
                <a:spcPct val="112000"/>
              </a:lnSpc>
              <a:buNone/>
            </a:pPr>
            <a:r>
              <a:rPr lang="en-US" sz="3000" b="1" dirty="0">
                <a:solidFill>
                  <a:srgbClr val="14201B"/>
                </a:solidFill>
                <a:latin typeface="Inter" pitchFamily="34" charset="0"/>
                <a:ea typeface="Inter" pitchFamily="34" charset="-122"/>
                <a:cs typeface="Inter" pitchFamily="34" charset="-120"/>
              </a:rPr>
              <a:t>Build</a:t>
            </a:r>
            <a:endParaRPr lang="en-US" sz="3000" dirty="0"/>
          </a:p>
        </p:txBody>
      </p:sp>
      <p:sp>
        <p:nvSpPr>
          <p:cNvPr id="16" name="Text 14"/>
          <p:cNvSpPr/>
          <p:nvPr/>
        </p:nvSpPr>
        <p:spPr>
          <a:xfrm>
            <a:off x="1476375" y="5746446"/>
            <a:ext cx="4650296" cy="974394"/>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2800" dirty="0">
                <a:solidFill>
                  <a:srgbClr val="3B4A44"/>
                </a:solidFill>
                <a:latin typeface="Inter" pitchFamily="34" charset="0"/>
                <a:ea typeface="Inter" pitchFamily="34" charset="-122"/>
                <a:cs typeface="Inter" pitchFamily="34" charset="-120"/>
              </a:rPr>
              <a:t>One feature at a time, </a:t>
            </a:r>
          </a:p>
          <a:p>
            <a:pPr marL="0" indent="0" algn="l">
              <a:lnSpc>
                <a:spcPct val="132000"/>
              </a:lnSpc>
              <a:buNone/>
            </a:pPr>
            <a:r>
              <a:rPr lang="en-US" sz="2800" dirty="0">
                <a:solidFill>
                  <a:srgbClr val="3B4A44"/>
                </a:solidFill>
                <a:latin typeface="Inter" pitchFamily="34" charset="0"/>
                <a:ea typeface="Inter" pitchFamily="34" charset="-122"/>
                <a:cs typeface="Inter" pitchFamily="34" charset="-120"/>
              </a:rPr>
              <a:t>test-first.</a:t>
            </a:r>
            <a:endParaRPr lang="en-US" sz="2800" dirty="0"/>
          </a:p>
        </p:txBody>
      </p:sp>
      <p:sp>
        <p:nvSpPr>
          <p:cNvPr id="17" name="Shape 15"/>
          <p:cNvSpPr/>
          <p:nvPr/>
        </p:nvSpPr>
        <p:spPr>
          <a:xfrm>
            <a:off x="6553200" y="4955902"/>
            <a:ext cx="5181600" cy="1936105"/>
          </a:xfrm>
          <a:prstGeom prst="roundRect">
            <a:avLst>
              <a:gd name="adj" fmla="val 8855"/>
            </a:avLst>
          </a:prstGeom>
          <a:solidFill>
            <a:srgbClr val="F3F8F5"/>
          </a:solidFill>
          <a:ln w="9525">
            <a:solidFill>
              <a:srgbClr val="E6F1EC"/>
            </a:solidFill>
            <a:prstDash val="solid"/>
          </a:ln>
        </p:spPr>
        <p:txBody>
          <a:bodyPr/>
          <a:lstStyle/>
          <a:p>
            <a:endParaRPr lang="en-US"/>
          </a:p>
        </p:txBody>
      </p:sp>
      <p:sp>
        <p:nvSpPr>
          <p:cNvPr id="18" name="Text 16"/>
          <p:cNvSpPr/>
          <p:nvPr/>
        </p:nvSpPr>
        <p:spPr>
          <a:xfrm>
            <a:off x="6886575" y="5251177"/>
            <a:ext cx="4650296" cy="464790"/>
          </a:xfrm>
          <a:prstGeom prst="rect">
            <a:avLst/>
          </a:prstGeom>
          <a:noFill/>
          <a:ln/>
        </p:spPr>
        <p:txBody>
          <a:bodyPr wrap="square" lIns="25400" tIns="25400" rIns="25400" bIns="25400" rtlCol="0" anchor="t">
            <a:normAutofit fontScale="92500" lnSpcReduction="20000"/>
          </a:bodyPr>
          <a:lstStyle/>
          <a:p>
            <a:pPr marL="0" indent="0" algn="l">
              <a:lnSpc>
                <a:spcPct val="112000"/>
              </a:lnSpc>
              <a:buNone/>
            </a:pPr>
            <a:r>
              <a:rPr lang="en-US" sz="3000" b="1" dirty="0">
                <a:solidFill>
                  <a:srgbClr val="14201B"/>
                </a:solidFill>
                <a:latin typeface="Inter" pitchFamily="34" charset="0"/>
                <a:ea typeface="Inter" pitchFamily="34" charset="-122"/>
                <a:cs typeface="Inter" pitchFamily="34" charset="-120"/>
              </a:rPr>
              <a:t>Code review</a:t>
            </a:r>
            <a:endParaRPr lang="en-US" sz="3000" dirty="0"/>
          </a:p>
        </p:txBody>
      </p:sp>
      <p:sp>
        <p:nvSpPr>
          <p:cNvPr id="19" name="Text 17"/>
          <p:cNvSpPr/>
          <p:nvPr/>
        </p:nvSpPr>
        <p:spPr>
          <a:xfrm>
            <a:off x="6886575" y="5670247"/>
            <a:ext cx="4650296" cy="842665"/>
          </a:xfrm>
          <a:prstGeom prst="rect">
            <a:avLst/>
          </a:prstGeom>
          <a:noFill/>
          <a:ln/>
        </p:spPr>
        <p:txBody>
          <a:bodyPr wrap="square" lIns="25400" tIns="25400" rIns="25400" bIns="25400" rtlCol="0" anchor="t">
            <a:noAutofit/>
          </a:bodyPr>
          <a:lstStyle/>
          <a:p>
            <a:pPr marL="0" indent="0" algn="l">
              <a:lnSpc>
                <a:spcPct val="132000"/>
              </a:lnSpc>
              <a:buNone/>
            </a:pPr>
            <a:r>
              <a:rPr lang="en-US" sz="2600" dirty="0">
                <a:solidFill>
                  <a:srgbClr val="3B4A44"/>
                </a:solidFill>
                <a:latin typeface="Inter" pitchFamily="34" charset="0"/>
                <a:ea typeface="Inter" pitchFamily="34" charset="-122"/>
              </a:rPr>
              <a:t>A second set of eyes on every change.</a:t>
            </a:r>
          </a:p>
        </p:txBody>
      </p:sp>
      <p:sp>
        <p:nvSpPr>
          <p:cNvPr id="20" name="Shape 18"/>
          <p:cNvSpPr/>
          <p:nvPr/>
        </p:nvSpPr>
        <p:spPr>
          <a:xfrm>
            <a:off x="11963400" y="4955902"/>
            <a:ext cx="5181600" cy="1936105"/>
          </a:xfrm>
          <a:prstGeom prst="roundRect">
            <a:avLst>
              <a:gd name="adj" fmla="val 8855"/>
            </a:avLst>
          </a:prstGeom>
          <a:solidFill>
            <a:srgbClr val="F3F8F5"/>
          </a:solidFill>
          <a:ln w="9525">
            <a:solidFill>
              <a:srgbClr val="E6F1EC"/>
            </a:solidFill>
            <a:prstDash val="solid"/>
          </a:ln>
        </p:spPr>
        <p:txBody>
          <a:bodyPr/>
          <a:lstStyle/>
          <a:p>
            <a:endParaRPr lang="en-US"/>
          </a:p>
        </p:txBody>
      </p:sp>
      <p:sp>
        <p:nvSpPr>
          <p:cNvPr id="21" name="Text 19"/>
          <p:cNvSpPr/>
          <p:nvPr/>
        </p:nvSpPr>
        <p:spPr>
          <a:xfrm>
            <a:off x="12296775" y="5251177"/>
            <a:ext cx="4650296" cy="464790"/>
          </a:xfrm>
          <a:prstGeom prst="rect">
            <a:avLst/>
          </a:prstGeom>
          <a:noFill/>
          <a:ln/>
        </p:spPr>
        <p:txBody>
          <a:bodyPr wrap="square" lIns="25400" tIns="25400" rIns="25400" bIns="25400" rtlCol="0" anchor="t">
            <a:normAutofit fontScale="92500" lnSpcReduction="20000"/>
          </a:bodyPr>
          <a:lstStyle/>
          <a:p>
            <a:pPr marL="0" indent="0" algn="l">
              <a:lnSpc>
                <a:spcPct val="112000"/>
              </a:lnSpc>
              <a:buNone/>
            </a:pPr>
            <a:r>
              <a:rPr lang="en-US" sz="3000" b="1" dirty="0">
                <a:solidFill>
                  <a:srgbClr val="14201B"/>
                </a:solidFill>
                <a:latin typeface="Inter" pitchFamily="34" charset="0"/>
                <a:ea typeface="Inter" pitchFamily="34" charset="-122"/>
                <a:cs typeface="Inter" pitchFamily="34" charset="-120"/>
              </a:rPr>
              <a:t>Testing</a:t>
            </a:r>
            <a:endParaRPr lang="en-US" sz="3000" dirty="0"/>
          </a:p>
        </p:txBody>
      </p:sp>
      <p:sp>
        <p:nvSpPr>
          <p:cNvPr id="22" name="Text 20"/>
          <p:cNvSpPr/>
          <p:nvPr/>
        </p:nvSpPr>
        <p:spPr>
          <a:xfrm>
            <a:off x="12296775" y="5700727"/>
            <a:ext cx="4650296" cy="842665"/>
          </a:xfrm>
          <a:prstGeom prst="rect">
            <a:avLst/>
          </a:prstGeom>
          <a:noFill/>
          <a:ln/>
        </p:spPr>
        <p:txBody>
          <a:bodyPr wrap="square" lIns="25400" tIns="25400" rIns="25400" bIns="25400" rtlCol="0" anchor="t">
            <a:noAutofit/>
          </a:bodyPr>
          <a:lstStyle/>
          <a:p>
            <a:pPr marL="0" indent="0" algn="l">
              <a:lnSpc>
                <a:spcPct val="132000"/>
              </a:lnSpc>
              <a:buNone/>
            </a:pPr>
            <a:r>
              <a:rPr lang="en-US" sz="2600" dirty="0">
                <a:solidFill>
                  <a:srgbClr val="3B4A44"/>
                </a:solidFill>
                <a:latin typeface="Inter" pitchFamily="34" charset="0"/>
                <a:ea typeface="Inter" pitchFamily="34" charset="-122"/>
              </a:rPr>
              <a:t>Write and run the tests, not just the feature.</a:t>
            </a:r>
          </a:p>
        </p:txBody>
      </p:sp>
      <p:sp>
        <p:nvSpPr>
          <p:cNvPr id="23" name="Shape 21"/>
          <p:cNvSpPr/>
          <p:nvPr/>
        </p:nvSpPr>
        <p:spPr>
          <a:xfrm>
            <a:off x="1143000" y="7196807"/>
            <a:ext cx="16002000" cy="1421011"/>
          </a:xfrm>
          <a:prstGeom prst="roundRect">
            <a:avLst>
              <a:gd name="adj" fmla="val 10725"/>
            </a:avLst>
          </a:prstGeom>
          <a:solidFill>
            <a:srgbClr val="F3F8F5"/>
          </a:solidFill>
          <a:ln w="9525">
            <a:solidFill>
              <a:srgbClr val="E6F1EC"/>
            </a:solidFill>
            <a:prstDash val="solid"/>
          </a:ln>
        </p:spPr>
        <p:txBody>
          <a:bodyPr/>
          <a:lstStyle/>
          <a:p>
            <a:endParaRPr lang="en-US"/>
          </a:p>
        </p:txBody>
      </p:sp>
      <p:sp>
        <p:nvSpPr>
          <p:cNvPr id="24" name="Text 22"/>
          <p:cNvSpPr/>
          <p:nvPr/>
        </p:nvSpPr>
        <p:spPr>
          <a:xfrm>
            <a:off x="1476375" y="7453982"/>
            <a:ext cx="15815310" cy="9447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2550" b="1" dirty="0">
                <a:solidFill>
                  <a:srgbClr val="003824"/>
                </a:solidFill>
                <a:latin typeface="Inter" pitchFamily="34" charset="0"/>
                <a:ea typeface="Inter" pitchFamily="34" charset="-122"/>
                <a:cs typeface="Inter" pitchFamily="34" charset="-120"/>
              </a:rPr>
              <a:t>The value is not just faster coding - it is faster feedback across the lifecycle.</a:t>
            </a:r>
          </a:p>
          <a:p>
            <a:pPr marL="0" indent="0" algn="l">
              <a:lnSpc>
                <a:spcPct val="140000"/>
              </a:lnSpc>
              <a:buNone/>
            </a:pPr>
            <a:r>
              <a:rPr lang="en-US" sz="2550" b="1" dirty="0">
                <a:solidFill>
                  <a:srgbClr val="003824"/>
                </a:solidFill>
                <a:latin typeface="Inter" pitchFamily="34" charset="0"/>
                <a:ea typeface="Inter" pitchFamily="34" charset="-122"/>
                <a:cs typeface="Inter" pitchFamily="34" charset="-120"/>
              </a:rPr>
              <a:t>GitHub Copilot + Superpowers for engineering. Copilot for M365 for analysis support.</a:t>
            </a:r>
            <a:endParaRPr lang="en-US" sz="2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952500"/>
            <a:ext cx="16482060" cy="390525"/>
          </a:xfrm>
          <a:prstGeom prst="rect">
            <a:avLst/>
          </a:prstGeom>
          <a:noFill/>
          <a:ln/>
        </p:spPr>
        <p:txBody>
          <a:bodyPr wrap="square" lIns="25400" tIns="25400" rIns="25400" bIns="25400" rtlCol="0" anchor="t">
            <a:normAutofit/>
          </a:bodyPr>
          <a:lstStyle/>
          <a:p>
            <a:pPr marL="0" indent="0" algn="l">
              <a:buNone/>
            </a:pPr>
            <a:r>
              <a:rPr lang="en-US" sz="2100" kern="0" spc="336" dirty="0">
                <a:solidFill>
                  <a:srgbClr val="006A4D"/>
                </a:solidFill>
                <a:latin typeface="JetBrains Mono" pitchFamily="34" charset="0"/>
                <a:ea typeface="JetBrains Mono" pitchFamily="34" charset="-122"/>
                <a:cs typeface="JetBrains Mono" pitchFamily="34" charset="-120"/>
              </a:rPr>
              <a:t>HOW WE GET THERE</a:t>
            </a:r>
            <a:endParaRPr lang="en-US" sz="2100" dirty="0"/>
          </a:p>
        </p:txBody>
      </p:sp>
      <p:sp>
        <p:nvSpPr>
          <p:cNvPr id="3" name="Shape 1"/>
          <p:cNvSpPr/>
          <p:nvPr/>
        </p:nvSpPr>
        <p:spPr>
          <a:xfrm>
            <a:off x="1143000" y="1533525"/>
            <a:ext cx="685800" cy="47625"/>
          </a:xfrm>
          <a:prstGeom prst="roundRect">
            <a:avLst>
              <a:gd name="adj" fmla="val 40000"/>
            </a:avLst>
          </a:prstGeom>
          <a:solidFill>
            <a:srgbClr val="006A4D"/>
          </a:solidFill>
          <a:ln/>
        </p:spPr>
        <p:txBody>
          <a:bodyPr/>
          <a:lstStyle/>
          <a:p>
            <a:endParaRPr lang="en-US"/>
          </a:p>
        </p:txBody>
      </p:sp>
      <p:sp>
        <p:nvSpPr>
          <p:cNvPr id="4" name="Text 2"/>
          <p:cNvSpPr/>
          <p:nvPr/>
        </p:nvSpPr>
        <p:spPr>
          <a:xfrm>
            <a:off x="1143000" y="2038350"/>
            <a:ext cx="11639612" cy="909786"/>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6600" b="1" kern="0" spc="-132" dirty="0">
                <a:solidFill>
                  <a:srgbClr val="003824"/>
                </a:solidFill>
                <a:latin typeface="Inter" pitchFamily="34" charset="0"/>
                <a:ea typeface="Inter" pitchFamily="34" charset="-122"/>
                <a:cs typeface="Inter" pitchFamily="34" charset="-120"/>
              </a:rPr>
              <a:t>We don’t prompt and hope...</a:t>
            </a:r>
            <a:endParaRPr lang="en-US" sz="6600" dirty="0"/>
          </a:p>
        </p:txBody>
      </p:sp>
      <p:sp>
        <p:nvSpPr>
          <p:cNvPr id="5" name="Shape 3"/>
          <p:cNvSpPr/>
          <p:nvPr/>
        </p:nvSpPr>
        <p:spPr>
          <a:xfrm>
            <a:off x="1143000" y="3367236"/>
            <a:ext cx="7810500" cy="3644131"/>
          </a:xfrm>
          <a:prstGeom prst="roundRect">
            <a:avLst>
              <a:gd name="adj" fmla="val 5228"/>
            </a:avLst>
          </a:prstGeom>
          <a:solidFill>
            <a:srgbClr val="F3F8F5"/>
          </a:solidFill>
          <a:ln w="9525">
            <a:solidFill>
              <a:srgbClr val="E6F1EC"/>
            </a:solidFill>
            <a:prstDash val="solid"/>
          </a:ln>
        </p:spPr>
        <p:txBody>
          <a:bodyPr/>
          <a:lstStyle/>
          <a:p>
            <a:endParaRPr lang="en-US"/>
          </a:p>
        </p:txBody>
      </p:sp>
      <p:sp>
        <p:nvSpPr>
          <p:cNvPr id="6" name="Text 4"/>
          <p:cNvSpPr/>
          <p:nvPr/>
        </p:nvSpPr>
        <p:spPr>
          <a:xfrm>
            <a:off x="1647825" y="3833961"/>
            <a:ext cx="7004876" cy="390525"/>
          </a:xfrm>
          <a:prstGeom prst="rect">
            <a:avLst/>
          </a:prstGeom>
          <a:noFill/>
          <a:ln/>
        </p:spPr>
        <p:txBody>
          <a:bodyPr wrap="square" lIns="25400" tIns="25400" rIns="25400" bIns="25400" rtlCol="0" anchor="t">
            <a:normAutofit/>
          </a:bodyPr>
          <a:lstStyle/>
          <a:p>
            <a:pPr marL="0" indent="0" algn="l">
              <a:buNone/>
            </a:pPr>
            <a:r>
              <a:rPr lang="en-US" sz="2100" dirty="0">
                <a:solidFill>
                  <a:srgbClr val="006A4D"/>
                </a:solidFill>
                <a:latin typeface="JetBrains Mono" pitchFamily="34" charset="0"/>
                <a:ea typeface="JetBrains Mono" pitchFamily="34" charset="-122"/>
                <a:cs typeface="JetBrains Mono" pitchFamily="34" charset="-120"/>
              </a:rPr>
              <a:t>01</a:t>
            </a:r>
            <a:endParaRPr lang="en-US" sz="2100" dirty="0"/>
          </a:p>
        </p:txBody>
      </p:sp>
      <p:sp>
        <p:nvSpPr>
          <p:cNvPr id="7" name="Text 5"/>
          <p:cNvSpPr/>
          <p:nvPr/>
        </p:nvSpPr>
        <p:spPr>
          <a:xfrm>
            <a:off x="1647825" y="4376886"/>
            <a:ext cx="7004876" cy="555054"/>
          </a:xfrm>
          <a:prstGeom prst="rect">
            <a:avLst/>
          </a:prstGeom>
          <a:noFill/>
          <a:ln/>
        </p:spPr>
        <p:txBody>
          <a:bodyPr wrap="square" lIns="25400" tIns="25400" rIns="25400" bIns="25400" rtlCol="0" anchor="t">
            <a:normAutofit fontScale="92500" lnSpcReduction="10000"/>
          </a:bodyPr>
          <a:lstStyle/>
          <a:p>
            <a:pPr marL="0" indent="0" algn="l">
              <a:lnSpc>
                <a:spcPct val="118000"/>
              </a:lnSpc>
              <a:buNone/>
            </a:pPr>
            <a:r>
              <a:rPr lang="en-US" sz="3450" b="1" dirty="0">
                <a:solidFill>
                  <a:srgbClr val="14201B"/>
                </a:solidFill>
                <a:latin typeface="Inter" pitchFamily="34" charset="0"/>
                <a:ea typeface="Inter" pitchFamily="34" charset="-122"/>
                <a:cs typeface="Inter" pitchFamily="34" charset="-120"/>
              </a:rPr>
              <a:t>A detailed spec, approved first</a:t>
            </a:r>
            <a:endParaRPr lang="en-US" sz="3450" dirty="0"/>
          </a:p>
        </p:txBody>
      </p:sp>
      <p:sp>
        <p:nvSpPr>
          <p:cNvPr id="8" name="Text 6"/>
          <p:cNvSpPr/>
          <p:nvPr/>
        </p:nvSpPr>
        <p:spPr>
          <a:xfrm>
            <a:off x="1647825" y="5046241"/>
            <a:ext cx="7004876" cy="1536502"/>
          </a:xfrm>
          <a:prstGeom prst="rect">
            <a:avLst/>
          </a:prstGeom>
          <a:noFill/>
          <a:ln/>
        </p:spPr>
        <p:txBody>
          <a:bodyPr wrap="square" lIns="25400" tIns="25400" rIns="25400" bIns="25400" rtlCol="0" anchor="t">
            <a:normAutofit/>
          </a:bodyPr>
          <a:lstStyle/>
          <a:p>
            <a:pPr marL="0" indent="0" algn="l">
              <a:lnSpc>
                <a:spcPct val="138000"/>
              </a:lnSpc>
              <a:buNone/>
            </a:pPr>
            <a:r>
              <a:rPr lang="en-US" sz="2850" dirty="0">
                <a:solidFill>
                  <a:srgbClr val="3B4A44"/>
                </a:solidFill>
                <a:latin typeface="Inter" pitchFamily="34" charset="0"/>
                <a:ea typeface="Inter" pitchFamily="34" charset="-122"/>
                <a:cs typeface="Inter" pitchFamily="34" charset="-120"/>
              </a:rPr>
              <a:t>The agent writes a full specification; we read and approve before a line of code is written.</a:t>
            </a:r>
            <a:endParaRPr lang="en-US" sz="2850" dirty="0"/>
          </a:p>
        </p:txBody>
      </p:sp>
      <p:sp>
        <p:nvSpPr>
          <p:cNvPr id="9" name="Shape 7"/>
          <p:cNvSpPr/>
          <p:nvPr/>
        </p:nvSpPr>
        <p:spPr>
          <a:xfrm>
            <a:off x="9334500" y="3367236"/>
            <a:ext cx="7810500" cy="3644131"/>
          </a:xfrm>
          <a:prstGeom prst="roundRect">
            <a:avLst>
              <a:gd name="adj" fmla="val 5228"/>
            </a:avLst>
          </a:prstGeom>
          <a:solidFill>
            <a:srgbClr val="F3F8F5"/>
          </a:solidFill>
          <a:ln w="9525">
            <a:solidFill>
              <a:srgbClr val="E6F1EC"/>
            </a:solidFill>
            <a:prstDash val="solid"/>
          </a:ln>
        </p:spPr>
        <p:txBody>
          <a:bodyPr/>
          <a:lstStyle/>
          <a:p>
            <a:endParaRPr lang="en-US"/>
          </a:p>
        </p:txBody>
      </p:sp>
      <p:sp>
        <p:nvSpPr>
          <p:cNvPr id="10" name="Text 8"/>
          <p:cNvSpPr/>
          <p:nvPr/>
        </p:nvSpPr>
        <p:spPr>
          <a:xfrm>
            <a:off x="9839325" y="3833961"/>
            <a:ext cx="7004876" cy="390525"/>
          </a:xfrm>
          <a:prstGeom prst="rect">
            <a:avLst/>
          </a:prstGeom>
          <a:noFill/>
          <a:ln/>
        </p:spPr>
        <p:txBody>
          <a:bodyPr wrap="square" lIns="25400" tIns="25400" rIns="25400" bIns="25400" rtlCol="0" anchor="t">
            <a:normAutofit/>
          </a:bodyPr>
          <a:lstStyle/>
          <a:p>
            <a:pPr marL="0" indent="0" algn="l">
              <a:buNone/>
            </a:pPr>
            <a:r>
              <a:rPr lang="en-US" sz="2100" dirty="0">
                <a:solidFill>
                  <a:srgbClr val="006A4D"/>
                </a:solidFill>
                <a:latin typeface="JetBrains Mono" pitchFamily="34" charset="0"/>
                <a:ea typeface="JetBrains Mono" pitchFamily="34" charset="-122"/>
                <a:cs typeface="JetBrains Mono" pitchFamily="34" charset="-120"/>
              </a:rPr>
              <a:t>02</a:t>
            </a:r>
            <a:endParaRPr lang="en-US" sz="2100" dirty="0"/>
          </a:p>
        </p:txBody>
      </p:sp>
      <p:sp>
        <p:nvSpPr>
          <p:cNvPr id="11" name="Text 9"/>
          <p:cNvSpPr/>
          <p:nvPr/>
        </p:nvSpPr>
        <p:spPr>
          <a:xfrm>
            <a:off x="9839325" y="4376886"/>
            <a:ext cx="7004876" cy="555054"/>
          </a:xfrm>
          <a:prstGeom prst="rect">
            <a:avLst/>
          </a:prstGeom>
          <a:noFill/>
          <a:ln/>
        </p:spPr>
        <p:txBody>
          <a:bodyPr wrap="square" lIns="25400" tIns="25400" rIns="25400" bIns="25400" rtlCol="0" anchor="t">
            <a:normAutofit fontScale="92500" lnSpcReduction="10000"/>
          </a:bodyPr>
          <a:lstStyle/>
          <a:p>
            <a:pPr marL="0" indent="0" algn="l">
              <a:lnSpc>
                <a:spcPct val="118000"/>
              </a:lnSpc>
              <a:buNone/>
            </a:pPr>
            <a:r>
              <a:rPr lang="en-US" sz="3450" b="1" dirty="0">
                <a:solidFill>
                  <a:srgbClr val="14201B"/>
                </a:solidFill>
                <a:latin typeface="Inter" pitchFamily="34" charset="0"/>
                <a:ea typeface="Inter" pitchFamily="34" charset="-122"/>
                <a:cs typeface="Inter" pitchFamily="34" charset="-120"/>
              </a:rPr>
              <a:t>Feature by feature, test-driven</a:t>
            </a:r>
            <a:endParaRPr lang="en-US" sz="3450" dirty="0"/>
          </a:p>
        </p:txBody>
      </p:sp>
      <p:sp>
        <p:nvSpPr>
          <p:cNvPr id="12" name="Text 10"/>
          <p:cNvSpPr/>
          <p:nvPr/>
        </p:nvSpPr>
        <p:spPr>
          <a:xfrm>
            <a:off x="9839325" y="5044674"/>
            <a:ext cx="7004876" cy="1202456"/>
          </a:xfrm>
          <a:prstGeom prst="rect">
            <a:avLst/>
          </a:prstGeom>
          <a:noFill/>
          <a:ln/>
        </p:spPr>
        <p:txBody>
          <a:bodyPr wrap="square" lIns="25400" tIns="25400" rIns="25400" bIns="25400" rtlCol="0" anchor="t">
            <a:normAutofit/>
          </a:bodyPr>
          <a:lstStyle/>
          <a:p>
            <a:pPr marL="0" indent="0" algn="l">
              <a:lnSpc>
                <a:spcPct val="138000"/>
              </a:lnSpc>
              <a:buNone/>
            </a:pPr>
            <a:r>
              <a:rPr lang="en-US" sz="2800" dirty="0">
                <a:solidFill>
                  <a:srgbClr val="3B4A44"/>
                </a:solidFill>
                <a:latin typeface="Inter" pitchFamily="34" charset="0"/>
                <a:ea typeface="Inter" pitchFamily="34" charset="-122"/>
                <a:cs typeface="Inter" pitchFamily="34" charset="-120"/>
              </a:rPr>
              <a:t>It builds one feature at a time, tests first - each step verified before the next.</a:t>
            </a:r>
            <a:endParaRPr lang="en-US" sz="2800" dirty="0"/>
          </a:p>
        </p:txBody>
      </p:sp>
      <p:sp>
        <p:nvSpPr>
          <p:cNvPr id="13" name="Shape 11"/>
          <p:cNvSpPr/>
          <p:nvPr/>
        </p:nvSpPr>
        <p:spPr>
          <a:xfrm>
            <a:off x="1143000" y="7392367"/>
            <a:ext cx="16002000" cy="938213"/>
          </a:xfrm>
          <a:prstGeom prst="roundRect">
            <a:avLst>
              <a:gd name="adj" fmla="val 16244"/>
            </a:avLst>
          </a:prstGeom>
          <a:solidFill>
            <a:srgbClr val="F3F8F5"/>
          </a:solidFill>
          <a:ln w="9525">
            <a:solidFill>
              <a:srgbClr val="E6F1EC"/>
            </a:solidFill>
            <a:prstDash val="solid"/>
          </a:ln>
        </p:spPr>
        <p:txBody>
          <a:bodyPr/>
          <a:lstStyle/>
          <a:p>
            <a:endParaRPr lang="en-US"/>
          </a:p>
        </p:txBody>
      </p:sp>
      <p:sp>
        <p:nvSpPr>
          <p:cNvPr id="14" name="Text 12"/>
          <p:cNvSpPr/>
          <p:nvPr/>
        </p:nvSpPr>
        <p:spPr>
          <a:xfrm>
            <a:off x="1476375" y="7649542"/>
            <a:ext cx="879351" cy="461963"/>
          </a:xfrm>
          <a:prstGeom prst="rect">
            <a:avLst/>
          </a:prstGeom>
          <a:noFill/>
          <a:ln/>
        </p:spPr>
        <p:txBody>
          <a:bodyPr wrap="square" lIns="25400" tIns="25400" rIns="25400" bIns="25400" rtlCol="0" anchor="t">
            <a:normAutofit/>
          </a:bodyPr>
          <a:lstStyle/>
          <a:p>
            <a:pPr marL="0" indent="0" algn="l">
              <a:buNone/>
            </a:pPr>
            <a:r>
              <a:rPr lang="en-US" sz="2550" kern="0" spc="51" dirty="0">
                <a:solidFill>
                  <a:srgbClr val="14201B"/>
                </a:solidFill>
                <a:latin typeface="JetBrains Mono" pitchFamily="34" charset="0"/>
                <a:ea typeface="JetBrains Mono" pitchFamily="34" charset="-122"/>
                <a:cs typeface="JetBrains Mono" pitchFamily="34" charset="-120"/>
              </a:rPr>
              <a:t>Spec</a:t>
            </a:r>
            <a:endParaRPr lang="en-US" sz="2550" dirty="0"/>
          </a:p>
        </p:txBody>
      </p:sp>
      <p:sp>
        <p:nvSpPr>
          <p:cNvPr id="15" name="Text 13"/>
          <p:cNvSpPr/>
          <p:nvPr/>
        </p:nvSpPr>
        <p:spPr>
          <a:xfrm>
            <a:off x="2450976" y="7649542"/>
            <a:ext cx="277713" cy="461963"/>
          </a:xfrm>
          <a:prstGeom prst="rect">
            <a:avLst/>
          </a:prstGeom>
          <a:noFill/>
          <a:ln/>
        </p:spPr>
        <p:txBody>
          <a:bodyPr wrap="square" lIns="25400" tIns="25400" rIns="25400" bIns="25400" rtlCol="0" anchor="t">
            <a:normAutofit/>
          </a:bodyPr>
          <a:lstStyle/>
          <a:p>
            <a:pPr marL="0" indent="0" algn="l">
              <a:buNone/>
            </a:pPr>
            <a:r>
              <a:rPr lang="en-US" sz="2550" kern="0" spc="51" dirty="0">
                <a:solidFill>
                  <a:srgbClr val="9EC5B3"/>
                </a:solidFill>
                <a:latin typeface="JetBrains Mono" pitchFamily="34" charset="0"/>
                <a:ea typeface="JetBrains Mono" pitchFamily="34" charset="-122"/>
                <a:cs typeface="JetBrains Mono" pitchFamily="34" charset="-120"/>
              </a:rPr>
              <a:t>→</a:t>
            </a:r>
            <a:endParaRPr lang="en-US" sz="2550" dirty="0"/>
          </a:p>
        </p:txBody>
      </p:sp>
      <p:sp>
        <p:nvSpPr>
          <p:cNvPr id="16" name="Text 14"/>
          <p:cNvSpPr/>
          <p:nvPr/>
        </p:nvSpPr>
        <p:spPr>
          <a:xfrm>
            <a:off x="2823939" y="7649542"/>
            <a:ext cx="1481733" cy="461963"/>
          </a:xfrm>
          <a:prstGeom prst="rect">
            <a:avLst/>
          </a:prstGeom>
          <a:noFill/>
          <a:ln/>
        </p:spPr>
        <p:txBody>
          <a:bodyPr wrap="square" lIns="25400" tIns="25400" rIns="25400" bIns="25400" rtlCol="0" anchor="t">
            <a:normAutofit/>
          </a:bodyPr>
          <a:lstStyle/>
          <a:p>
            <a:pPr marL="0" indent="0" algn="l">
              <a:buNone/>
            </a:pPr>
            <a:r>
              <a:rPr lang="en-US" sz="2550" kern="0" spc="51" dirty="0">
                <a:solidFill>
                  <a:srgbClr val="B5651D"/>
                </a:solidFill>
                <a:latin typeface="JetBrains Mono" pitchFamily="34" charset="0"/>
                <a:ea typeface="JetBrains Mono" pitchFamily="34" charset="-122"/>
                <a:cs typeface="JetBrains Mono" pitchFamily="34" charset="-120"/>
              </a:rPr>
              <a:t>Approve</a:t>
            </a:r>
            <a:endParaRPr lang="en-US" sz="2550" dirty="0"/>
          </a:p>
        </p:txBody>
      </p:sp>
      <p:sp>
        <p:nvSpPr>
          <p:cNvPr id="17" name="Text 15"/>
          <p:cNvSpPr/>
          <p:nvPr/>
        </p:nvSpPr>
        <p:spPr>
          <a:xfrm>
            <a:off x="4400922" y="7649542"/>
            <a:ext cx="277713" cy="461963"/>
          </a:xfrm>
          <a:prstGeom prst="rect">
            <a:avLst/>
          </a:prstGeom>
          <a:noFill/>
          <a:ln/>
        </p:spPr>
        <p:txBody>
          <a:bodyPr wrap="square" lIns="25400" tIns="25400" rIns="25400" bIns="25400" rtlCol="0" anchor="t">
            <a:normAutofit/>
          </a:bodyPr>
          <a:lstStyle/>
          <a:p>
            <a:pPr marL="0" indent="0" algn="l">
              <a:buNone/>
            </a:pPr>
            <a:r>
              <a:rPr lang="en-US" sz="2550" kern="0" spc="51" dirty="0">
                <a:solidFill>
                  <a:srgbClr val="9EC5B3"/>
                </a:solidFill>
                <a:latin typeface="JetBrains Mono" pitchFamily="34" charset="0"/>
                <a:ea typeface="JetBrains Mono" pitchFamily="34" charset="-122"/>
                <a:cs typeface="JetBrains Mono" pitchFamily="34" charset="-120"/>
              </a:rPr>
              <a:t>→</a:t>
            </a:r>
            <a:endParaRPr lang="en-US" sz="2550" dirty="0"/>
          </a:p>
        </p:txBody>
      </p:sp>
      <p:sp>
        <p:nvSpPr>
          <p:cNvPr id="18" name="Text 16"/>
          <p:cNvSpPr/>
          <p:nvPr/>
        </p:nvSpPr>
        <p:spPr>
          <a:xfrm>
            <a:off x="4773885" y="7649542"/>
            <a:ext cx="879351" cy="461963"/>
          </a:xfrm>
          <a:prstGeom prst="rect">
            <a:avLst/>
          </a:prstGeom>
          <a:noFill/>
          <a:ln/>
        </p:spPr>
        <p:txBody>
          <a:bodyPr wrap="square" lIns="25400" tIns="25400" rIns="25400" bIns="25400" rtlCol="0" anchor="t">
            <a:normAutofit/>
          </a:bodyPr>
          <a:lstStyle/>
          <a:p>
            <a:pPr marL="0" indent="0" algn="l">
              <a:buNone/>
            </a:pPr>
            <a:r>
              <a:rPr lang="en-US" sz="2550" kern="0" spc="51" dirty="0">
                <a:solidFill>
                  <a:srgbClr val="006A4D"/>
                </a:solidFill>
                <a:latin typeface="JetBrains Mono" pitchFamily="34" charset="0"/>
                <a:ea typeface="JetBrains Mono" pitchFamily="34" charset="-122"/>
                <a:cs typeface="JetBrains Mono" pitchFamily="34" charset="-120"/>
              </a:rPr>
              <a:t>Test</a:t>
            </a:r>
            <a:endParaRPr lang="en-US" sz="2550" dirty="0"/>
          </a:p>
        </p:txBody>
      </p:sp>
      <p:sp>
        <p:nvSpPr>
          <p:cNvPr id="19" name="Text 17"/>
          <p:cNvSpPr/>
          <p:nvPr/>
        </p:nvSpPr>
        <p:spPr>
          <a:xfrm>
            <a:off x="5748486" y="7649542"/>
            <a:ext cx="277713" cy="461963"/>
          </a:xfrm>
          <a:prstGeom prst="rect">
            <a:avLst/>
          </a:prstGeom>
          <a:noFill/>
          <a:ln/>
        </p:spPr>
        <p:txBody>
          <a:bodyPr wrap="square" lIns="25400" tIns="25400" rIns="25400" bIns="25400" rtlCol="0" anchor="t">
            <a:normAutofit/>
          </a:bodyPr>
          <a:lstStyle/>
          <a:p>
            <a:pPr marL="0" indent="0" algn="l">
              <a:buNone/>
            </a:pPr>
            <a:r>
              <a:rPr lang="en-US" sz="2550" kern="0" spc="51" dirty="0">
                <a:solidFill>
                  <a:srgbClr val="9EC5B3"/>
                </a:solidFill>
                <a:latin typeface="JetBrains Mono" pitchFamily="34" charset="0"/>
                <a:ea typeface="JetBrains Mono" pitchFamily="34" charset="-122"/>
                <a:cs typeface="JetBrains Mono" pitchFamily="34" charset="-120"/>
              </a:rPr>
              <a:t>→</a:t>
            </a:r>
            <a:endParaRPr lang="en-US" sz="2550" dirty="0"/>
          </a:p>
        </p:txBody>
      </p:sp>
      <p:sp>
        <p:nvSpPr>
          <p:cNvPr id="20" name="Text 18"/>
          <p:cNvSpPr/>
          <p:nvPr/>
        </p:nvSpPr>
        <p:spPr>
          <a:xfrm>
            <a:off x="6121450" y="7649542"/>
            <a:ext cx="1080120" cy="461963"/>
          </a:xfrm>
          <a:prstGeom prst="rect">
            <a:avLst/>
          </a:prstGeom>
          <a:noFill/>
          <a:ln/>
        </p:spPr>
        <p:txBody>
          <a:bodyPr wrap="square" lIns="25400" tIns="25400" rIns="25400" bIns="25400" rtlCol="0" anchor="t">
            <a:normAutofit/>
          </a:bodyPr>
          <a:lstStyle/>
          <a:p>
            <a:pPr marL="0" indent="0" algn="l">
              <a:buNone/>
            </a:pPr>
            <a:r>
              <a:rPr lang="en-US" sz="2550" kern="0" spc="51" dirty="0">
                <a:solidFill>
                  <a:srgbClr val="006A4D"/>
                </a:solidFill>
                <a:latin typeface="JetBrains Mono" pitchFamily="34" charset="0"/>
                <a:ea typeface="JetBrains Mono" pitchFamily="34" charset="-122"/>
                <a:cs typeface="JetBrains Mono" pitchFamily="34" charset="-120"/>
              </a:rPr>
              <a:t>Build</a:t>
            </a:r>
            <a:endParaRPr lang="en-US" sz="2550" dirty="0"/>
          </a:p>
        </p:txBody>
      </p:sp>
      <p:sp>
        <p:nvSpPr>
          <p:cNvPr id="21" name="Text 19"/>
          <p:cNvSpPr/>
          <p:nvPr/>
        </p:nvSpPr>
        <p:spPr>
          <a:xfrm>
            <a:off x="7296820" y="7649542"/>
            <a:ext cx="277713" cy="461963"/>
          </a:xfrm>
          <a:prstGeom prst="rect">
            <a:avLst/>
          </a:prstGeom>
          <a:noFill/>
          <a:ln/>
        </p:spPr>
        <p:txBody>
          <a:bodyPr wrap="square" lIns="25400" tIns="25400" rIns="25400" bIns="25400" rtlCol="0" anchor="t">
            <a:normAutofit/>
          </a:bodyPr>
          <a:lstStyle/>
          <a:p>
            <a:pPr marL="0" indent="0" algn="l">
              <a:buNone/>
            </a:pPr>
            <a:r>
              <a:rPr lang="en-US" sz="2550" kern="0" spc="51" dirty="0">
                <a:solidFill>
                  <a:srgbClr val="9EC5B3"/>
                </a:solidFill>
                <a:latin typeface="JetBrains Mono" pitchFamily="34" charset="0"/>
                <a:ea typeface="JetBrains Mono" pitchFamily="34" charset="-122"/>
                <a:cs typeface="JetBrains Mono" pitchFamily="34" charset="-120"/>
              </a:rPr>
              <a:t>→</a:t>
            </a:r>
            <a:endParaRPr lang="en-US" sz="2550" dirty="0"/>
          </a:p>
        </p:txBody>
      </p:sp>
      <p:sp>
        <p:nvSpPr>
          <p:cNvPr id="22" name="Text 20"/>
          <p:cNvSpPr/>
          <p:nvPr/>
        </p:nvSpPr>
        <p:spPr>
          <a:xfrm>
            <a:off x="7669783" y="7649542"/>
            <a:ext cx="1280964" cy="461963"/>
          </a:xfrm>
          <a:prstGeom prst="rect">
            <a:avLst/>
          </a:prstGeom>
          <a:noFill/>
          <a:ln/>
        </p:spPr>
        <p:txBody>
          <a:bodyPr wrap="square" lIns="25400" tIns="25400" rIns="25400" bIns="25400" rtlCol="0" anchor="t">
            <a:normAutofit/>
          </a:bodyPr>
          <a:lstStyle/>
          <a:p>
            <a:pPr marL="0" indent="0" algn="l">
              <a:buNone/>
            </a:pPr>
            <a:r>
              <a:rPr lang="en-US" sz="2550" kern="0" spc="51" dirty="0">
                <a:solidFill>
                  <a:srgbClr val="006A4D"/>
                </a:solidFill>
                <a:latin typeface="JetBrains Mono" pitchFamily="34" charset="0"/>
                <a:ea typeface="JetBrains Mono" pitchFamily="34" charset="-122"/>
                <a:cs typeface="JetBrains Mono" pitchFamily="34" charset="-120"/>
              </a:rPr>
              <a:t>Verify</a:t>
            </a:r>
            <a:endParaRPr lang="en-US" sz="2550" dirty="0"/>
          </a:p>
        </p:txBody>
      </p:sp>
      <p:sp>
        <p:nvSpPr>
          <p:cNvPr id="23" name="Text 21"/>
          <p:cNvSpPr/>
          <p:nvPr/>
        </p:nvSpPr>
        <p:spPr>
          <a:xfrm>
            <a:off x="9045997" y="7649542"/>
            <a:ext cx="277713" cy="461963"/>
          </a:xfrm>
          <a:prstGeom prst="rect">
            <a:avLst/>
          </a:prstGeom>
          <a:noFill/>
          <a:ln/>
        </p:spPr>
        <p:txBody>
          <a:bodyPr wrap="square" lIns="25400" tIns="25400" rIns="25400" bIns="25400" rtlCol="0" anchor="t">
            <a:normAutofit/>
          </a:bodyPr>
          <a:lstStyle/>
          <a:p>
            <a:pPr marL="0" indent="0" algn="l">
              <a:buNone/>
            </a:pPr>
            <a:r>
              <a:rPr lang="en-US" sz="2550" kern="0" spc="51" dirty="0">
                <a:solidFill>
                  <a:srgbClr val="9EC5B3"/>
                </a:solidFill>
                <a:latin typeface="JetBrains Mono" pitchFamily="34" charset="0"/>
                <a:ea typeface="JetBrains Mono" pitchFamily="34" charset="-122"/>
                <a:cs typeface="JetBrains Mono" pitchFamily="34" charset="-120"/>
              </a:rPr>
              <a:t>→</a:t>
            </a:r>
            <a:endParaRPr lang="en-US" sz="2550" dirty="0"/>
          </a:p>
        </p:txBody>
      </p:sp>
      <p:sp>
        <p:nvSpPr>
          <p:cNvPr id="24" name="Text 22"/>
          <p:cNvSpPr/>
          <p:nvPr/>
        </p:nvSpPr>
        <p:spPr>
          <a:xfrm>
            <a:off x="9418960" y="7649542"/>
            <a:ext cx="2485653" cy="461963"/>
          </a:xfrm>
          <a:prstGeom prst="rect">
            <a:avLst/>
          </a:prstGeom>
          <a:noFill/>
          <a:ln/>
        </p:spPr>
        <p:txBody>
          <a:bodyPr wrap="square" lIns="25400" tIns="25400" rIns="25400" bIns="25400" rtlCol="0" anchor="t">
            <a:normAutofit/>
          </a:bodyPr>
          <a:lstStyle/>
          <a:p>
            <a:pPr marL="0" indent="0" algn="l">
              <a:buNone/>
            </a:pPr>
            <a:r>
              <a:rPr lang="en-US" sz="2550" kern="0" spc="51" dirty="0">
                <a:solidFill>
                  <a:srgbClr val="3B4A44"/>
                </a:solidFill>
                <a:latin typeface="JetBrains Mono" pitchFamily="34" charset="0"/>
                <a:ea typeface="JetBrains Mono" pitchFamily="34" charset="-122"/>
                <a:cs typeface="JetBrains Mono" pitchFamily="34" charset="-120"/>
              </a:rPr>
              <a:t>Next feature</a:t>
            </a:r>
            <a:endParaRPr lang="en-US" sz="2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857250"/>
            <a:ext cx="16482060" cy="390525"/>
          </a:xfrm>
          <a:prstGeom prst="rect">
            <a:avLst/>
          </a:prstGeom>
          <a:noFill/>
          <a:ln/>
        </p:spPr>
        <p:txBody>
          <a:bodyPr wrap="square" lIns="25400" tIns="25400" rIns="25400" bIns="25400" rtlCol="0" anchor="t">
            <a:normAutofit/>
          </a:bodyPr>
          <a:lstStyle/>
          <a:p>
            <a:pPr marL="0" indent="0" algn="l">
              <a:buNone/>
            </a:pPr>
            <a:r>
              <a:rPr lang="en-US" sz="2100" kern="0" spc="336" dirty="0">
                <a:solidFill>
                  <a:srgbClr val="006A4D"/>
                </a:solidFill>
                <a:latin typeface="JetBrains Mono" pitchFamily="34" charset="0"/>
                <a:ea typeface="JetBrains Mono" pitchFamily="34" charset="-122"/>
                <a:cs typeface="JetBrains Mono" pitchFamily="34" charset="-120"/>
              </a:rPr>
              <a:t>MORE THAN ONE AT A TIME</a:t>
            </a:r>
            <a:endParaRPr lang="en-US" sz="2100" dirty="0"/>
          </a:p>
        </p:txBody>
      </p:sp>
      <p:sp>
        <p:nvSpPr>
          <p:cNvPr id="3" name="Shape 1"/>
          <p:cNvSpPr/>
          <p:nvPr/>
        </p:nvSpPr>
        <p:spPr>
          <a:xfrm>
            <a:off x="1143000" y="1419225"/>
            <a:ext cx="685800" cy="47625"/>
          </a:xfrm>
          <a:prstGeom prst="roundRect">
            <a:avLst>
              <a:gd name="adj" fmla="val 40000"/>
            </a:avLst>
          </a:prstGeom>
          <a:solidFill>
            <a:srgbClr val="006A4D"/>
          </a:solidFill>
          <a:ln/>
        </p:spPr>
        <p:txBody>
          <a:bodyPr/>
          <a:lstStyle/>
          <a:p>
            <a:endParaRPr lang="en-US"/>
          </a:p>
        </p:txBody>
      </p:sp>
      <p:sp>
        <p:nvSpPr>
          <p:cNvPr id="4" name="Text 2"/>
          <p:cNvSpPr/>
          <p:nvPr/>
        </p:nvSpPr>
        <p:spPr>
          <a:xfrm>
            <a:off x="1143000" y="1809750"/>
            <a:ext cx="11057635" cy="1543794"/>
          </a:xfrm>
          <a:prstGeom prst="rect">
            <a:avLst/>
          </a:prstGeom>
          <a:noFill/>
          <a:ln/>
        </p:spPr>
        <p:txBody>
          <a:bodyPr wrap="square" lIns="25400" tIns="25400" rIns="25400" bIns="25400" rtlCol="0" anchor="t">
            <a:normAutofit/>
          </a:bodyPr>
          <a:lstStyle/>
          <a:p>
            <a:pPr marL="0" indent="0" algn="l">
              <a:lnSpc>
                <a:spcPct val="104000"/>
              </a:lnSpc>
              <a:buNone/>
            </a:pPr>
            <a:r>
              <a:rPr lang="en-US" sz="5700" b="1" kern="0" spc="-114" dirty="0">
                <a:solidFill>
                  <a:srgbClr val="003824"/>
                </a:solidFill>
                <a:latin typeface="Inter" pitchFamily="34" charset="0"/>
                <a:ea typeface="Inter" pitchFamily="34" charset="-122"/>
                <a:cs typeface="Inter" pitchFamily="34" charset="-120"/>
              </a:rPr>
              <a:t>You’re not waiting while it builds.</a:t>
            </a:r>
            <a:endParaRPr lang="en-US" sz="5700" dirty="0"/>
          </a:p>
        </p:txBody>
      </p:sp>
      <p:sp>
        <p:nvSpPr>
          <p:cNvPr id="5" name="Text 3"/>
          <p:cNvSpPr/>
          <p:nvPr/>
        </p:nvSpPr>
        <p:spPr>
          <a:xfrm>
            <a:off x="1143000" y="3582144"/>
            <a:ext cx="10892998" cy="1089571"/>
          </a:xfrm>
          <a:prstGeom prst="rect">
            <a:avLst/>
          </a:prstGeom>
          <a:noFill/>
          <a:ln/>
        </p:spPr>
        <p:txBody>
          <a:bodyPr wrap="square" lIns="25400" tIns="25400" rIns="25400" bIns="25400" rtlCol="0" anchor="t">
            <a:normAutofit fontScale="92500" lnSpcReduction="20000"/>
          </a:bodyPr>
          <a:lstStyle/>
          <a:p>
            <a:pPr marL="0" indent="0" algn="l">
              <a:lnSpc>
                <a:spcPct val="138000"/>
              </a:lnSpc>
              <a:buNone/>
            </a:pPr>
            <a:r>
              <a:rPr lang="en-US" sz="3000" dirty="0">
                <a:solidFill>
                  <a:srgbClr val="3B4A44"/>
                </a:solidFill>
                <a:latin typeface="Inter" pitchFamily="34" charset="0"/>
                <a:ea typeface="Inter" pitchFamily="34" charset="-122"/>
                <a:cs typeface="Inter" pitchFamily="34" charset="-120"/>
              </a:rPr>
              <a:t>Hand a task to the agent and you’re free - review the last piece, scope the next, or pick up something else entirely.</a:t>
            </a:r>
            <a:endParaRPr lang="en-US" sz="3000" dirty="0"/>
          </a:p>
        </p:txBody>
      </p:sp>
      <p:sp>
        <p:nvSpPr>
          <p:cNvPr id="6" name="Shape 4"/>
          <p:cNvSpPr/>
          <p:nvPr/>
        </p:nvSpPr>
        <p:spPr>
          <a:xfrm>
            <a:off x="1143000" y="5090815"/>
            <a:ext cx="5168875" cy="2541240"/>
          </a:xfrm>
          <a:prstGeom prst="roundRect">
            <a:avLst>
              <a:gd name="adj" fmla="val 6747"/>
            </a:avLst>
          </a:prstGeom>
          <a:solidFill>
            <a:srgbClr val="F3F8F5"/>
          </a:solidFill>
          <a:ln w="9525">
            <a:solidFill>
              <a:srgbClr val="E6F1EC"/>
            </a:solidFill>
            <a:prstDash val="solid"/>
          </a:ln>
        </p:spPr>
        <p:txBody>
          <a:bodyPr/>
          <a:lstStyle/>
          <a:p>
            <a:endParaRPr lang="en-US"/>
          </a:p>
        </p:txBody>
      </p:sp>
      <p:sp>
        <p:nvSpPr>
          <p:cNvPr id="7" name="Text 5"/>
          <p:cNvSpPr/>
          <p:nvPr/>
        </p:nvSpPr>
        <p:spPr>
          <a:xfrm>
            <a:off x="1495425" y="5424190"/>
            <a:ext cx="4597946" cy="390525"/>
          </a:xfrm>
          <a:prstGeom prst="rect">
            <a:avLst/>
          </a:prstGeom>
          <a:noFill/>
          <a:ln/>
        </p:spPr>
        <p:txBody>
          <a:bodyPr wrap="square" lIns="25400" tIns="25400" rIns="25400" bIns="25400" rtlCol="0" anchor="t">
            <a:normAutofit/>
          </a:bodyPr>
          <a:lstStyle/>
          <a:p>
            <a:pPr marL="0" indent="0" algn="l">
              <a:buNone/>
            </a:pPr>
            <a:r>
              <a:rPr lang="en-US" sz="2100" kern="0" spc="168" dirty="0">
                <a:solidFill>
                  <a:srgbClr val="006A4D"/>
                </a:solidFill>
                <a:latin typeface="JetBrains Mono" pitchFamily="34" charset="0"/>
                <a:ea typeface="JetBrains Mono" pitchFamily="34" charset="-122"/>
                <a:cs typeface="JetBrains Mono" pitchFamily="34" charset="-120"/>
              </a:rPr>
              <a:t>STREAM 01</a:t>
            </a:r>
            <a:endParaRPr lang="en-US" sz="2100" dirty="0"/>
          </a:p>
        </p:txBody>
      </p:sp>
      <p:sp>
        <p:nvSpPr>
          <p:cNvPr id="8" name="Text 6"/>
          <p:cNvSpPr/>
          <p:nvPr/>
        </p:nvSpPr>
        <p:spPr>
          <a:xfrm>
            <a:off x="1495425" y="5948065"/>
            <a:ext cx="4597946" cy="464790"/>
          </a:xfrm>
          <a:prstGeom prst="rect">
            <a:avLst/>
          </a:prstGeom>
          <a:noFill/>
          <a:ln/>
        </p:spPr>
        <p:txBody>
          <a:bodyPr wrap="square" lIns="25400" tIns="25400" rIns="25400" bIns="25400" rtlCol="0" anchor="t">
            <a:normAutofit fontScale="92500" lnSpcReduction="20000"/>
          </a:bodyPr>
          <a:lstStyle/>
          <a:p>
            <a:pPr marL="0" indent="0" algn="l">
              <a:lnSpc>
                <a:spcPct val="112000"/>
              </a:lnSpc>
              <a:buNone/>
            </a:pPr>
            <a:r>
              <a:rPr lang="en-US" sz="3000" b="1" dirty="0">
                <a:solidFill>
                  <a:srgbClr val="14201B"/>
                </a:solidFill>
                <a:latin typeface="Inter" pitchFamily="34" charset="0"/>
                <a:ea typeface="Inter" pitchFamily="34" charset="-122"/>
                <a:cs typeface="Inter" pitchFamily="34" charset="-120"/>
              </a:rPr>
              <a:t>Build a reporting UI</a:t>
            </a:r>
            <a:endParaRPr lang="en-US" sz="3000" dirty="0"/>
          </a:p>
        </p:txBody>
      </p:sp>
      <p:sp>
        <p:nvSpPr>
          <p:cNvPr id="9" name="Shape 7"/>
          <p:cNvSpPr/>
          <p:nvPr/>
        </p:nvSpPr>
        <p:spPr>
          <a:xfrm>
            <a:off x="1495425" y="6641455"/>
            <a:ext cx="4464025" cy="133350"/>
          </a:xfrm>
          <a:prstGeom prst="roundRect">
            <a:avLst>
              <a:gd name="adj" fmla="val 50000"/>
            </a:avLst>
          </a:prstGeom>
          <a:solidFill>
            <a:srgbClr val="E6F1EC"/>
          </a:solidFill>
          <a:ln/>
        </p:spPr>
        <p:txBody>
          <a:bodyPr/>
          <a:lstStyle/>
          <a:p>
            <a:endParaRPr lang="en-US"/>
          </a:p>
        </p:txBody>
      </p:sp>
      <p:sp>
        <p:nvSpPr>
          <p:cNvPr id="10" name="Shape 8"/>
          <p:cNvSpPr/>
          <p:nvPr/>
        </p:nvSpPr>
        <p:spPr>
          <a:xfrm>
            <a:off x="1495425" y="6641455"/>
            <a:ext cx="2767682" cy="133350"/>
          </a:xfrm>
          <a:prstGeom prst="roundRect">
            <a:avLst>
              <a:gd name="adj" fmla="val 50000"/>
            </a:avLst>
          </a:prstGeom>
          <a:solidFill>
            <a:srgbClr val="006A4D"/>
          </a:solidFill>
          <a:ln/>
        </p:spPr>
        <p:txBody>
          <a:bodyPr/>
          <a:lstStyle/>
          <a:p>
            <a:endParaRPr lang="en-US"/>
          </a:p>
        </p:txBody>
      </p:sp>
      <p:sp>
        <p:nvSpPr>
          <p:cNvPr id="11" name="Text 9"/>
          <p:cNvSpPr/>
          <p:nvPr/>
        </p:nvSpPr>
        <p:spPr>
          <a:xfrm>
            <a:off x="1495425" y="6946255"/>
            <a:ext cx="4597946" cy="390525"/>
          </a:xfrm>
          <a:prstGeom prst="rect">
            <a:avLst/>
          </a:prstGeom>
          <a:noFill/>
          <a:ln/>
        </p:spPr>
        <p:txBody>
          <a:bodyPr wrap="square" lIns="25400" tIns="25400" rIns="25400" bIns="25400" rtlCol="0" anchor="t">
            <a:normAutofit/>
          </a:bodyPr>
          <a:lstStyle/>
          <a:p>
            <a:pPr marL="0" indent="0" algn="l">
              <a:buNone/>
            </a:pPr>
            <a:r>
              <a:rPr lang="en-US" sz="2100" dirty="0">
                <a:solidFill>
                  <a:srgbClr val="5E7167"/>
                </a:solidFill>
                <a:latin typeface="JetBrains Mono" pitchFamily="34" charset="0"/>
                <a:ea typeface="JetBrains Mono" pitchFamily="34" charset="-122"/>
                <a:cs typeface="JetBrains Mono" pitchFamily="34" charset="-120"/>
              </a:rPr>
              <a:t>Agent building…</a:t>
            </a:r>
            <a:endParaRPr lang="en-US" sz="2100" dirty="0"/>
          </a:p>
        </p:txBody>
      </p:sp>
      <p:sp>
        <p:nvSpPr>
          <p:cNvPr id="12" name="Shape 10"/>
          <p:cNvSpPr/>
          <p:nvPr/>
        </p:nvSpPr>
        <p:spPr>
          <a:xfrm>
            <a:off x="6559525" y="5090815"/>
            <a:ext cx="5168875" cy="2541240"/>
          </a:xfrm>
          <a:prstGeom prst="roundRect">
            <a:avLst>
              <a:gd name="adj" fmla="val 6747"/>
            </a:avLst>
          </a:prstGeom>
          <a:solidFill>
            <a:srgbClr val="F3F8F5"/>
          </a:solidFill>
          <a:ln w="9525">
            <a:solidFill>
              <a:srgbClr val="E6F1EC"/>
            </a:solidFill>
            <a:prstDash val="solid"/>
          </a:ln>
        </p:spPr>
        <p:txBody>
          <a:bodyPr/>
          <a:lstStyle/>
          <a:p>
            <a:endParaRPr lang="en-US"/>
          </a:p>
        </p:txBody>
      </p:sp>
      <p:sp>
        <p:nvSpPr>
          <p:cNvPr id="13" name="Text 11"/>
          <p:cNvSpPr/>
          <p:nvPr/>
        </p:nvSpPr>
        <p:spPr>
          <a:xfrm>
            <a:off x="6911950" y="5424190"/>
            <a:ext cx="4597946" cy="390525"/>
          </a:xfrm>
          <a:prstGeom prst="rect">
            <a:avLst/>
          </a:prstGeom>
          <a:noFill/>
          <a:ln/>
        </p:spPr>
        <p:txBody>
          <a:bodyPr wrap="square" lIns="25400" tIns="25400" rIns="25400" bIns="25400" rtlCol="0" anchor="t">
            <a:normAutofit/>
          </a:bodyPr>
          <a:lstStyle/>
          <a:p>
            <a:pPr marL="0" indent="0" algn="l">
              <a:buNone/>
            </a:pPr>
            <a:r>
              <a:rPr lang="en-US" sz="2100" kern="0" spc="168" dirty="0">
                <a:solidFill>
                  <a:srgbClr val="006A4D"/>
                </a:solidFill>
                <a:latin typeface="JetBrains Mono" pitchFamily="34" charset="0"/>
                <a:ea typeface="JetBrains Mono" pitchFamily="34" charset="-122"/>
                <a:cs typeface="JetBrains Mono" pitchFamily="34" charset="-120"/>
              </a:rPr>
              <a:t>STREAM 02</a:t>
            </a:r>
            <a:endParaRPr lang="en-US" sz="2100" dirty="0"/>
          </a:p>
        </p:txBody>
      </p:sp>
      <p:sp>
        <p:nvSpPr>
          <p:cNvPr id="14" name="Text 12"/>
          <p:cNvSpPr/>
          <p:nvPr/>
        </p:nvSpPr>
        <p:spPr>
          <a:xfrm>
            <a:off x="6911950" y="5948065"/>
            <a:ext cx="4597946" cy="464790"/>
          </a:xfrm>
          <a:prstGeom prst="rect">
            <a:avLst/>
          </a:prstGeom>
          <a:noFill/>
          <a:ln/>
        </p:spPr>
        <p:txBody>
          <a:bodyPr wrap="square" lIns="25400" tIns="25400" rIns="25400" bIns="25400" rtlCol="0" anchor="t">
            <a:normAutofit fontScale="92500" lnSpcReduction="20000"/>
          </a:bodyPr>
          <a:lstStyle/>
          <a:p>
            <a:pPr marL="0" indent="0" algn="l">
              <a:lnSpc>
                <a:spcPct val="112000"/>
              </a:lnSpc>
              <a:buNone/>
            </a:pPr>
            <a:r>
              <a:rPr lang="en-US" sz="3000" b="1" dirty="0">
                <a:solidFill>
                  <a:srgbClr val="14201B"/>
                </a:solidFill>
                <a:latin typeface="Inter" pitchFamily="34" charset="0"/>
                <a:ea typeface="Inter" pitchFamily="34" charset="-122"/>
                <a:cs typeface="Inter" pitchFamily="34" charset="-120"/>
              </a:rPr>
              <a:t>Refactor the ingest job</a:t>
            </a:r>
            <a:endParaRPr lang="en-US" sz="3000" dirty="0"/>
          </a:p>
        </p:txBody>
      </p:sp>
      <p:sp>
        <p:nvSpPr>
          <p:cNvPr id="15" name="Shape 13"/>
          <p:cNvSpPr/>
          <p:nvPr/>
        </p:nvSpPr>
        <p:spPr>
          <a:xfrm>
            <a:off x="6911950" y="6641455"/>
            <a:ext cx="4464025" cy="133350"/>
          </a:xfrm>
          <a:prstGeom prst="roundRect">
            <a:avLst>
              <a:gd name="adj" fmla="val 50000"/>
            </a:avLst>
          </a:prstGeom>
          <a:solidFill>
            <a:srgbClr val="E6F1EC"/>
          </a:solidFill>
          <a:ln/>
        </p:spPr>
        <p:txBody>
          <a:bodyPr/>
          <a:lstStyle/>
          <a:p>
            <a:endParaRPr lang="en-US"/>
          </a:p>
        </p:txBody>
      </p:sp>
      <p:sp>
        <p:nvSpPr>
          <p:cNvPr id="16" name="Shape 14"/>
          <p:cNvSpPr/>
          <p:nvPr/>
        </p:nvSpPr>
        <p:spPr>
          <a:xfrm>
            <a:off x="6911950" y="6641455"/>
            <a:ext cx="1696269" cy="133350"/>
          </a:xfrm>
          <a:prstGeom prst="roundRect">
            <a:avLst>
              <a:gd name="adj" fmla="val 50000"/>
            </a:avLst>
          </a:prstGeom>
          <a:solidFill>
            <a:srgbClr val="006A4D"/>
          </a:solidFill>
          <a:ln/>
        </p:spPr>
        <p:txBody>
          <a:bodyPr/>
          <a:lstStyle/>
          <a:p>
            <a:endParaRPr lang="en-US"/>
          </a:p>
        </p:txBody>
      </p:sp>
      <p:sp>
        <p:nvSpPr>
          <p:cNvPr id="17" name="Text 15"/>
          <p:cNvSpPr/>
          <p:nvPr/>
        </p:nvSpPr>
        <p:spPr>
          <a:xfrm>
            <a:off x="6911950" y="6946255"/>
            <a:ext cx="4597946" cy="390525"/>
          </a:xfrm>
          <a:prstGeom prst="rect">
            <a:avLst/>
          </a:prstGeom>
          <a:noFill/>
          <a:ln/>
        </p:spPr>
        <p:txBody>
          <a:bodyPr wrap="square" lIns="25400" tIns="25400" rIns="25400" bIns="25400" rtlCol="0" anchor="t">
            <a:normAutofit/>
          </a:bodyPr>
          <a:lstStyle/>
          <a:p>
            <a:pPr marL="0" indent="0" algn="l">
              <a:buNone/>
            </a:pPr>
            <a:r>
              <a:rPr lang="en-US" sz="2100" dirty="0">
                <a:solidFill>
                  <a:srgbClr val="5E7167"/>
                </a:solidFill>
                <a:latin typeface="JetBrains Mono" pitchFamily="34" charset="0"/>
                <a:ea typeface="JetBrains Mono" pitchFamily="34" charset="-122"/>
                <a:cs typeface="JetBrains Mono" pitchFamily="34" charset="-120"/>
              </a:rPr>
              <a:t>Agent building…</a:t>
            </a:r>
            <a:endParaRPr lang="en-US" sz="2100" dirty="0"/>
          </a:p>
        </p:txBody>
      </p:sp>
      <p:sp>
        <p:nvSpPr>
          <p:cNvPr id="18" name="Shape 16"/>
          <p:cNvSpPr/>
          <p:nvPr/>
        </p:nvSpPr>
        <p:spPr>
          <a:xfrm>
            <a:off x="11976050" y="5090815"/>
            <a:ext cx="5168950" cy="2541240"/>
          </a:xfrm>
          <a:prstGeom prst="roundRect">
            <a:avLst>
              <a:gd name="adj" fmla="val 6747"/>
            </a:avLst>
          </a:prstGeom>
          <a:solidFill>
            <a:srgbClr val="F3F8F5"/>
          </a:solidFill>
          <a:ln w="9525">
            <a:solidFill>
              <a:srgbClr val="E6F1EC"/>
            </a:solidFill>
            <a:prstDash val="solid"/>
          </a:ln>
        </p:spPr>
        <p:txBody>
          <a:bodyPr/>
          <a:lstStyle/>
          <a:p>
            <a:endParaRPr lang="en-US"/>
          </a:p>
        </p:txBody>
      </p:sp>
      <p:sp>
        <p:nvSpPr>
          <p:cNvPr id="19" name="Text 17"/>
          <p:cNvSpPr/>
          <p:nvPr/>
        </p:nvSpPr>
        <p:spPr>
          <a:xfrm>
            <a:off x="12328475" y="5424190"/>
            <a:ext cx="4598023" cy="390525"/>
          </a:xfrm>
          <a:prstGeom prst="rect">
            <a:avLst/>
          </a:prstGeom>
          <a:noFill/>
          <a:ln/>
        </p:spPr>
        <p:txBody>
          <a:bodyPr wrap="square" lIns="25400" tIns="25400" rIns="25400" bIns="25400" rtlCol="0" anchor="t">
            <a:normAutofit/>
          </a:bodyPr>
          <a:lstStyle/>
          <a:p>
            <a:pPr marL="0" indent="0" algn="l">
              <a:buNone/>
            </a:pPr>
            <a:r>
              <a:rPr lang="en-US" sz="2100" kern="0" spc="168" dirty="0">
                <a:solidFill>
                  <a:srgbClr val="006A4D"/>
                </a:solidFill>
                <a:latin typeface="JetBrains Mono" pitchFamily="34" charset="0"/>
                <a:ea typeface="JetBrains Mono" pitchFamily="34" charset="-122"/>
                <a:cs typeface="JetBrains Mono" pitchFamily="34" charset="-120"/>
              </a:rPr>
              <a:t>STREAM 03</a:t>
            </a:r>
            <a:endParaRPr lang="en-US" sz="2100" dirty="0"/>
          </a:p>
        </p:txBody>
      </p:sp>
      <p:sp>
        <p:nvSpPr>
          <p:cNvPr id="20" name="Text 18"/>
          <p:cNvSpPr/>
          <p:nvPr/>
        </p:nvSpPr>
        <p:spPr>
          <a:xfrm>
            <a:off x="12328475" y="5948065"/>
            <a:ext cx="4598023" cy="464790"/>
          </a:xfrm>
          <a:prstGeom prst="rect">
            <a:avLst/>
          </a:prstGeom>
          <a:noFill/>
          <a:ln/>
        </p:spPr>
        <p:txBody>
          <a:bodyPr wrap="square" lIns="25400" tIns="25400" rIns="25400" bIns="25400" rtlCol="0" anchor="t">
            <a:normAutofit fontScale="92500" lnSpcReduction="20000"/>
          </a:bodyPr>
          <a:lstStyle/>
          <a:p>
            <a:pPr marL="0" indent="0" algn="l">
              <a:lnSpc>
                <a:spcPct val="112000"/>
              </a:lnSpc>
              <a:buNone/>
            </a:pPr>
            <a:r>
              <a:rPr lang="en-US" sz="3000" b="1" dirty="0">
                <a:solidFill>
                  <a:srgbClr val="14201B"/>
                </a:solidFill>
                <a:latin typeface="Inter" pitchFamily="34" charset="0"/>
                <a:ea typeface="Inter" pitchFamily="34" charset="-122"/>
                <a:cs typeface="Inter" pitchFamily="34" charset="-120"/>
              </a:rPr>
              <a:t>Write the test suite</a:t>
            </a:r>
            <a:endParaRPr lang="en-US" sz="3000" dirty="0"/>
          </a:p>
        </p:txBody>
      </p:sp>
      <p:sp>
        <p:nvSpPr>
          <p:cNvPr id="21" name="Shape 19"/>
          <p:cNvSpPr/>
          <p:nvPr/>
        </p:nvSpPr>
        <p:spPr>
          <a:xfrm>
            <a:off x="12328475" y="6641455"/>
            <a:ext cx="4464100" cy="133350"/>
          </a:xfrm>
          <a:prstGeom prst="roundRect">
            <a:avLst>
              <a:gd name="adj" fmla="val 50000"/>
            </a:avLst>
          </a:prstGeom>
          <a:solidFill>
            <a:srgbClr val="E6F1EC"/>
          </a:solidFill>
          <a:ln/>
        </p:spPr>
        <p:txBody>
          <a:bodyPr/>
          <a:lstStyle/>
          <a:p>
            <a:endParaRPr lang="en-US"/>
          </a:p>
        </p:txBody>
      </p:sp>
      <p:sp>
        <p:nvSpPr>
          <p:cNvPr id="22" name="Shape 20"/>
          <p:cNvSpPr/>
          <p:nvPr/>
        </p:nvSpPr>
        <p:spPr>
          <a:xfrm>
            <a:off x="12328475" y="6641455"/>
            <a:ext cx="3615854" cy="133350"/>
          </a:xfrm>
          <a:prstGeom prst="roundRect">
            <a:avLst>
              <a:gd name="adj" fmla="val 50000"/>
            </a:avLst>
          </a:prstGeom>
          <a:solidFill>
            <a:srgbClr val="006A4D"/>
          </a:solidFill>
          <a:ln/>
        </p:spPr>
        <p:txBody>
          <a:bodyPr/>
          <a:lstStyle/>
          <a:p>
            <a:endParaRPr lang="en-US"/>
          </a:p>
        </p:txBody>
      </p:sp>
      <p:sp>
        <p:nvSpPr>
          <p:cNvPr id="23" name="Text 21"/>
          <p:cNvSpPr/>
          <p:nvPr/>
        </p:nvSpPr>
        <p:spPr>
          <a:xfrm>
            <a:off x="12328475" y="6946255"/>
            <a:ext cx="4598023" cy="390525"/>
          </a:xfrm>
          <a:prstGeom prst="rect">
            <a:avLst/>
          </a:prstGeom>
          <a:noFill/>
          <a:ln/>
        </p:spPr>
        <p:txBody>
          <a:bodyPr wrap="square" lIns="25400" tIns="25400" rIns="25400" bIns="25400" rtlCol="0" anchor="t">
            <a:normAutofit/>
          </a:bodyPr>
          <a:lstStyle/>
          <a:p>
            <a:pPr marL="0" indent="0" algn="l">
              <a:buNone/>
            </a:pPr>
            <a:r>
              <a:rPr lang="en-US" sz="2100" dirty="0">
                <a:solidFill>
                  <a:srgbClr val="5E7167"/>
                </a:solidFill>
                <a:latin typeface="JetBrains Mono" pitchFamily="34" charset="0"/>
                <a:ea typeface="JetBrains Mono" pitchFamily="34" charset="-122"/>
                <a:cs typeface="JetBrains Mono" pitchFamily="34" charset="-120"/>
              </a:rPr>
              <a:t>Agent building…</a:t>
            </a:r>
            <a:endParaRPr lang="en-US" sz="2100" dirty="0"/>
          </a:p>
        </p:txBody>
      </p:sp>
      <p:sp>
        <p:nvSpPr>
          <p:cNvPr id="24" name="Shape 22"/>
          <p:cNvSpPr/>
          <p:nvPr/>
        </p:nvSpPr>
        <p:spPr>
          <a:xfrm>
            <a:off x="1143000" y="7898755"/>
            <a:ext cx="16002000" cy="1042020"/>
          </a:xfrm>
          <a:prstGeom prst="roundRect">
            <a:avLst>
              <a:gd name="adj" fmla="val 14625"/>
            </a:avLst>
          </a:prstGeom>
          <a:solidFill>
            <a:srgbClr val="003824"/>
          </a:solidFill>
          <a:ln/>
        </p:spPr>
        <p:txBody>
          <a:bodyPr/>
          <a:lstStyle/>
          <a:p>
            <a:endParaRPr lang="en-US"/>
          </a:p>
        </p:txBody>
      </p:sp>
      <p:sp>
        <p:nvSpPr>
          <p:cNvPr id="25" name="Text 23"/>
          <p:cNvSpPr/>
          <p:nvPr/>
        </p:nvSpPr>
        <p:spPr>
          <a:xfrm>
            <a:off x="1419445" y="8186720"/>
            <a:ext cx="1223813" cy="702319"/>
          </a:xfrm>
          <a:prstGeom prst="rect">
            <a:avLst/>
          </a:prstGeom>
          <a:noFill/>
          <a:ln/>
        </p:spPr>
        <p:txBody>
          <a:bodyPr wrap="square" lIns="25400" tIns="25400" rIns="25400" bIns="25400" rtlCol="0" anchor="t">
            <a:normAutofit/>
          </a:bodyPr>
          <a:lstStyle/>
          <a:p>
            <a:pPr marL="0" indent="0" algn="l">
              <a:buNone/>
            </a:pPr>
            <a:r>
              <a:rPr lang="en-US" sz="2800" kern="0" spc="252" dirty="0">
                <a:solidFill>
                  <a:srgbClr val="9EC5B3"/>
                </a:solidFill>
                <a:latin typeface="JetBrains Mono" pitchFamily="34" charset="0"/>
                <a:ea typeface="JetBrains Mono" pitchFamily="34" charset="-122"/>
                <a:cs typeface="JetBrains Mono" pitchFamily="34" charset="-120"/>
              </a:rPr>
              <a:t>YOU</a:t>
            </a:r>
            <a:endParaRPr lang="en-US" sz="2400" dirty="0"/>
          </a:p>
        </p:txBody>
      </p:sp>
      <p:sp>
        <p:nvSpPr>
          <p:cNvPr id="26" name="Text 24"/>
          <p:cNvSpPr/>
          <p:nvPr/>
        </p:nvSpPr>
        <p:spPr>
          <a:xfrm>
            <a:off x="2366814" y="8184504"/>
            <a:ext cx="14559684" cy="561625"/>
          </a:xfrm>
          <a:prstGeom prst="rect">
            <a:avLst/>
          </a:prstGeom>
          <a:noFill/>
          <a:ln/>
        </p:spPr>
        <p:txBody>
          <a:bodyPr wrap="square" lIns="25400" tIns="25400" rIns="25400" bIns="25400" rtlCol="0" anchor="t">
            <a:normAutofit fontScale="85000" lnSpcReduction="10000"/>
          </a:bodyPr>
          <a:lstStyle/>
          <a:p>
            <a:pPr marL="0" indent="0" algn="l">
              <a:lnSpc>
                <a:spcPct val="130000"/>
              </a:lnSpc>
              <a:buNone/>
            </a:pPr>
            <a:r>
              <a:rPr lang="en-US" sz="2850" dirty="0">
                <a:solidFill>
                  <a:srgbClr val="FFFFFF"/>
                </a:solidFill>
                <a:latin typeface="Inter" pitchFamily="34" charset="0"/>
                <a:ea typeface="Inter" pitchFamily="34" charset="-122"/>
                <a:cs typeface="Inter" pitchFamily="34" charset="-120"/>
              </a:rPr>
              <a:t>Reviewing · steering · validating · unblocking.  The engineer becomes the control point, not the typing bottleneck.</a:t>
            </a:r>
            <a:endParaRPr lang="en-US" sz="2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3824"/>
        </a:solidFill>
        <a:effectLst/>
      </p:bgPr>
    </p:bg>
    <p:spTree>
      <p:nvGrpSpPr>
        <p:cNvPr id="1" name=""/>
        <p:cNvGrpSpPr/>
        <p:nvPr/>
      </p:nvGrpSpPr>
      <p:grpSpPr>
        <a:xfrm>
          <a:off x="0" y="0"/>
          <a:ext cx="0" cy="0"/>
          <a:chOff x="0" y="0"/>
          <a:chExt cx="0" cy="0"/>
        </a:xfrm>
      </p:grpSpPr>
      <p:sp>
        <p:nvSpPr>
          <p:cNvPr id="2" name="Text 0"/>
          <p:cNvSpPr/>
          <p:nvPr/>
        </p:nvSpPr>
        <p:spPr>
          <a:xfrm>
            <a:off x="1143000" y="2774231"/>
            <a:ext cx="16482060" cy="390525"/>
          </a:xfrm>
          <a:prstGeom prst="rect">
            <a:avLst/>
          </a:prstGeom>
          <a:noFill/>
          <a:ln/>
        </p:spPr>
        <p:txBody>
          <a:bodyPr wrap="square" lIns="25400" tIns="25400" rIns="25400" bIns="25400" rtlCol="0" anchor="t">
            <a:normAutofit/>
          </a:bodyPr>
          <a:lstStyle/>
          <a:p>
            <a:pPr marL="0" indent="0" algn="l">
              <a:buNone/>
            </a:pPr>
            <a:r>
              <a:rPr lang="en-US" sz="2100" kern="0" spc="336" dirty="0">
                <a:solidFill>
                  <a:srgbClr val="9EC5B3"/>
                </a:solidFill>
                <a:latin typeface="JetBrains Mono" pitchFamily="34" charset="0"/>
                <a:ea typeface="JetBrains Mono" pitchFamily="34" charset="-122"/>
                <a:cs typeface="JetBrains Mono" pitchFamily="34" charset="-120"/>
              </a:rPr>
              <a:t>WHAT IT MEANS</a:t>
            </a:r>
            <a:endParaRPr lang="en-US" sz="2100" dirty="0"/>
          </a:p>
        </p:txBody>
      </p:sp>
      <p:sp>
        <p:nvSpPr>
          <p:cNvPr id="3" name="Shape 1"/>
          <p:cNvSpPr/>
          <p:nvPr/>
        </p:nvSpPr>
        <p:spPr>
          <a:xfrm>
            <a:off x="1143000" y="3355256"/>
            <a:ext cx="685800" cy="47625"/>
          </a:xfrm>
          <a:prstGeom prst="roundRect">
            <a:avLst>
              <a:gd name="adj" fmla="val 40000"/>
            </a:avLst>
          </a:prstGeom>
          <a:solidFill>
            <a:srgbClr val="9EC5B3"/>
          </a:solidFill>
          <a:ln/>
        </p:spPr>
        <p:txBody>
          <a:bodyPr/>
          <a:lstStyle/>
          <a:p>
            <a:endParaRPr lang="en-US"/>
          </a:p>
        </p:txBody>
      </p:sp>
      <p:sp>
        <p:nvSpPr>
          <p:cNvPr id="4" name="Text 2"/>
          <p:cNvSpPr/>
          <p:nvPr/>
        </p:nvSpPr>
        <p:spPr>
          <a:xfrm>
            <a:off x="1143000" y="3860081"/>
            <a:ext cx="11375028" cy="2667446"/>
          </a:xfrm>
          <a:prstGeom prst="rect">
            <a:avLst/>
          </a:prstGeom>
          <a:noFill/>
          <a:ln/>
        </p:spPr>
        <p:txBody>
          <a:bodyPr wrap="square" lIns="25400" tIns="25400" rIns="25400" bIns="25400" rtlCol="0" anchor="t">
            <a:normAutofit/>
          </a:bodyPr>
          <a:lstStyle/>
          <a:p>
            <a:pPr marL="0" indent="0" algn="l">
              <a:lnSpc>
                <a:spcPct val="107000"/>
              </a:lnSpc>
              <a:buNone/>
            </a:pPr>
            <a:r>
              <a:rPr lang="en-US" sz="6450" b="1" kern="0" spc="-129" dirty="0">
                <a:solidFill>
                  <a:srgbClr val="FFFFFF"/>
                </a:solidFill>
                <a:latin typeface="Inter" pitchFamily="34" charset="0"/>
                <a:ea typeface="Inter" pitchFamily="34" charset="-122"/>
                <a:cs typeface="Inter" pitchFamily="34" charset="-120"/>
              </a:rPr>
              <a:t>A small team with the right method moves </a:t>
            </a:r>
            <a:r>
              <a:rPr lang="en-US" sz="6450" b="1" kern="0" spc="-129" dirty="0">
                <a:solidFill>
                  <a:srgbClr val="9EC5B3"/>
                </a:solidFill>
                <a:latin typeface="Inter" pitchFamily="34" charset="0"/>
                <a:ea typeface="Inter" pitchFamily="34" charset="-122"/>
                <a:cs typeface="Inter" pitchFamily="34" charset="-120"/>
              </a:rPr>
              <a:t>many times </a:t>
            </a:r>
            <a:r>
              <a:rPr lang="en-US" sz="6450" b="1" kern="0" spc="-129" dirty="0">
                <a:solidFill>
                  <a:srgbClr val="FFFFFF"/>
                </a:solidFill>
                <a:latin typeface="Inter" pitchFamily="34" charset="0"/>
                <a:ea typeface="Inter" pitchFamily="34" charset="-122"/>
                <a:cs typeface="Inter" pitchFamily="34" charset="-120"/>
              </a:rPr>
              <a:t>faster.</a:t>
            </a:r>
            <a:endParaRPr lang="en-US" sz="6450" dirty="0"/>
          </a:p>
        </p:txBody>
      </p:sp>
      <p:sp>
        <p:nvSpPr>
          <p:cNvPr id="5" name="Text 3"/>
          <p:cNvSpPr/>
          <p:nvPr/>
        </p:nvSpPr>
        <p:spPr>
          <a:xfrm>
            <a:off x="1143000" y="6908527"/>
            <a:ext cx="12445779" cy="642342"/>
          </a:xfrm>
          <a:prstGeom prst="rect">
            <a:avLst/>
          </a:prstGeom>
          <a:noFill/>
          <a:ln/>
        </p:spPr>
        <p:txBody>
          <a:bodyPr wrap="square" lIns="25400" tIns="25400" rIns="25400" bIns="25400" rtlCol="0" anchor="t">
            <a:normAutofit fontScale="92500" lnSpcReduction="10000"/>
          </a:bodyPr>
          <a:lstStyle/>
          <a:p>
            <a:pPr marL="0" indent="0" algn="l">
              <a:lnSpc>
                <a:spcPct val="122000"/>
              </a:lnSpc>
              <a:buNone/>
            </a:pPr>
            <a:r>
              <a:rPr lang="en-US" sz="3900" dirty="0">
                <a:solidFill>
                  <a:srgbClr val="CFE2D8"/>
                </a:solidFill>
                <a:latin typeface="Inter" pitchFamily="34" charset="0"/>
                <a:ea typeface="Inter" pitchFamily="34" charset="-122"/>
                <a:cs typeface="Inter" pitchFamily="34" charset="-120"/>
              </a:rPr>
              <a:t>And this is here </a:t>
            </a:r>
            <a:r>
              <a:rPr lang="en-US" sz="3900" b="1" dirty="0">
                <a:solidFill>
                  <a:srgbClr val="FFFFFF"/>
                </a:solidFill>
                <a:latin typeface="Inter" pitchFamily="34" charset="0"/>
                <a:ea typeface="Inter" pitchFamily="34" charset="-122"/>
                <a:cs typeface="Inter" pitchFamily="34" charset="-120"/>
              </a:rPr>
              <a:t>now </a:t>
            </a:r>
            <a:r>
              <a:rPr lang="en-US" sz="3900" dirty="0">
                <a:solidFill>
                  <a:srgbClr val="CFE2D8"/>
                </a:solidFill>
                <a:latin typeface="Inter" pitchFamily="34" charset="0"/>
                <a:ea typeface="Inter" pitchFamily="34" charset="-122"/>
                <a:cs typeface="Inter" pitchFamily="34" charset="-120"/>
              </a:rPr>
              <a:t>- not some time in the future.</a:t>
            </a:r>
            <a:endParaRPr lang="en-US" sz="3900" dirty="0"/>
          </a:p>
        </p:txBody>
      </p:sp>
      <p:sp>
        <p:nvSpPr>
          <p:cNvPr id="6" name="Text 4"/>
          <p:cNvSpPr/>
          <p:nvPr/>
        </p:nvSpPr>
        <p:spPr>
          <a:xfrm>
            <a:off x="14438043" y="4194939"/>
            <a:ext cx="3408393" cy="2305050"/>
          </a:xfrm>
          <a:prstGeom prst="rect">
            <a:avLst/>
          </a:prstGeom>
          <a:noFill/>
          <a:ln/>
        </p:spPr>
        <p:txBody>
          <a:bodyPr wrap="square" lIns="25400" tIns="25400" rIns="25400" bIns="25400" rtlCol="0" anchor="t">
            <a:normAutofit fontScale="92500" lnSpcReduction="20000"/>
          </a:bodyPr>
          <a:lstStyle/>
          <a:p>
            <a:pPr marL="0" indent="0" algn="l">
              <a:lnSpc>
                <a:spcPct val="85000"/>
              </a:lnSpc>
              <a:buNone/>
            </a:pPr>
            <a:r>
              <a:rPr lang="en-US" sz="21000" b="1" kern="0" spc="-630" dirty="0">
                <a:solidFill>
                  <a:srgbClr val="9EC5B3"/>
                </a:solidFill>
                <a:latin typeface="Inter" pitchFamily="34" charset="0"/>
                <a:ea typeface="Inter" pitchFamily="34" charset="-122"/>
                <a:cs typeface="Inter" pitchFamily="34" charset="-120"/>
              </a:rPr>
              <a:t>5×</a:t>
            </a:r>
            <a:endParaRPr lang="en-US" sz="21000" dirty="0"/>
          </a:p>
        </p:txBody>
      </p:sp>
      <p:sp>
        <p:nvSpPr>
          <p:cNvPr id="7" name="Text 5"/>
          <p:cNvSpPr/>
          <p:nvPr/>
        </p:nvSpPr>
        <p:spPr>
          <a:xfrm>
            <a:off x="15669944" y="5776966"/>
            <a:ext cx="2974892" cy="642341"/>
          </a:xfrm>
          <a:prstGeom prst="rect">
            <a:avLst/>
          </a:prstGeom>
          <a:noFill/>
          <a:ln/>
        </p:spPr>
        <p:txBody>
          <a:bodyPr wrap="square" lIns="25400" tIns="25400" rIns="25400" bIns="25400" rtlCol="0" anchor="t">
            <a:normAutofit/>
          </a:bodyPr>
          <a:lstStyle/>
          <a:p>
            <a:pPr marL="0" indent="0" algn="l">
              <a:buNone/>
            </a:pPr>
            <a:r>
              <a:rPr lang="en-US" sz="2100" kern="0" spc="210" dirty="0">
                <a:solidFill>
                  <a:srgbClr val="9EC5B3"/>
                </a:solidFill>
                <a:latin typeface="JetBrains Mono" pitchFamily="34" charset="0"/>
                <a:ea typeface="JetBrains Mono" pitchFamily="34" charset="-122"/>
                <a:cs typeface="JetBrains Mono" pitchFamily="34" charset="-120"/>
              </a:rPr>
              <a:t>MORE FLOW</a:t>
            </a:r>
            <a:endParaRPr lang="en-US" sz="2100" dirty="0"/>
          </a:p>
        </p:txBody>
      </p:sp>
      <p:sp>
        <p:nvSpPr>
          <p:cNvPr id="8" name="Text 5">
            <a:extLst>
              <a:ext uri="{FF2B5EF4-FFF2-40B4-BE49-F238E27FC236}">
                <a16:creationId xmlns:a16="http://schemas.microsoft.com/office/drawing/2014/main" id="{EE8AD733-ED5D-E35B-0E94-426904E7B5FE}"/>
              </a:ext>
            </a:extLst>
          </p:cNvPr>
          <p:cNvSpPr/>
          <p:nvPr/>
        </p:nvSpPr>
        <p:spPr>
          <a:xfrm>
            <a:off x="13927287" y="3544616"/>
            <a:ext cx="3789179" cy="642341"/>
          </a:xfrm>
          <a:prstGeom prst="rect">
            <a:avLst/>
          </a:prstGeom>
          <a:noFill/>
          <a:ln/>
        </p:spPr>
        <p:txBody>
          <a:bodyPr wrap="square" lIns="25400" tIns="25400" rIns="25400" bIns="25400" rtlCol="0" anchor="t">
            <a:normAutofit/>
          </a:bodyPr>
          <a:lstStyle/>
          <a:p>
            <a:pPr marL="0" indent="0" algn="l">
              <a:buNone/>
            </a:pPr>
            <a:r>
              <a:rPr lang="en-US" sz="2100" kern="0" spc="210" dirty="0">
                <a:solidFill>
                  <a:srgbClr val="9EC5B3"/>
                </a:solidFill>
                <a:latin typeface="JetBrains Mono" pitchFamily="34" charset="0"/>
                <a:ea typeface="JetBrains Mono" pitchFamily="34" charset="-122"/>
                <a:cs typeface="JetBrains Mono" pitchFamily="34" charset="-120"/>
              </a:rPr>
              <a:t>SAME TEAM</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93</TotalTime>
  <Words>1079</Words>
  <Application>Microsoft Macintosh PowerPoint</Application>
  <PresentationFormat>Custom</PresentationFormat>
  <Paragraphs>93</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Inter</vt:lpstr>
      <vt:lpstr>JetBrains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Joseph Frost</cp:lastModifiedBy>
  <cp:revision>10</cp:revision>
  <dcterms:created xsi:type="dcterms:W3CDTF">2026-06-13T17:34:10Z</dcterms:created>
  <dcterms:modified xsi:type="dcterms:W3CDTF">2026-06-13T19:24:10Z</dcterms:modified>
</cp:coreProperties>
</file>