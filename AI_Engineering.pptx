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557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one. The problem: every new Origin Data Product — the bronze layer — is hand-built. An engineer wires the Easy Ingest configuration, writes Terraform for the BigQuery bronze and silver tables, and stands up the landing bucket, all by hand. It is slow, inconsistent, and easy to get wrong. The solution: we used GitHub Copilot plus the Superpowers skill-building skill to build our own in-house skill. It interviews the engineer — asking exactly the right questions about the source, schema, cadence, PII — and then generates every artifact correctly, every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two — the gains. The problem: unstructured agentic coding sprawls. It writes a lot of code fast, but without a plan, without tests, and reviews are inconsistent — so bugs like null-pointer exceptions and off-by-one errors slip through to production. The solution: GitHub Copilot in agentic mode, plus Superpowers, imposes a structured software build. Clarification and planning up front, test-driven development, verification, and automated PR reviews that are far more thorough than a rushed human pass — they reliably catch NPEs and off-by-ones. Net effect: up to five times the throughput, with higher, not lower, quality.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three — AGENTS.md. The problem: engineers of every skill level touch our repos, and architectural knowledge lives in people's heads, so it's easy to introduce antipatterns. The solution: we wire an AGENTS.md into every repo, pointed to from the GitHub Copilot config, that encodes the architectural patterns and iron-rules specific to that repository. The agent reads it before making any change, so edits stay on-pattern regardless of who — or what — is making them. We've used this to good effect on our data-product and Infrastructure-as-Code Terraform repos, and the resulting Terraform has been deployed to production.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400" y="571500"/>
            <a:ext cx="18105120" cy="371475"/>
          </a:xfrm>
          <a:prstGeom prst="rect">
            <a:avLst/>
          </a:prstGeom>
          <a:noFill/>
          <a:ln/>
        </p:spPr>
        <p:txBody>
          <a:bodyPr wrap="square" lIns="25400" tIns="25400" rIns="25400" bIns="25400" rtlCol="0" anchor="t">
            <a:normAutofit/>
          </a:bodyPr>
          <a:lstStyle/>
          <a:p>
            <a:pPr marL="0" indent="0" algn="l">
              <a:buNone/>
            </a:pPr>
            <a:r>
              <a:rPr lang="en-US" sz="1950" kern="0" spc="312" dirty="0">
                <a:solidFill>
                  <a:srgbClr val="006A4D"/>
                </a:solidFill>
                <a:latin typeface="JetBrains Mono" pitchFamily="34" charset="0"/>
                <a:ea typeface="JetBrains Mono" pitchFamily="34" charset="-122"/>
                <a:cs typeface="JetBrains Mono" pitchFamily="34" charset="-120"/>
              </a:rPr>
              <a:t>AI ENGINEERING · 01 / IN-HOUSE SUPERPOWERS SKILL</a:t>
            </a:r>
            <a:endParaRPr lang="en-US" sz="1950" dirty="0"/>
          </a:p>
        </p:txBody>
      </p:sp>
      <p:sp>
        <p:nvSpPr>
          <p:cNvPr id="3" name="Shape 1"/>
          <p:cNvSpPr/>
          <p:nvPr/>
        </p:nvSpPr>
        <p:spPr>
          <a:xfrm>
            <a:off x="914400" y="10763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914400" y="1371600"/>
            <a:ext cx="9972934" cy="1165027"/>
          </a:xfrm>
          <a:prstGeom prst="rect">
            <a:avLst/>
          </a:prstGeom>
          <a:noFill/>
          <a:ln/>
        </p:spPr>
        <p:txBody>
          <a:bodyPr wrap="square" lIns="25400" tIns="25400" rIns="25400" bIns="25400" rtlCol="0" anchor="t">
            <a:normAutofit/>
          </a:bodyPr>
          <a:lstStyle/>
          <a:p>
            <a:pPr marL="0" indent="0" algn="l">
              <a:lnSpc>
                <a:spcPct val="84514"/>
              </a:lnSpc>
              <a:buNone/>
            </a:pPr>
            <a:r>
              <a:rPr lang="en-US" sz="4350" b="1" kern="0" spc="-87" dirty="0">
                <a:solidFill>
                  <a:srgbClr val="003824"/>
                </a:solidFill>
                <a:latin typeface="Inter" pitchFamily="34" charset="0"/>
                <a:ea typeface="Inter" pitchFamily="34" charset="-122"/>
                <a:cs typeface="Inter" pitchFamily="34" charset="-120"/>
              </a:rPr>
              <a:t>Scaffold an entire origin data product from one skill.</a:t>
            </a:r>
            <a:endParaRPr lang="en-US" sz="4350" dirty="0"/>
          </a:p>
        </p:txBody>
      </p:sp>
      <p:sp>
        <p:nvSpPr>
          <p:cNvPr id="5" name="Shape 3"/>
          <p:cNvSpPr/>
          <p:nvPr/>
        </p:nvSpPr>
        <p:spPr>
          <a:xfrm>
            <a:off x="914400" y="2746177"/>
            <a:ext cx="6562725" cy="2762250"/>
          </a:xfrm>
          <a:prstGeom prst="roundRect">
            <a:avLst>
              <a:gd name="adj" fmla="val 5620"/>
            </a:avLst>
          </a:prstGeom>
          <a:solidFill>
            <a:srgbClr val="FBF3EA"/>
          </a:solidFill>
          <a:ln w="9525">
            <a:solidFill>
              <a:srgbClr val="EFDCC6"/>
            </a:solidFill>
            <a:prstDash val="solid"/>
          </a:ln>
        </p:spPr>
        <p:txBody>
          <a:bodyPr/>
          <a:lstStyle/>
          <a:p>
            <a:endParaRPr lang="en-US"/>
          </a:p>
        </p:txBody>
      </p:sp>
      <p:sp>
        <p:nvSpPr>
          <p:cNvPr id="6" name="Shape 4"/>
          <p:cNvSpPr/>
          <p:nvPr/>
        </p:nvSpPr>
        <p:spPr>
          <a:xfrm>
            <a:off x="1247775" y="3041452"/>
            <a:ext cx="1284982" cy="371475"/>
          </a:xfrm>
          <a:prstGeom prst="roundRect">
            <a:avLst>
              <a:gd name="adj" fmla="val 50000"/>
            </a:avLst>
          </a:prstGeom>
          <a:solidFill>
            <a:srgbClr val="F4E2CF"/>
          </a:solidFill>
          <a:ln/>
        </p:spPr>
        <p:txBody>
          <a:bodyPr/>
          <a:lstStyle/>
          <a:p>
            <a:endParaRPr lang="en-US"/>
          </a:p>
        </p:txBody>
      </p:sp>
      <p:sp>
        <p:nvSpPr>
          <p:cNvPr id="7" name="Text 5"/>
          <p:cNvSpPr/>
          <p:nvPr/>
        </p:nvSpPr>
        <p:spPr>
          <a:xfrm>
            <a:off x="1400175" y="3098602"/>
            <a:ext cx="1056382" cy="295275"/>
          </a:xfrm>
          <a:prstGeom prst="rect">
            <a:avLst/>
          </a:prstGeom>
          <a:noFill/>
          <a:ln/>
        </p:spPr>
        <p:txBody>
          <a:bodyPr wrap="square" lIns="25400" tIns="25400" rIns="25400" bIns="25400" rtlCol="0" anchor="t">
            <a:normAutofit/>
          </a:bodyPr>
          <a:lstStyle/>
          <a:p>
            <a:pPr marL="0" indent="0" algn="l">
              <a:buNone/>
            </a:pPr>
            <a:r>
              <a:rPr lang="en-US" sz="1575" b="1" kern="0" spc="158" dirty="0">
                <a:solidFill>
                  <a:srgbClr val="B5651D"/>
                </a:solidFill>
                <a:latin typeface="JetBrains Mono" pitchFamily="34" charset="0"/>
                <a:ea typeface="JetBrains Mono" pitchFamily="34" charset="-122"/>
                <a:cs typeface="JetBrains Mono" pitchFamily="34" charset="-120"/>
              </a:rPr>
              <a:t>PROBLEM</a:t>
            </a:r>
            <a:endParaRPr lang="en-US" sz="1575" dirty="0"/>
          </a:p>
        </p:txBody>
      </p:sp>
      <p:sp>
        <p:nvSpPr>
          <p:cNvPr id="8" name="Text 6"/>
          <p:cNvSpPr/>
          <p:nvPr/>
        </p:nvSpPr>
        <p:spPr>
          <a:xfrm>
            <a:off x="1247775" y="3584377"/>
            <a:ext cx="6485573" cy="403771"/>
          </a:xfrm>
          <a:prstGeom prst="rect">
            <a:avLst/>
          </a:prstGeom>
          <a:noFill/>
          <a:ln/>
        </p:spPr>
        <p:txBody>
          <a:bodyPr wrap="square" lIns="25400" tIns="25400" rIns="25400" bIns="25400" rtlCol="0" anchor="t">
            <a:normAutofit/>
          </a:bodyPr>
          <a:lstStyle/>
          <a:p>
            <a:pPr marL="0" indent="0" algn="l">
              <a:lnSpc>
                <a:spcPct val="106667"/>
              </a:lnSpc>
              <a:buNone/>
            </a:pPr>
            <a:r>
              <a:rPr lang="en-US" sz="2250" b="1" dirty="0">
                <a:solidFill>
                  <a:srgbClr val="14201B"/>
                </a:solidFill>
                <a:latin typeface="Inter" pitchFamily="34" charset="0"/>
                <a:ea typeface="Inter" pitchFamily="34" charset="-122"/>
                <a:cs typeface="Inter" pitchFamily="34" charset="-120"/>
              </a:rPr>
              <a:t>Every new Origin source is hand-built.</a:t>
            </a:r>
            <a:endParaRPr lang="en-US" sz="2250" dirty="0"/>
          </a:p>
        </p:txBody>
      </p:sp>
      <p:sp>
        <p:nvSpPr>
          <p:cNvPr id="9" name="Text 7"/>
          <p:cNvSpPr/>
          <p:nvPr/>
        </p:nvSpPr>
        <p:spPr>
          <a:xfrm>
            <a:off x="1247775" y="4064347"/>
            <a:ext cx="6072854" cy="1371600"/>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6A5A45"/>
                </a:solidFill>
                <a:latin typeface="Inter" pitchFamily="34" charset="0"/>
                <a:ea typeface="Inter" pitchFamily="34" charset="-122"/>
                <a:cs typeface="Inter" pitchFamily="34" charset="-120"/>
              </a:rPr>
              <a:t>Easy Ingest config, Terraform for BigQuery bronze </a:t>
            </a:r>
            <a:r>
              <a:rPr lang="en-US" sz="1875" i="1" dirty="0">
                <a:solidFill>
                  <a:srgbClr val="6A5A45"/>
                </a:solidFill>
                <a:latin typeface="Inter" pitchFamily="34" charset="0"/>
                <a:ea typeface="Inter" pitchFamily="34" charset="-122"/>
                <a:cs typeface="Inter" pitchFamily="34" charset="-120"/>
              </a:rPr>
              <a:t>and </a:t>
            </a:r>
            <a:r>
              <a:rPr lang="en-US" sz="1875" dirty="0">
                <a:solidFill>
                  <a:srgbClr val="6A5A45"/>
                </a:solidFill>
                <a:latin typeface="Inter" pitchFamily="34" charset="0"/>
                <a:ea typeface="Inter" pitchFamily="34" charset="-122"/>
                <a:cs typeface="Inter" pitchFamily="34" charset="-120"/>
              </a:rPr>
              <a:t>silver tables, and the landing bucket — all wired by hand. Slow, inconsistent, easy to get subtly wrong.</a:t>
            </a:r>
            <a:endParaRPr lang="en-US" sz="1875" dirty="0"/>
          </a:p>
        </p:txBody>
      </p:sp>
      <p:sp>
        <p:nvSpPr>
          <p:cNvPr id="10" name="Shape 8"/>
          <p:cNvSpPr/>
          <p:nvPr/>
        </p:nvSpPr>
        <p:spPr>
          <a:xfrm>
            <a:off x="914400" y="5818607"/>
            <a:ext cx="6600825" cy="3370362"/>
          </a:xfrm>
          <a:prstGeom prst="roundRect">
            <a:avLst>
              <a:gd name="adj" fmla="val 5652"/>
            </a:avLst>
          </a:prstGeom>
          <a:solidFill>
            <a:srgbClr val="003824"/>
          </a:solidFill>
          <a:ln/>
        </p:spPr>
        <p:txBody>
          <a:bodyPr/>
          <a:lstStyle/>
          <a:p>
            <a:endParaRPr lang="en-US"/>
          </a:p>
        </p:txBody>
      </p:sp>
      <p:sp>
        <p:nvSpPr>
          <p:cNvPr id="11" name="Shape 9"/>
          <p:cNvSpPr/>
          <p:nvPr/>
        </p:nvSpPr>
        <p:spPr>
          <a:xfrm>
            <a:off x="1238250" y="6104357"/>
            <a:ext cx="1425029" cy="371475"/>
          </a:xfrm>
          <a:prstGeom prst="roundRect">
            <a:avLst>
              <a:gd name="adj" fmla="val 50000"/>
            </a:avLst>
          </a:prstGeom>
          <a:solidFill>
            <a:srgbClr val="9EC5B3"/>
          </a:solidFill>
          <a:ln/>
        </p:spPr>
        <p:txBody>
          <a:bodyPr/>
          <a:lstStyle/>
          <a:p>
            <a:endParaRPr lang="en-US"/>
          </a:p>
        </p:txBody>
      </p:sp>
      <p:sp>
        <p:nvSpPr>
          <p:cNvPr id="12" name="Text 10"/>
          <p:cNvSpPr/>
          <p:nvPr/>
        </p:nvSpPr>
        <p:spPr>
          <a:xfrm>
            <a:off x="1390650" y="6161507"/>
            <a:ext cx="1196429" cy="295275"/>
          </a:xfrm>
          <a:prstGeom prst="rect">
            <a:avLst/>
          </a:prstGeom>
          <a:noFill/>
          <a:ln/>
        </p:spPr>
        <p:txBody>
          <a:bodyPr wrap="square" lIns="25400" tIns="25400" rIns="25400" bIns="25400" rtlCol="0" anchor="t">
            <a:normAutofit/>
          </a:bodyPr>
          <a:lstStyle/>
          <a:p>
            <a:pPr marL="0" indent="0" algn="l">
              <a:buNone/>
            </a:pPr>
            <a:r>
              <a:rPr lang="en-US" sz="1575" b="1" kern="0" spc="158" dirty="0">
                <a:solidFill>
                  <a:srgbClr val="003824"/>
                </a:solidFill>
                <a:latin typeface="JetBrains Mono" pitchFamily="34" charset="0"/>
                <a:ea typeface="JetBrains Mono" pitchFamily="34" charset="-122"/>
                <a:cs typeface="JetBrains Mono" pitchFamily="34" charset="-120"/>
              </a:rPr>
              <a:t>SOLUTION</a:t>
            </a:r>
            <a:endParaRPr lang="en-US" sz="1575" dirty="0"/>
          </a:p>
        </p:txBody>
      </p:sp>
      <p:sp>
        <p:nvSpPr>
          <p:cNvPr id="13" name="Text 11"/>
          <p:cNvSpPr/>
          <p:nvPr/>
        </p:nvSpPr>
        <p:spPr>
          <a:xfrm>
            <a:off x="1238250" y="6647282"/>
            <a:ext cx="6548438" cy="403771"/>
          </a:xfrm>
          <a:prstGeom prst="rect">
            <a:avLst/>
          </a:prstGeom>
          <a:noFill/>
          <a:ln/>
        </p:spPr>
        <p:txBody>
          <a:bodyPr wrap="square" lIns="25400" tIns="25400" rIns="25400" bIns="25400" rtlCol="0" anchor="t">
            <a:normAutofit/>
          </a:bodyPr>
          <a:lstStyle/>
          <a:p>
            <a:pPr marL="0" indent="0" algn="l">
              <a:lnSpc>
                <a:spcPct val="106667"/>
              </a:lnSpc>
              <a:buNone/>
            </a:pPr>
            <a:r>
              <a:rPr lang="en-US" sz="2250" b="1" dirty="0">
                <a:solidFill>
                  <a:srgbClr val="FFFFFF"/>
                </a:solidFill>
                <a:latin typeface="Inter" pitchFamily="34" charset="0"/>
                <a:ea typeface="Inter" pitchFamily="34" charset="-122"/>
                <a:cs typeface="Inter" pitchFamily="34" charset="-120"/>
              </a:rPr>
              <a:t>One in-house skill does the scaffolding.</a:t>
            </a:r>
            <a:endParaRPr lang="en-US" sz="2250" dirty="0"/>
          </a:p>
        </p:txBody>
      </p:sp>
      <p:sp>
        <p:nvSpPr>
          <p:cNvPr id="14" name="Text 12"/>
          <p:cNvSpPr/>
          <p:nvPr/>
        </p:nvSpPr>
        <p:spPr>
          <a:xfrm>
            <a:off x="1238250" y="7127253"/>
            <a:ext cx="6131719" cy="1038225"/>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CFE2D8"/>
                </a:solidFill>
                <a:latin typeface="Inter" pitchFamily="34" charset="0"/>
                <a:ea typeface="Inter" pitchFamily="34" charset="-122"/>
                <a:cs typeface="Inter" pitchFamily="34" charset="-120"/>
              </a:rPr>
              <a:t>Built with GitHub Copilot + the Superpowers skill-builder. It interviews the engineer, then emits every artifact — correctly, every time.</a:t>
            </a:r>
            <a:endParaRPr lang="en-US" sz="1875" dirty="0"/>
          </a:p>
        </p:txBody>
      </p:sp>
      <p:sp>
        <p:nvSpPr>
          <p:cNvPr id="15" name="Shape 13"/>
          <p:cNvSpPr/>
          <p:nvPr/>
        </p:nvSpPr>
        <p:spPr>
          <a:xfrm>
            <a:off x="7934325" y="2746176"/>
            <a:ext cx="9048750" cy="6442793"/>
          </a:xfrm>
          <a:prstGeom prst="roundRect">
            <a:avLst>
              <a:gd name="adj" fmla="val 3427"/>
            </a:avLst>
          </a:prstGeom>
          <a:solidFill>
            <a:srgbClr val="F3F8F5"/>
          </a:solidFill>
          <a:ln w="9525">
            <a:solidFill>
              <a:srgbClr val="E6F1EC"/>
            </a:solidFill>
            <a:prstDash val="solid"/>
          </a:ln>
        </p:spPr>
        <p:txBody>
          <a:bodyPr/>
          <a:lstStyle/>
          <a:p>
            <a:endParaRPr lang="en-US"/>
          </a:p>
        </p:txBody>
      </p:sp>
      <p:sp>
        <p:nvSpPr>
          <p:cNvPr id="16" name="Text 14"/>
          <p:cNvSpPr/>
          <p:nvPr/>
        </p:nvSpPr>
        <p:spPr>
          <a:xfrm>
            <a:off x="8324850" y="2984302"/>
            <a:ext cx="9094470" cy="295275"/>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006A4D"/>
                </a:solidFill>
                <a:latin typeface="JetBrains Mono" pitchFamily="34" charset="0"/>
                <a:ea typeface="JetBrains Mono" pitchFamily="34" charset="-122"/>
                <a:cs typeface="JetBrains Mono" pitchFamily="34" charset="-120"/>
              </a:rPr>
              <a:t>FROM ONE INTERVIEW TO A PROVISIONED PIPELINE</a:t>
            </a:r>
            <a:endParaRPr lang="en-US" sz="1575" dirty="0"/>
          </a:p>
        </p:txBody>
      </p:sp>
      <p:sp>
        <p:nvSpPr>
          <p:cNvPr id="17" name="Shape 15"/>
          <p:cNvSpPr/>
          <p:nvPr/>
        </p:nvSpPr>
        <p:spPr>
          <a:xfrm>
            <a:off x="8324850" y="3336727"/>
            <a:ext cx="8267700" cy="2057400"/>
          </a:xfrm>
          <a:prstGeom prst="roundRect">
            <a:avLst>
              <a:gd name="adj" fmla="val 7407"/>
            </a:avLst>
          </a:prstGeom>
          <a:solidFill>
            <a:srgbClr val="0A1F17"/>
          </a:solidFill>
          <a:ln/>
        </p:spPr>
        <p:txBody>
          <a:bodyPr/>
          <a:lstStyle/>
          <a:p>
            <a:endParaRPr lang="en-US"/>
          </a:p>
        </p:txBody>
      </p:sp>
      <p:sp>
        <p:nvSpPr>
          <p:cNvPr id="18" name="Shape 16"/>
          <p:cNvSpPr/>
          <p:nvPr/>
        </p:nvSpPr>
        <p:spPr>
          <a:xfrm>
            <a:off x="8572500" y="3622477"/>
            <a:ext cx="95250" cy="95250"/>
          </a:xfrm>
          <a:prstGeom prst="ellipse">
            <a:avLst/>
          </a:prstGeom>
          <a:solidFill>
            <a:srgbClr val="9EC5B3"/>
          </a:solidFill>
          <a:ln/>
        </p:spPr>
        <p:txBody>
          <a:bodyPr/>
          <a:lstStyle/>
          <a:p>
            <a:endParaRPr lang="en-US"/>
          </a:p>
        </p:txBody>
      </p:sp>
      <p:sp>
        <p:nvSpPr>
          <p:cNvPr id="19" name="Text 17"/>
          <p:cNvSpPr/>
          <p:nvPr/>
        </p:nvSpPr>
        <p:spPr>
          <a:xfrm>
            <a:off x="8763000" y="3546277"/>
            <a:ext cx="4222433" cy="285750"/>
          </a:xfrm>
          <a:prstGeom prst="rect">
            <a:avLst/>
          </a:prstGeom>
          <a:noFill/>
          <a:ln/>
        </p:spPr>
        <p:txBody>
          <a:bodyPr wrap="square" lIns="25400" tIns="25400" rIns="25400" bIns="25400" rtlCol="0" anchor="t">
            <a:normAutofit/>
          </a:bodyPr>
          <a:lstStyle/>
          <a:p>
            <a:pPr marL="0" indent="0" algn="l">
              <a:buNone/>
            </a:pPr>
            <a:r>
              <a:rPr lang="en-US" sz="1500" kern="0" spc="75" dirty="0">
                <a:solidFill>
                  <a:srgbClr val="9EC5B3"/>
                </a:solidFill>
                <a:latin typeface="JetBrains Mono" pitchFamily="34" charset="0"/>
                <a:ea typeface="JetBrains Mono" pitchFamily="34" charset="-122"/>
                <a:cs typeface="JetBrains Mono" pitchFamily="34" charset="-120"/>
              </a:rPr>
              <a:t>copilot · create-origin-product</a:t>
            </a:r>
            <a:endParaRPr lang="en-US" sz="1500" dirty="0"/>
          </a:p>
        </p:txBody>
      </p:sp>
      <p:sp>
        <p:nvSpPr>
          <p:cNvPr id="20" name="Text 18"/>
          <p:cNvSpPr/>
          <p:nvPr/>
        </p:nvSpPr>
        <p:spPr>
          <a:xfrm>
            <a:off x="8572500" y="3927277"/>
            <a:ext cx="8005572" cy="352425"/>
          </a:xfrm>
          <a:prstGeom prst="rect">
            <a:avLst/>
          </a:prstGeom>
          <a:noFill/>
          <a:ln/>
        </p:spPr>
        <p:txBody>
          <a:bodyPr wrap="square" lIns="25400" tIns="25400" rIns="25400" bIns="25400" rtlCol="0" anchor="t">
            <a:normAutofit/>
          </a:bodyPr>
          <a:lstStyle/>
          <a:p>
            <a:pPr marL="0" indent="0" algn="l">
              <a:lnSpc>
                <a:spcPct val="113793"/>
              </a:lnSpc>
              <a:buNone/>
            </a:pPr>
            <a:r>
              <a:rPr lang="en-US" sz="1650" dirty="0">
                <a:solidFill>
                  <a:srgbClr val="6F9684"/>
                </a:solidFill>
                <a:latin typeface="JetBrains Mono" pitchFamily="34" charset="0"/>
                <a:ea typeface="JetBrains Mono" pitchFamily="34" charset="-122"/>
                <a:cs typeface="JetBrains Mono" pitchFamily="34" charset="-120"/>
              </a:rPr>
              <a:t># the skill asks exactly what it needs</a:t>
            </a:r>
            <a:endParaRPr lang="en-US" sz="1650" dirty="0"/>
          </a:p>
        </p:txBody>
      </p:sp>
      <p:sp>
        <p:nvSpPr>
          <p:cNvPr id="21" name="Text 19"/>
          <p:cNvSpPr/>
          <p:nvPr/>
        </p:nvSpPr>
        <p:spPr>
          <a:xfrm>
            <a:off x="8572500" y="4241602"/>
            <a:ext cx="8005572" cy="352425"/>
          </a:xfrm>
          <a:prstGeom prst="rect">
            <a:avLst/>
          </a:prstGeom>
          <a:noFill/>
          <a:ln/>
        </p:spPr>
        <p:txBody>
          <a:bodyPr wrap="square" lIns="25400" tIns="25400" rIns="25400" bIns="25400" rtlCol="0" anchor="t">
            <a:normAutofit/>
          </a:bodyPr>
          <a:lstStyle/>
          <a:p>
            <a:pPr marL="0" indent="0" algn="l">
              <a:lnSpc>
                <a:spcPct val="113793"/>
              </a:lnSpc>
              <a:buNone/>
            </a:pPr>
            <a:r>
              <a:rPr lang="en-US" sz="1650" dirty="0">
                <a:solidFill>
                  <a:srgbClr val="9EC5B3"/>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source system name, ID and table names</a:t>
            </a:r>
            <a:endParaRPr lang="en-US" sz="1650" dirty="0"/>
          </a:p>
        </p:txBody>
      </p:sp>
      <p:sp>
        <p:nvSpPr>
          <p:cNvPr id="22" name="Text 20"/>
          <p:cNvSpPr/>
          <p:nvPr/>
        </p:nvSpPr>
        <p:spPr>
          <a:xfrm>
            <a:off x="8572500" y="4555927"/>
            <a:ext cx="8005572" cy="352425"/>
          </a:xfrm>
          <a:prstGeom prst="rect">
            <a:avLst/>
          </a:prstGeom>
          <a:noFill/>
          <a:ln/>
        </p:spPr>
        <p:txBody>
          <a:bodyPr wrap="square" lIns="25400" tIns="25400" rIns="25400" bIns="25400" rtlCol="0" anchor="t">
            <a:normAutofit/>
          </a:bodyPr>
          <a:lstStyle/>
          <a:p>
            <a:pPr marL="0" indent="0" algn="l">
              <a:lnSpc>
                <a:spcPct val="113793"/>
              </a:lnSpc>
              <a:buNone/>
            </a:pPr>
            <a:r>
              <a:rPr lang="en-US" sz="1650" dirty="0">
                <a:solidFill>
                  <a:srgbClr val="9EC5B3"/>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sample data</a:t>
            </a:r>
            <a:endParaRPr lang="en-US" sz="1650" dirty="0"/>
          </a:p>
        </p:txBody>
      </p:sp>
      <p:sp>
        <p:nvSpPr>
          <p:cNvPr id="23" name="Text 21"/>
          <p:cNvSpPr/>
          <p:nvPr/>
        </p:nvSpPr>
        <p:spPr>
          <a:xfrm>
            <a:off x="8572500" y="4870252"/>
            <a:ext cx="8005572" cy="352425"/>
          </a:xfrm>
          <a:prstGeom prst="rect">
            <a:avLst/>
          </a:prstGeom>
          <a:noFill/>
          <a:ln/>
        </p:spPr>
        <p:txBody>
          <a:bodyPr wrap="square" lIns="25400" tIns="25400" rIns="25400" bIns="25400" rtlCol="0" anchor="t">
            <a:normAutofit/>
          </a:bodyPr>
          <a:lstStyle/>
          <a:p>
            <a:pPr marL="0" indent="0" algn="l">
              <a:lnSpc>
                <a:spcPct val="113793"/>
              </a:lnSpc>
              <a:buNone/>
            </a:pPr>
            <a:r>
              <a:rPr lang="en-US" sz="1650" dirty="0">
                <a:solidFill>
                  <a:srgbClr val="9EC5B3"/>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PII fields &amp;</a:t>
            </a:r>
            <a:endParaRPr lang="en-US" sz="1650" dirty="0"/>
          </a:p>
        </p:txBody>
      </p:sp>
      <p:sp>
        <p:nvSpPr>
          <p:cNvPr id="24" name="Shape 22"/>
          <p:cNvSpPr/>
          <p:nvPr/>
        </p:nvSpPr>
        <p:spPr>
          <a:xfrm>
            <a:off x="8324850" y="5622727"/>
            <a:ext cx="3382268" cy="9525"/>
          </a:xfrm>
          <a:prstGeom prst="rect">
            <a:avLst/>
          </a:prstGeom>
          <a:solidFill>
            <a:srgbClr val="CFE2D8"/>
          </a:solidFill>
          <a:ln/>
        </p:spPr>
        <p:txBody>
          <a:bodyPr/>
          <a:lstStyle/>
          <a:p>
            <a:endParaRPr lang="en-US"/>
          </a:p>
        </p:txBody>
      </p:sp>
      <p:sp>
        <p:nvSpPr>
          <p:cNvPr id="25" name="Text 23"/>
          <p:cNvSpPr/>
          <p:nvPr/>
        </p:nvSpPr>
        <p:spPr>
          <a:xfrm>
            <a:off x="11840468" y="5508427"/>
            <a:ext cx="1053554" cy="276225"/>
          </a:xfrm>
          <a:prstGeom prst="rect">
            <a:avLst/>
          </a:prstGeom>
          <a:noFill/>
          <a:ln/>
        </p:spPr>
        <p:txBody>
          <a:bodyPr wrap="square" lIns="0" tIns="0" rIns="0" bIns="0" rtlCol="0" anchor="t">
            <a:normAutofit/>
          </a:bodyPr>
          <a:lstStyle/>
          <a:p>
            <a:pPr marL="0" indent="0" algn="l">
              <a:buNone/>
            </a:pPr>
            <a:r>
              <a:rPr lang="en-US" sz="1425" dirty="0">
                <a:solidFill>
                  <a:srgbClr val="006A4D"/>
                </a:solidFill>
                <a:latin typeface="JetBrains Mono" pitchFamily="34" charset="0"/>
                <a:ea typeface="JetBrains Mono" pitchFamily="34" charset="-122"/>
                <a:cs typeface="JetBrains Mono" pitchFamily="34" charset="-120"/>
              </a:rPr>
              <a:t>generates</a:t>
            </a:r>
            <a:endParaRPr lang="en-US" sz="1425" dirty="0"/>
          </a:p>
        </p:txBody>
      </p:sp>
      <p:sp>
        <p:nvSpPr>
          <p:cNvPr id="26" name="Text 24"/>
          <p:cNvSpPr/>
          <p:nvPr/>
        </p:nvSpPr>
        <p:spPr>
          <a:xfrm>
            <a:off x="12951172" y="5489377"/>
            <a:ext cx="20196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006A4D"/>
                </a:solidFill>
                <a:latin typeface="JetBrains Mono" pitchFamily="34" charset="0"/>
                <a:ea typeface="JetBrains Mono" pitchFamily="34" charset="-122"/>
                <a:cs typeface="JetBrains Mono" pitchFamily="34" charset="-120"/>
              </a:rPr>
              <a:t>↓</a:t>
            </a:r>
            <a:endParaRPr lang="en-US" sz="1650" dirty="0"/>
          </a:p>
        </p:txBody>
      </p:sp>
      <p:sp>
        <p:nvSpPr>
          <p:cNvPr id="27" name="Shape 25"/>
          <p:cNvSpPr/>
          <p:nvPr/>
        </p:nvSpPr>
        <p:spPr>
          <a:xfrm>
            <a:off x="13210282" y="5622727"/>
            <a:ext cx="3382268" cy="9525"/>
          </a:xfrm>
          <a:prstGeom prst="rect">
            <a:avLst/>
          </a:prstGeom>
          <a:solidFill>
            <a:srgbClr val="CFE2D8"/>
          </a:solidFill>
          <a:ln/>
        </p:spPr>
        <p:txBody>
          <a:bodyPr/>
          <a:lstStyle/>
          <a:p>
            <a:endParaRPr lang="en-US"/>
          </a:p>
        </p:txBody>
      </p:sp>
      <p:sp>
        <p:nvSpPr>
          <p:cNvPr id="28" name="Shape 26"/>
          <p:cNvSpPr/>
          <p:nvPr/>
        </p:nvSpPr>
        <p:spPr>
          <a:xfrm>
            <a:off x="8324850" y="5860852"/>
            <a:ext cx="4067175" cy="600075"/>
          </a:xfrm>
          <a:prstGeom prst="roundRect">
            <a:avLst>
              <a:gd name="adj" fmla="val 22222"/>
            </a:avLst>
          </a:prstGeom>
          <a:solidFill>
            <a:srgbClr val="FFFFFF"/>
          </a:solidFill>
          <a:ln w="9525">
            <a:solidFill>
              <a:srgbClr val="E6F1EC"/>
            </a:solidFill>
            <a:prstDash val="solid"/>
          </a:ln>
        </p:spPr>
        <p:txBody>
          <a:bodyPr/>
          <a:lstStyle/>
          <a:p>
            <a:endParaRPr lang="en-US"/>
          </a:p>
        </p:txBody>
      </p:sp>
      <p:sp>
        <p:nvSpPr>
          <p:cNvPr id="29" name="Text 27"/>
          <p:cNvSpPr/>
          <p:nvPr/>
        </p:nvSpPr>
        <p:spPr>
          <a:xfrm>
            <a:off x="8524875" y="6022777"/>
            <a:ext cx="4033838" cy="314325"/>
          </a:xfrm>
          <a:prstGeom prst="rect">
            <a:avLst/>
          </a:prstGeom>
          <a:noFill/>
          <a:ln/>
        </p:spPr>
        <p:txBody>
          <a:bodyPr wrap="square" lIns="25400" tIns="25400" rIns="25400" bIns="25400" rtlCol="0" anchor="t">
            <a:normAutofit/>
          </a:bodyPr>
          <a:lstStyle/>
          <a:p>
            <a:pPr marL="0" indent="0" algn="l">
              <a:buNone/>
            </a:pPr>
            <a:r>
              <a:rPr lang="en-US" sz="1800" b="1" dirty="0">
                <a:solidFill>
                  <a:srgbClr val="14201B"/>
                </a:solidFill>
                <a:latin typeface="Inter" pitchFamily="34" charset="0"/>
                <a:ea typeface="Inter" pitchFamily="34" charset="-122"/>
                <a:cs typeface="Inter" pitchFamily="34" charset="-120"/>
              </a:rPr>
              <a:t>Easy Ingest config</a:t>
            </a:r>
            <a:endParaRPr lang="en-US" sz="1800" dirty="0"/>
          </a:p>
        </p:txBody>
      </p:sp>
      <p:sp>
        <p:nvSpPr>
          <p:cNvPr id="30" name="Shape 28"/>
          <p:cNvSpPr/>
          <p:nvPr/>
        </p:nvSpPr>
        <p:spPr>
          <a:xfrm>
            <a:off x="12525375" y="5860852"/>
            <a:ext cx="4067175" cy="600075"/>
          </a:xfrm>
          <a:prstGeom prst="roundRect">
            <a:avLst>
              <a:gd name="adj" fmla="val 22222"/>
            </a:avLst>
          </a:prstGeom>
          <a:solidFill>
            <a:srgbClr val="FFFFFF"/>
          </a:solidFill>
          <a:ln w="9525">
            <a:solidFill>
              <a:srgbClr val="E6F1EC"/>
            </a:solidFill>
            <a:prstDash val="solid"/>
          </a:ln>
        </p:spPr>
        <p:txBody>
          <a:bodyPr/>
          <a:lstStyle/>
          <a:p>
            <a:endParaRPr lang="en-US"/>
          </a:p>
        </p:txBody>
      </p:sp>
      <p:sp>
        <p:nvSpPr>
          <p:cNvPr id="31" name="Text 29"/>
          <p:cNvSpPr/>
          <p:nvPr/>
        </p:nvSpPr>
        <p:spPr>
          <a:xfrm>
            <a:off x="12725400" y="6022777"/>
            <a:ext cx="4033838" cy="314325"/>
          </a:xfrm>
          <a:prstGeom prst="rect">
            <a:avLst/>
          </a:prstGeom>
          <a:noFill/>
          <a:ln/>
        </p:spPr>
        <p:txBody>
          <a:bodyPr wrap="square" lIns="25400" tIns="25400" rIns="25400" bIns="25400" rtlCol="0" anchor="t">
            <a:normAutofit/>
          </a:bodyPr>
          <a:lstStyle/>
          <a:p>
            <a:pPr marL="0" indent="0" algn="l">
              <a:buNone/>
            </a:pPr>
            <a:r>
              <a:rPr lang="en-US" sz="1800" b="1" dirty="0">
                <a:solidFill>
                  <a:srgbClr val="14201B"/>
                </a:solidFill>
                <a:latin typeface="Inter" pitchFamily="34" charset="0"/>
                <a:ea typeface="Inter" pitchFamily="34" charset="-122"/>
                <a:cs typeface="Inter" pitchFamily="34" charset="-120"/>
              </a:rPr>
              <a:t>GCS landing bucket</a:t>
            </a:r>
            <a:endParaRPr lang="en-US" sz="1800" dirty="0"/>
          </a:p>
        </p:txBody>
      </p:sp>
      <p:sp>
        <p:nvSpPr>
          <p:cNvPr id="32" name="Shape 30"/>
          <p:cNvSpPr/>
          <p:nvPr/>
        </p:nvSpPr>
        <p:spPr>
          <a:xfrm>
            <a:off x="8324850" y="6594277"/>
            <a:ext cx="4067175" cy="600075"/>
          </a:xfrm>
          <a:prstGeom prst="roundRect">
            <a:avLst>
              <a:gd name="adj" fmla="val 22222"/>
            </a:avLst>
          </a:prstGeom>
          <a:solidFill>
            <a:srgbClr val="FFFFFF"/>
          </a:solidFill>
          <a:ln w="9525">
            <a:solidFill>
              <a:srgbClr val="E6F1EC"/>
            </a:solidFill>
            <a:prstDash val="solid"/>
          </a:ln>
        </p:spPr>
        <p:txBody>
          <a:bodyPr/>
          <a:lstStyle/>
          <a:p>
            <a:endParaRPr lang="en-US"/>
          </a:p>
        </p:txBody>
      </p:sp>
      <p:sp>
        <p:nvSpPr>
          <p:cNvPr id="33" name="Text 31"/>
          <p:cNvSpPr/>
          <p:nvPr/>
        </p:nvSpPr>
        <p:spPr>
          <a:xfrm>
            <a:off x="8524875" y="6756202"/>
            <a:ext cx="4033838" cy="314325"/>
          </a:xfrm>
          <a:prstGeom prst="rect">
            <a:avLst/>
          </a:prstGeom>
          <a:noFill/>
          <a:ln/>
        </p:spPr>
        <p:txBody>
          <a:bodyPr wrap="square" lIns="25400" tIns="25400" rIns="25400" bIns="25400" rtlCol="0" anchor="t">
            <a:normAutofit/>
          </a:bodyPr>
          <a:lstStyle/>
          <a:p>
            <a:pPr marL="0" indent="0" algn="l">
              <a:buNone/>
            </a:pPr>
            <a:r>
              <a:rPr lang="en-US" sz="1800" b="1" dirty="0">
                <a:solidFill>
                  <a:srgbClr val="14201B"/>
                </a:solidFill>
                <a:latin typeface="Inter" pitchFamily="34" charset="0"/>
                <a:ea typeface="Inter" pitchFamily="34" charset="-122"/>
                <a:cs typeface="Inter" pitchFamily="34" charset="-120"/>
              </a:rPr>
              <a:t>BigQuery bronze tables</a:t>
            </a:r>
            <a:endParaRPr lang="en-US" sz="1800" dirty="0"/>
          </a:p>
        </p:txBody>
      </p:sp>
      <p:sp>
        <p:nvSpPr>
          <p:cNvPr id="34" name="Shape 32"/>
          <p:cNvSpPr/>
          <p:nvPr/>
        </p:nvSpPr>
        <p:spPr>
          <a:xfrm>
            <a:off x="12525375" y="6594277"/>
            <a:ext cx="4067175" cy="600075"/>
          </a:xfrm>
          <a:prstGeom prst="roundRect">
            <a:avLst>
              <a:gd name="adj" fmla="val 22222"/>
            </a:avLst>
          </a:prstGeom>
          <a:solidFill>
            <a:srgbClr val="FFFFFF"/>
          </a:solidFill>
          <a:ln w="9525">
            <a:solidFill>
              <a:srgbClr val="E6F1EC"/>
            </a:solidFill>
            <a:prstDash val="solid"/>
          </a:ln>
        </p:spPr>
        <p:txBody>
          <a:bodyPr/>
          <a:lstStyle/>
          <a:p>
            <a:endParaRPr lang="en-US"/>
          </a:p>
        </p:txBody>
      </p:sp>
      <p:sp>
        <p:nvSpPr>
          <p:cNvPr id="35" name="Text 33"/>
          <p:cNvSpPr/>
          <p:nvPr/>
        </p:nvSpPr>
        <p:spPr>
          <a:xfrm>
            <a:off x="12725400" y="6756202"/>
            <a:ext cx="4033838" cy="314325"/>
          </a:xfrm>
          <a:prstGeom prst="rect">
            <a:avLst/>
          </a:prstGeom>
          <a:noFill/>
          <a:ln/>
        </p:spPr>
        <p:txBody>
          <a:bodyPr wrap="square" lIns="25400" tIns="25400" rIns="25400" bIns="25400" rtlCol="0" anchor="t">
            <a:normAutofit/>
          </a:bodyPr>
          <a:lstStyle/>
          <a:p>
            <a:pPr marL="0" indent="0" algn="l">
              <a:buNone/>
            </a:pPr>
            <a:r>
              <a:rPr lang="en-US" sz="1800" b="1" dirty="0">
                <a:solidFill>
                  <a:srgbClr val="14201B"/>
                </a:solidFill>
                <a:latin typeface="Inter" pitchFamily="34" charset="0"/>
                <a:ea typeface="Inter" pitchFamily="34" charset="-122"/>
                <a:cs typeface="Inter" pitchFamily="34" charset="-120"/>
              </a:rPr>
              <a:t>BigQuery silver tables</a:t>
            </a:r>
            <a:endParaRPr lang="en-US" sz="1800" dirty="0"/>
          </a:p>
        </p:txBody>
      </p:sp>
      <p:sp>
        <p:nvSpPr>
          <p:cNvPr id="36" name="Shape 34"/>
          <p:cNvSpPr/>
          <p:nvPr/>
        </p:nvSpPr>
        <p:spPr>
          <a:xfrm>
            <a:off x="8324850" y="7289602"/>
            <a:ext cx="2421136" cy="885825"/>
          </a:xfrm>
          <a:prstGeom prst="roundRect">
            <a:avLst>
              <a:gd name="adj" fmla="val 15054"/>
            </a:avLst>
          </a:prstGeom>
          <a:solidFill>
            <a:srgbClr val="0A4A31"/>
          </a:solidFill>
          <a:ln/>
        </p:spPr>
        <p:txBody>
          <a:bodyPr/>
          <a:lstStyle/>
          <a:p>
            <a:endParaRPr lang="en-US"/>
          </a:p>
        </p:txBody>
      </p:sp>
      <p:sp>
        <p:nvSpPr>
          <p:cNvPr id="37" name="Text 35"/>
          <p:cNvSpPr/>
          <p:nvPr/>
        </p:nvSpPr>
        <p:spPr>
          <a:xfrm>
            <a:off x="8371433" y="7442002"/>
            <a:ext cx="2327970" cy="276225"/>
          </a:xfrm>
          <a:prstGeom prst="rect">
            <a:avLst/>
          </a:prstGeom>
          <a:noFill/>
          <a:ln/>
        </p:spPr>
        <p:txBody>
          <a:bodyPr wrap="square" lIns="25400" tIns="25400" rIns="25400" bIns="25400" rtlCol="0" anchor="t">
            <a:normAutofit/>
          </a:bodyPr>
          <a:lstStyle/>
          <a:p>
            <a:pPr marL="0" indent="0" algn="ctr">
              <a:buNone/>
            </a:pPr>
            <a:r>
              <a:rPr lang="en-US" sz="1425" dirty="0">
                <a:solidFill>
                  <a:srgbClr val="9EC5B3"/>
                </a:solidFill>
                <a:latin typeface="JetBrains Mono" pitchFamily="34" charset="0"/>
                <a:ea typeface="JetBrains Mono" pitchFamily="34" charset="-122"/>
                <a:cs typeface="JetBrains Mono" pitchFamily="34" charset="-120"/>
              </a:rPr>
              <a:t>GCS</a:t>
            </a:r>
            <a:endParaRPr lang="en-US" sz="1425" dirty="0"/>
          </a:p>
        </p:txBody>
      </p:sp>
      <p:sp>
        <p:nvSpPr>
          <p:cNvPr id="38" name="Text 36"/>
          <p:cNvSpPr/>
          <p:nvPr/>
        </p:nvSpPr>
        <p:spPr>
          <a:xfrm>
            <a:off x="8371433" y="7737277"/>
            <a:ext cx="2327970" cy="323850"/>
          </a:xfrm>
          <a:prstGeom prst="rect">
            <a:avLst/>
          </a:prstGeom>
          <a:noFill/>
          <a:ln/>
        </p:spPr>
        <p:txBody>
          <a:bodyPr wrap="square" lIns="25400" tIns="25400" rIns="25400" bIns="25400" rtlCol="0" anchor="t">
            <a:normAutofit/>
          </a:bodyPr>
          <a:lstStyle/>
          <a:p>
            <a:pPr marL="0" indent="0" algn="ctr">
              <a:buNone/>
            </a:pPr>
            <a:r>
              <a:rPr lang="en-US" sz="1875" b="1" dirty="0">
                <a:solidFill>
                  <a:srgbClr val="FFFFFF"/>
                </a:solidFill>
                <a:latin typeface="Inter" pitchFamily="34" charset="0"/>
                <a:ea typeface="Inter" pitchFamily="34" charset="-122"/>
                <a:cs typeface="Inter" pitchFamily="34" charset="-120"/>
              </a:rPr>
              <a:t>Landing</a:t>
            </a:r>
            <a:endParaRPr lang="en-US" sz="1875" dirty="0"/>
          </a:p>
        </p:txBody>
      </p:sp>
      <p:sp>
        <p:nvSpPr>
          <p:cNvPr id="39" name="Text 37"/>
          <p:cNvSpPr/>
          <p:nvPr/>
        </p:nvSpPr>
        <p:spPr>
          <a:xfrm>
            <a:off x="10860286" y="7289602"/>
            <a:ext cx="349597" cy="923925"/>
          </a:xfrm>
          <a:prstGeom prst="rect">
            <a:avLst/>
          </a:prstGeom>
          <a:noFill/>
          <a:ln/>
        </p:spPr>
        <p:txBody>
          <a:bodyPr wrap="square" lIns="25400" tIns="25400" rIns="25400" bIns="25400" rtlCol="0" anchor="ctr">
            <a:normAutofit/>
          </a:bodyPr>
          <a:lstStyle/>
          <a:p>
            <a:pPr marL="0" indent="0" algn="l">
              <a:buNone/>
            </a:pPr>
            <a:r>
              <a:rPr lang="en-US" sz="2250" b="1" dirty="0">
                <a:solidFill>
                  <a:srgbClr val="9EC5B3"/>
                </a:solidFill>
                <a:latin typeface="Inter" pitchFamily="34" charset="0"/>
                <a:ea typeface="Inter" pitchFamily="34" charset="-122"/>
                <a:cs typeface="Inter" pitchFamily="34" charset="-120"/>
              </a:rPr>
              <a:t>→</a:t>
            </a:r>
            <a:endParaRPr lang="en-US" sz="2250" dirty="0"/>
          </a:p>
        </p:txBody>
      </p:sp>
      <p:sp>
        <p:nvSpPr>
          <p:cNvPr id="40" name="Shape 38"/>
          <p:cNvSpPr/>
          <p:nvPr/>
        </p:nvSpPr>
        <p:spPr>
          <a:xfrm>
            <a:off x="11247983" y="7289602"/>
            <a:ext cx="2421285" cy="885825"/>
          </a:xfrm>
          <a:prstGeom prst="roundRect">
            <a:avLst>
              <a:gd name="adj" fmla="val 15054"/>
            </a:avLst>
          </a:prstGeom>
          <a:solidFill>
            <a:srgbClr val="006A4D"/>
          </a:solidFill>
          <a:ln/>
        </p:spPr>
        <p:txBody>
          <a:bodyPr/>
          <a:lstStyle/>
          <a:p>
            <a:endParaRPr lang="en-US"/>
          </a:p>
        </p:txBody>
      </p:sp>
      <p:sp>
        <p:nvSpPr>
          <p:cNvPr id="41" name="Text 39"/>
          <p:cNvSpPr/>
          <p:nvPr/>
        </p:nvSpPr>
        <p:spPr>
          <a:xfrm>
            <a:off x="11294559" y="7442002"/>
            <a:ext cx="2328133" cy="276225"/>
          </a:xfrm>
          <a:prstGeom prst="rect">
            <a:avLst/>
          </a:prstGeom>
          <a:noFill/>
          <a:ln/>
        </p:spPr>
        <p:txBody>
          <a:bodyPr wrap="square" lIns="25400" tIns="25400" rIns="25400" bIns="25400" rtlCol="0" anchor="t">
            <a:normAutofit/>
          </a:bodyPr>
          <a:lstStyle/>
          <a:p>
            <a:pPr marL="0" indent="0" algn="ctr">
              <a:buNone/>
            </a:pPr>
            <a:r>
              <a:rPr lang="en-US" sz="1425" dirty="0">
                <a:solidFill>
                  <a:srgbClr val="CBEADD"/>
                </a:solidFill>
                <a:latin typeface="JetBrains Mono" pitchFamily="34" charset="0"/>
                <a:ea typeface="JetBrains Mono" pitchFamily="34" charset="-122"/>
                <a:cs typeface="JetBrains Mono" pitchFamily="34" charset="-120"/>
              </a:rPr>
              <a:t>BigQuery</a:t>
            </a:r>
            <a:endParaRPr lang="en-US" sz="1425" dirty="0"/>
          </a:p>
        </p:txBody>
      </p:sp>
      <p:sp>
        <p:nvSpPr>
          <p:cNvPr id="42" name="Text 40"/>
          <p:cNvSpPr/>
          <p:nvPr/>
        </p:nvSpPr>
        <p:spPr>
          <a:xfrm>
            <a:off x="11294559" y="7737277"/>
            <a:ext cx="2328133" cy="323850"/>
          </a:xfrm>
          <a:prstGeom prst="rect">
            <a:avLst/>
          </a:prstGeom>
          <a:noFill/>
          <a:ln/>
        </p:spPr>
        <p:txBody>
          <a:bodyPr wrap="square" lIns="25400" tIns="25400" rIns="25400" bIns="25400" rtlCol="0" anchor="t">
            <a:normAutofit/>
          </a:bodyPr>
          <a:lstStyle/>
          <a:p>
            <a:pPr marL="0" indent="0" algn="ctr">
              <a:buNone/>
            </a:pPr>
            <a:r>
              <a:rPr lang="en-US" sz="1875" b="1" dirty="0">
                <a:solidFill>
                  <a:srgbClr val="FFFFFF"/>
                </a:solidFill>
                <a:latin typeface="Inter" pitchFamily="34" charset="0"/>
                <a:ea typeface="Inter" pitchFamily="34" charset="-122"/>
                <a:cs typeface="Inter" pitchFamily="34" charset="-120"/>
              </a:rPr>
              <a:t>Bronze</a:t>
            </a:r>
            <a:endParaRPr lang="en-US" sz="1875" dirty="0"/>
          </a:p>
        </p:txBody>
      </p:sp>
      <p:sp>
        <p:nvSpPr>
          <p:cNvPr id="43" name="Text 41"/>
          <p:cNvSpPr/>
          <p:nvPr/>
        </p:nvSpPr>
        <p:spPr>
          <a:xfrm>
            <a:off x="13783568" y="7289602"/>
            <a:ext cx="349597" cy="923925"/>
          </a:xfrm>
          <a:prstGeom prst="rect">
            <a:avLst/>
          </a:prstGeom>
          <a:noFill/>
          <a:ln/>
        </p:spPr>
        <p:txBody>
          <a:bodyPr wrap="square" lIns="25400" tIns="25400" rIns="25400" bIns="25400" rtlCol="0" anchor="ctr">
            <a:normAutofit/>
          </a:bodyPr>
          <a:lstStyle/>
          <a:p>
            <a:pPr marL="0" indent="0" algn="l">
              <a:buNone/>
            </a:pPr>
            <a:r>
              <a:rPr lang="en-US" sz="2250" b="1" dirty="0">
                <a:solidFill>
                  <a:srgbClr val="9EC5B3"/>
                </a:solidFill>
                <a:latin typeface="Inter" pitchFamily="34" charset="0"/>
                <a:ea typeface="Inter" pitchFamily="34" charset="-122"/>
                <a:cs typeface="Inter" pitchFamily="34" charset="-120"/>
              </a:rPr>
              <a:t>→</a:t>
            </a:r>
            <a:endParaRPr lang="en-US" sz="2250" dirty="0"/>
          </a:p>
        </p:txBody>
      </p:sp>
      <p:sp>
        <p:nvSpPr>
          <p:cNvPr id="44" name="Shape 42"/>
          <p:cNvSpPr/>
          <p:nvPr/>
        </p:nvSpPr>
        <p:spPr>
          <a:xfrm>
            <a:off x="14171265" y="7289602"/>
            <a:ext cx="2421285" cy="885825"/>
          </a:xfrm>
          <a:prstGeom prst="roundRect">
            <a:avLst>
              <a:gd name="adj" fmla="val 15054"/>
            </a:avLst>
          </a:prstGeom>
          <a:solidFill>
            <a:srgbClr val="9EC5B3"/>
          </a:solidFill>
          <a:ln/>
        </p:spPr>
        <p:txBody>
          <a:bodyPr/>
          <a:lstStyle/>
          <a:p>
            <a:endParaRPr lang="en-US"/>
          </a:p>
        </p:txBody>
      </p:sp>
      <p:sp>
        <p:nvSpPr>
          <p:cNvPr id="45" name="Text 43"/>
          <p:cNvSpPr/>
          <p:nvPr/>
        </p:nvSpPr>
        <p:spPr>
          <a:xfrm>
            <a:off x="14217841" y="7442002"/>
            <a:ext cx="2328133" cy="276225"/>
          </a:xfrm>
          <a:prstGeom prst="rect">
            <a:avLst/>
          </a:prstGeom>
          <a:noFill/>
          <a:ln/>
        </p:spPr>
        <p:txBody>
          <a:bodyPr wrap="square" lIns="25400" tIns="25400" rIns="25400" bIns="25400" rtlCol="0" anchor="t">
            <a:normAutofit/>
          </a:bodyPr>
          <a:lstStyle/>
          <a:p>
            <a:pPr marL="0" indent="0" algn="ctr">
              <a:buNone/>
            </a:pPr>
            <a:r>
              <a:rPr lang="en-US" sz="1425" dirty="0">
                <a:solidFill>
                  <a:srgbClr val="0A4A31"/>
                </a:solidFill>
                <a:latin typeface="JetBrains Mono" pitchFamily="34" charset="0"/>
                <a:ea typeface="JetBrains Mono" pitchFamily="34" charset="-122"/>
                <a:cs typeface="JetBrains Mono" pitchFamily="34" charset="-120"/>
              </a:rPr>
              <a:t>BigQuery</a:t>
            </a:r>
            <a:endParaRPr lang="en-US" sz="1425" dirty="0"/>
          </a:p>
        </p:txBody>
      </p:sp>
      <p:sp>
        <p:nvSpPr>
          <p:cNvPr id="46" name="Text 44"/>
          <p:cNvSpPr/>
          <p:nvPr/>
        </p:nvSpPr>
        <p:spPr>
          <a:xfrm>
            <a:off x="14217841" y="7737277"/>
            <a:ext cx="2328133" cy="323850"/>
          </a:xfrm>
          <a:prstGeom prst="rect">
            <a:avLst/>
          </a:prstGeom>
          <a:noFill/>
          <a:ln/>
        </p:spPr>
        <p:txBody>
          <a:bodyPr wrap="square" lIns="25400" tIns="25400" rIns="25400" bIns="25400" rtlCol="0" anchor="t">
            <a:normAutofit/>
          </a:bodyPr>
          <a:lstStyle/>
          <a:p>
            <a:pPr marL="0" indent="0" algn="ctr">
              <a:buNone/>
            </a:pPr>
            <a:r>
              <a:rPr lang="en-US" sz="1875" b="1" dirty="0">
                <a:solidFill>
                  <a:srgbClr val="003824"/>
                </a:solidFill>
                <a:latin typeface="Inter" pitchFamily="34" charset="0"/>
                <a:ea typeface="Inter" pitchFamily="34" charset="-122"/>
                <a:cs typeface="Inter" pitchFamily="34" charset="-120"/>
              </a:rPr>
              <a:t>Silver</a:t>
            </a:r>
            <a:endParaRPr lang="en-US" sz="18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914400" y="685800"/>
            <a:ext cx="18105120" cy="371475"/>
          </a:xfrm>
          <a:prstGeom prst="rect">
            <a:avLst/>
          </a:prstGeom>
          <a:noFill/>
          <a:ln/>
        </p:spPr>
        <p:txBody>
          <a:bodyPr wrap="square" lIns="25400" tIns="25400" rIns="25400" bIns="25400" rtlCol="0" anchor="t">
            <a:normAutofit/>
          </a:bodyPr>
          <a:lstStyle/>
          <a:p>
            <a:pPr marL="0" indent="0" algn="l">
              <a:buNone/>
            </a:pPr>
            <a:r>
              <a:rPr lang="en-US" sz="1950" kern="0" spc="312" dirty="0">
                <a:solidFill>
                  <a:srgbClr val="9EC5B3"/>
                </a:solidFill>
                <a:latin typeface="JetBrains Mono" pitchFamily="34" charset="0"/>
                <a:ea typeface="JetBrains Mono" pitchFamily="34" charset="-122"/>
                <a:cs typeface="JetBrains Mono" pitchFamily="34" charset="-120"/>
              </a:rPr>
              <a:t>AI ENGINEERING · 02 / COPILOT AGENTIC MODE + SUPERPOWERS</a:t>
            </a:r>
            <a:endParaRPr lang="en-US" sz="1950" dirty="0"/>
          </a:p>
        </p:txBody>
      </p:sp>
      <p:sp>
        <p:nvSpPr>
          <p:cNvPr id="3" name="Shape 1"/>
          <p:cNvSpPr/>
          <p:nvPr/>
        </p:nvSpPr>
        <p:spPr>
          <a:xfrm>
            <a:off x="914400" y="1190625"/>
            <a:ext cx="685800" cy="47625"/>
          </a:xfrm>
          <a:prstGeom prst="roundRect">
            <a:avLst>
              <a:gd name="adj" fmla="val 40000"/>
            </a:avLst>
          </a:prstGeom>
          <a:solidFill>
            <a:srgbClr val="9EC5B3"/>
          </a:solidFill>
          <a:ln/>
        </p:spPr>
        <p:txBody>
          <a:bodyPr/>
          <a:lstStyle/>
          <a:p>
            <a:endParaRPr lang="en-US"/>
          </a:p>
        </p:txBody>
      </p:sp>
      <p:sp>
        <p:nvSpPr>
          <p:cNvPr id="4" name="Text 2"/>
          <p:cNvSpPr/>
          <p:nvPr/>
        </p:nvSpPr>
        <p:spPr>
          <a:xfrm>
            <a:off x="914400" y="1485900"/>
            <a:ext cx="9840642" cy="1242715"/>
          </a:xfrm>
          <a:prstGeom prst="rect">
            <a:avLst/>
          </a:prstGeom>
          <a:noFill/>
          <a:ln/>
        </p:spPr>
        <p:txBody>
          <a:bodyPr wrap="square" lIns="25400" tIns="25400" rIns="25400" bIns="25400" rtlCol="0" anchor="t">
            <a:normAutofit/>
          </a:bodyPr>
          <a:lstStyle/>
          <a:p>
            <a:pPr marL="0" indent="0" algn="l">
              <a:lnSpc>
                <a:spcPct val="84320"/>
              </a:lnSpc>
              <a:buNone/>
            </a:pPr>
            <a:r>
              <a:rPr lang="en-US" sz="4650" b="1" kern="0" spc="-93" dirty="0">
                <a:solidFill>
                  <a:srgbClr val="FFFFFF"/>
                </a:solidFill>
                <a:latin typeface="Inter" pitchFamily="34" charset="0"/>
                <a:ea typeface="Inter" pitchFamily="34" charset="-122"/>
                <a:cs typeface="Inter" pitchFamily="34" charset="-120"/>
              </a:rPr>
              <a:t>Structure turns fast into fast </a:t>
            </a:r>
            <a:r>
              <a:rPr lang="en-US" sz="4650" b="1" i="1" kern="0" spc="-93" dirty="0">
                <a:solidFill>
                  <a:srgbClr val="FFFFFF"/>
                </a:solidFill>
                <a:latin typeface="Inter" pitchFamily="34" charset="0"/>
                <a:ea typeface="Inter" pitchFamily="34" charset="-122"/>
                <a:cs typeface="Inter" pitchFamily="34" charset="-120"/>
              </a:rPr>
              <a:t>and </a:t>
            </a:r>
            <a:r>
              <a:rPr lang="en-US" sz="4650" b="1" kern="0" spc="-93" dirty="0">
                <a:solidFill>
                  <a:srgbClr val="FFFFFF"/>
                </a:solidFill>
                <a:latin typeface="Inter" pitchFamily="34" charset="0"/>
                <a:ea typeface="Inter" pitchFamily="34" charset="-122"/>
                <a:cs typeface="Inter" pitchFamily="34" charset="-120"/>
              </a:rPr>
              <a:t>safe.</a:t>
            </a:r>
            <a:endParaRPr lang="en-US" sz="4650" dirty="0"/>
          </a:p>
        </p:txBody>
      </p:sp>
      <p:sp>
        <p:nvSpPr>
          <p:cNvPr id="5" name="Shape 3"/>
          <p:cNvSpPr/>
          <p:nvPr/>
        </p:nvSpPr>
        <p:spPr>
          <a:xfrm>
            <a:off x="914400" y="2995315"/>
            <a:ext cx="7218015" cy="2145953"/>
          </a:xfrm>
          <a:prstGeom prst="roundRect">
            <a:avLst>
              <a:gd name="adj" fmla="val 8877"/>
            </a:avLst>
          </a:prstGeom>
          <a:solidFill>
            <a:srgbClr val="0A4A31"/>
          </a:solidFill>
          <a:ln/>
        </p:spPr>
        <p:txBody>
          <a:bodyPr/>
          <a:lstStyle/>
          <a:p>
            <a:endParaRPr lang="en-US"/>
          </a:p>
        </p:txBody>
      </p:sp>
      <p:sp>
        <p:nvSpPr>
          <p:cNvPr id="6" name="Shape 4"/>
          <p:cNvSpPr/>
          <p:nvPr/>
        </p:nvSpPr>
        <p:spPr>
          <a:xfrm>
            <a:off x="1219200" y="3262015"/>
            <a:ext cx="1284982" cy="371475"/>
          </a:xfrm>
          <a:prstGeom prst="roundRect">
            <a:avLst>
              <a:gd name="adj" fmla="val 50000"/>
            </a:avLst>
          </a:prstGeom>
          <a:solidFill>
            <a:srgbClr val="7A4A17"/>
          </a:solidFill>
          <a:ln/>
        </p:spPr>
        <p:txBody>
          <a:bodyPr/>
          <a:lstStyle/>
          <a:p>
            <a:endParaRPr lang="en-US"/>
          </a:p>
        </p:txBody>
      </p:sp>
      <p:sp>
        <p:nvSpPr>
          <p:cNvPr id="7" name="Text 5"/>
          <p:cNvSpPr/>
          <p:nvPr/>
        </p:nvSpPr>
        <p:spPr>
          <a:xfrm>
            <a:off x="1371600" y="3319165"/>
            <a:ext cx="1056382" cy="295275"/>
          </a:xfrm>
          <a:prstGeom prst="rect">
            <a:avLst/>
          </a:prstGeom>
          <a:noFill/>
          <a:ln/>
        </p:spPr>
        <p:txBody>
          <a:bodyPr wrap="square" lIns="25400" tIns="25400" rIns="25400" bIns="25400" rtlCol="0" anchor="t">
            <a:normAutofit/>
          </a:bodyPr>
          <a:lstStyle/>
          <a:p>
            <a:pPr marL="0" indent="0" algn="l">
              <a:buNone/>
            </a:pPr>
            <a:r>
              <a:rPr lang="en-US" sz="1575" b="1" kern="0" spc="158" dirty="0">
                <a:solidFill>
                  <a:srgbClr val="F4E2CF"/>
                </a:solidFill>
                <a:latin typeface="JetBrains Mono" pitchFamily="34" charset="0"/>
                <a:ea typeface="JetBrains Mono" pitchFamily="34" charset="-122"/>
                <a:cs typeface="JetBrains Mono" pitchFamily="34" charset="-120"/>
              </a:rPr>
              <a:t>PROBLEM</a:t>
            </a:r>
            <a:endParaRPr lang="en-US" sz="1575" dirty="0"/>
          </a:p>
        </p:txBody>
      </p:sp>
      <p:sp>
        <p:nvSpPr>
          <p:cNvPr id="8" name="Text 6"/>
          <p:cNvSpPr/>
          <p:nvPr/>
        </p:nvSpPr>
        <p:spPr>
          <a:xfrm>
            <a:off x="1219200" y="3785890"/>
            <a:ext cx="7269257" cy="391567"/>
          </a:xfrm>
          <a:prstGeom prst="rect">
            <a:avLst/>
          </a:prstGeom>
          <a:noFill/>
          <a:ln/>
        </p:spPr>
        <p:txBody>
          <a:bodyPr wrap="square" lIns="25400" tIns="25400" rIns="25400" bIns="25400" rtlCol="0" anchor="t">
            <a:normAutofit/>
          </a:bodyPr>
          <a:lstStyle/>
          <a:p>
            <a:pPr marL="0" indent="0" algn="l">
              <a:lnSpc>
                <a:spcPct val="106057"/>
              </a:lnSpc>
              <a:buNone/>
            </a:pPr>
            <a:r>
              <a:rPr lang="en-US" sz="2175" b="1" dirty="0">
                <a:solidFill>
                  <a:srgbClr val="FFFFFF"/>
                </a:solidFill>
                <a:latin typeface="Inter" pitchFamily="34" charset="0"/>
                <a:ea typeface="Inter" pitchFamily="34" charset="-122"/>
                <a:cs typeface="Inter" pitchFamily="34" charset="-120"/>
              </a:rPr>
              <a:t>Unstructured agentic coding sprawls.</a:t>
            </a:r>
            <a:endParaRPr lang="en-US" sz="2175" dirty="0"/>
          </a:p>
        </p:txBody>
      </p:sp>
      <p:sp>
        <p:nvSpPr>
          <p:cNvPr id="9" name="Text 7"/>
          <p:cNvSpPr/>
          <p:nvPr/>
        </p:nvSpPr>
        <p:spPr>
          <a:xfrm>
            <a:off x="1219200" y="4234607"/>
            <a:ext cx="6806668" cy="678061"/>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CFE2D8"/>
                </a:solidFill>
                <a:latin typeface="Inter" pitchFamily="34" charset="0"/>
                <a:ea typeface="Inter" pitchFamily="34" charset="-122"/>
                <a:cs typeface="Inter" pitchFamily="34" charset="-120"/>
              </a:rPr>
              <a:t>Lots of code, no plan, no tests — and inconsistent review lets NPEs and off-by-one errors reach production.</a:t>
            </a:r>
            <a:endParaRPr lang="en-US" sz="1800" dirty="0"/>
          </a:p>
        </p:txBody>
      </p:sp>
      <p:sp>
        <p:nvSpPr>
          <p:cNvPr id="10" name="Shape 8"/>
          <p:cNvSpPr/>
          <p:nvPr/>
        </p:nvSpPr>
        <p:spPr>
          <a:xfrm>
            <a:off x="914400" y="5350818"/>
            <a:ext cx="7218015" cy="3913103"/>
          </a:xfrm>
          <a:prstGeom prst="roundRect">
            <a:avLst>
              <a:gd name="adj" fmla="val 4482"/>
            </a:avLst>
          </a:prstGeom>
          <a:gradFill rotWithShape="1">
            <a:gsLst>
              <a:gs pos="0">
                <a:srgbClr val="006A4D">
                  <a:alpha val="100000"/>
                </a:srgbClr>
              </a:gs>
              <a:gs pos="100000">
                <a:srgbClr val="0A8A63">
                  <a:alpha val="100000"/>
                </a:srgbClr>
              </a:gs>
            </a:gsLst>
            <a:lin ang="2700000" scaled="0"/>
          </a:gradFill>
          <a:ln/>
        </p:spPr>
        <p:txBody>
          <a:bodyPr/>
          <a:lstStyle/>
          <a:p>
            <a:endParaRPr lang="en-US"/>
          </a:p>
        </p:txBody>
      </p:sp>
      <p:sp>
        <p:nvSpPr>
          <p:cNvPr id="11" name="Shape 9"/>
          <p:cNvSpPr/>
          <p:nvPr/>
        </p:nvSpPr>
        <p:spPr>
          <a:xfrm>
            <a:off x="1238250" y="6239321"/>
            <a:ext cx="1425029" cy="371475"/>
          </a:xfrm>
          <a:prstGeom prst="roundRect">
            <a:avLst>
              <a:gd name="adj" fmla="val 50000"/>
            </a:avLst>
          </a:prstGeom>
          <a:solidFill>
            <a:srgbClr val="9EC5B3"/>
          </a:solidFill>
          <a:ln/>
        </p:spPr>
        <p:txBody>
          <a:bodyPr/>
          <a:lstStyle/>
          <a:p>
            <a:endParaRPr lang="en-US"/>
          </a:p>
        </p:txBody>
      </p:sp>
      <p:sp>
        <p:nvSpPr>
          <p:cNvPr id="12" name="Text 10"/>
          <p:cNvSpPr/>
          <p:nvPr/>
        </p:nvSpPr>
        <p:spPr>
          <a:xfrm>
            <a:off x="1390650" y="6296471"/>
            <a:ext cx="1196429" cy="295275"/>
          </a:xfrm>
          <a:prstGeom prst="rect">
            <a:avLst/>
          </a:prstGeom>
          <a:noFill/>
          <a:ln/>
        </p:spPr>
        <p:txBody>
          <a:bodyPr wrap="square" lIns="25400" tIns="25400" rIns="25400" bIns="25400" rtlCol="0" anchor="t">
            <a:normAutofit/>
          </a:bodyPr>
          <a:lstStyle/>
          <a:p>
            <a:pPr marL="0" indent="0" algn="l">
              <a:buNone/>
            </a:pPr>
            <a:r>
              <a:rPr lang="en-US" sz="1575" b="1" kern="0" spc="158" dirty="0">
                <a:solidFill>
                  <a:srgbClr val="003824"/>
                </a:solidFill>
                <a:latin typeface="JetBrains Mono" pitchFamily="34" charset="0"/>
                <a:ea typeface="JetBrains Mono" pitchFamily="34" charset="-122"/>
                <a:cs typeface="JetBrains Mono" pitchFamily="34" charset="-120"/>
              </a:rPr>
              <a:t>SOLUTION</a:t>
            </a:r>
            <a:endParaRPr lang="en-US" sz="1575" dirty="0"/>
          </a:p>
        </p:txBody>
      </p:sp>
      <p:sp>
        <p:nvSpPr>
          <p:cNvPr id="13" name="Text 11"/>
          <p:cNvSpPr/>
          <p:nvPr/>
        </p:nvSpPr>
        <p:spPr>
          <a:xfrm>
            <a:off x="1238250" y="6763196"/>
            <a:ext cx="1688351" cy="1090613"/>
          </a:xfrm>
          <a:prstGeom prst="rect">
            <a:avLst/>
          </a:prstGeom>
          <a:noFill/>
          <a:ln/>
        </p:spPr>
        <p:txBody>
          <a:bodyPr wrap="square" lIns="25400" tIns="25400" rIns="25400" bIns="25400" rtlCol="0" anchor="t">
            <a:normAutofit/>
          </a:bodyPr>
          <a:lstStyle/>
          <a:p>
            <a:pPr marL="0" indent="0" algn="l">
              <a:lnSpc>
                <a:spcPct val="70382"/>
              </a:lnSpc>
              <a:buNone/>
            </a:pPr>
            <a:r>
              <a:rPr lang="en-US" sz="9750" b="1" kern="0" spc="-390" dirty="0">
                <a:solidFill>
                  <a:srgbClr val="FFFFFF"/>
                </a:solidFill>
                <a:latin typeface="Inter" pitchFamily="34" charset="0"/>
                <a:ea typeface="Inter" pitchFamily="34" charset="-122"/>
                <a:cs typeface="Inter" pitchFamily="34" charset="-120"/>
              </a:rPr>
              <a:t>5×</a:t>
            </a:r>
            <a:endParaRPr lang="en-US" sz="9750" dirty="0"/>
          </a:p>
        </p:txBody>
      </p:sp>
      <p:sp>
        <p:nvSpPr>
          <p:cNvPr id="14" name="Text 12"/>
          <p:cNvSpPr/>
          <p:nvPr/>
        </p:nvSpPr>
        <p:spPr>
          <a:xfrm>
            <a:off x="2906464" y="7506146"/>
            <a:ext cx="7620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CBEADD"/>
                </a:solidFill>
                <a:latin typeface="JetBrains Mono" pitchFamily="34" charset="0"/>
                <a:ea typeface="JetBrains Mono" pitchFamily="34" charset="-122"/>
                <a:cs typeface="JetBrains Mono" pitchFamily="34" charset="-120"/>
              </a:rPr>
              <a:t>up to</a:t>
            </a:r>
            <a:endParaRPr lang="en-US" sz="1800" dirty="0"/>
          </a:p>
        </p:txBody>
      </p:sp>
      <p:sp>
        <p:nvSpPr>
          <p:cNvPr id="15" name="Text 13"/>
          <p:cNvSpPr/>
          <p:nvPr/>
        </p:nvSpPr>
        <p:spPr>
          <a:xfrm>
            <a:off x="1238250" y="8049071"/>
            <a:ext cx="6767425" cy="701576"/>
          </a:xfrm>
          <a:prstGeom prst="rect">
            <a:avLst/>
          </a:prstGeom>
          <a:noFill/>
          <a:ln/>
        </p:spPr>
        <p:txBody>
          <a:bodyPr wrap="square" lIns="25400" tIns="25400" rIns="25400" bIns="25400" rtlCol="0" anchor="t">
            <a:normAutofit/>
          </a:bodyPr>
          <a:lstStyle/>
          <a:p>
            <a:pPr marL="0" indent="0" algn="l">
              <a:lnSpc>
                <a:spcPct val="112387"/>
              </a:lnSpc>
              <a:buNone/>
            </a:pPr>
            <a:r>
              <a:rPr lang="en-US" sz="1950" dirty="0">
                <a:solidFill>
                  <a:srgbClr val="EAF4EF"/>
                </a:solidFill>
                <a:latin typeface="Inter" pitchFamily="34" charset="0"/>
                <a:ea typeface="Inter" pitchFamily="34" charset="-122"/>
                <a:cs typeface="Inter" pitchFamily="34" charset="-120"/>
              </a:rPr>
              <a:t>delivery throughput from structured, Superpowers-guided builds — with fewer defects, not more.</a:t>
            </a:r>
            <a:endParaRPr lang="en-US" sz="1950" dirty="0"/>
          </a:p>
        </p:txBody>
      </p:sp>
      <p:sp>
        <p:nvSpPr>
          <p:cNvPr id="16" name="Text 14"/>
          <p:cNvSpPr/>
          <p:nvPr/>
        </p:nvSpPr>
        <p:spPr>
          <a:xfrm>
            <a:off x="8551515" y="2995315"/>
            <a:ext cx="9704293" cy="295275"/>
          </a:xfrm>
          <a:prstGeom prst="rect">
            <a:avLst/>
          </a:prstGeom>
          <a:noFill/>
          <a:ln/>
        </p:spPr>
        <p:txBody>
          <a:bodyPr wrap="square" lIns="25400" tIns="25400" rIns="25400" bIns="25400" rtlCol="0" anchor="t">
            <a:normAutofit/>
          </a:bodyPr>
          <a:lstStyle/>
          <a:p>
            <a:pPr marL="0" indent="0" algn="l">
              <a:buNone/>
            </a:pPr>
            <a:r>
              <a:rPr lang="en-US" sz="1575" kern="0" spc="158" dirty="0">
                <a:solidFill>
                  <a:srgbClr val="9EC5B3"/>
                </a:solidFill>
                <a:latin typeface="JetBrains Mono" pitchFamily="34" charset="0"/>
                <a:ea typeface="JetBrains Mono" pitchFamily="34" charset="-122"/>
                <a:cs typeface="JetBrains Mono" pitchFamily="34" charset="-120"/>
              </a:rPr>
              <a:t>THE STRUCTURED BUILD LOOP</a:t>
            </a:r>
            <a:endParaRPr lang="en-US" sz="1575" dirty="0"/>
          </a:p>
        </p:txBody>
      </p:sp>
      <p:sp>
        <p:nvSpPr>
          <p:cNvPr id="17" name="Shape 15"/>
          <p:cNvSpPr/>
          <p:nvPr/>
        </p:nvSpPr>
        <p:spPr>
          <a:xfrm>
            <a:off x="8551515" y="3404890"/>
            <a:ext cx="8822085" cy="952500"/>
          </a:xfrm>
          <a:prstGeom prst="roundRect">
            <a:avLst>
              <a:gd name="adj" fmla="val 16000"/>
            </a:avLst>
          </a:prstGeom>
          <a:solidFill>
            <a:srgbClr val="0A4A31"/>
          </a:solidFill>
          <a:ln/>
        </p:spPr>
        <p:txBody>
          <a:bodyPr/>
          <a:lstStyle/>
          <a:p>
            <a:endParaRPr lang="en-US"/>
          </a:p>
        </p:txBody>
      </p:sp>
      <p:sp>
        <p:nvSpPr>
          <p:cNvPr id="18" name="Text 16"/>
          <p:cNvSpPr/>
          <p:nvPr/>
        </p:nvSpPr>
        <p:spPr>
          <a:xfrm>
            <a:off x="8799165" y="3714452"/>
            <a:ext cx="495300"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01</a:t>
            </a:r>
            <a:endParaRPr lang="en-US" sz="1950" dirty="0"/>
          </a:p>
        </p:txBody>
      </p:sp>
      <p:sp>
        <p:nvSpPr>
          <p:cNvPr id="19" name="Text 17"/>
          <p:cNvSpPr/>
          <p:nvPr/>
        </p:nvSpPr>
        <p:spPr>
          <a:xfrm>
            <a:off x="9427815" y="3595390"/>
            <a:ext cx="5051956"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Inter" pitchFamily="34" charset="0"/>
                <a:ea typeface="Inter" pitchFamily="34" charset="-122"/>
                <a:cs typeface="Inter" pitchFamily="34" charset="-120"/>
              </a:rPr>
              <a:t>Clarify</a:t>
            </a:r>
            <a:endParaRPr lang="en-US" sz="2100" dirty="0"/>
          </a:p>
        </p:txBody>
      </p:sp>
      <p:sp>
        <p:nvSpPr>
          <p:cNvPr id="20" name="Text 18"/>
          <p:cNvSpPr/>
          <p:nvPr/>
        </p:nvSpPr>
        <p:spPr>
          <a:xfrm>
            <a:off x="9427815" y="3919240"/>
            <a:ext cx="5051956" cy="285750"/>
          </a:xfrm>
          <a:prstGeom prst="rect">
            <a:avLst/>
          </a:prstGeom>
          <a:noFill/>
          <a:ln/>
        </p:spPr>
        <p:txBody>
          <a:bodyPr wrap="square" lIns="25400" tIns="25400" rIns="25400" bIns="25400" rtlCol="0" anchor="t">
            <a:normAutofit/>
          </a:bodyPr>
          <a:lstStyle/>
          <a:p>
            <a:pPr marL="0" indent="0" algn="l">
              <a:buNone/>
            </a:pPr>
            <a:r>
              <a:rPr lang="en-US" sz="1650" dirty="0">
                <a:solidFill>
                  <a:srgbClr val="CFE2D8"/>
                </a:solidFill>
                <a:latin typeface="Inter" pitchFamily="34" charset="0"/>
                <a:ea typeface="Inter" pitchFamily="34" charset="-122"/>
                <a:cs typeface="Inter" pitchFamily="34" charset="-120"/>
              </a:rPr>
              <a:t>Agent resolves ambiguity before writing a line.</a:t>
            </a:r>
            <a:endParaRPr lang="en-US" sz="1650" dirty="0"/>
          </a:p>
        </p:txBody>
      </p:sp>
      <p:sp>
        <p:nvSpPr>
          <p:cNvPr id="21" name="Shape 19"/>
          <p:cNvSpPr/>
          <p:nvPr/>
        </p:nvSpPr>
        <p:spPr>
          <a:xfrm>
            <a:off x="8551515" y="4471690"/>
            <a:ext cx="8822085" cy="952500"/>
          </a:xfrm>
          <a:prstGeom prst="roundRect">
            <a:avLst>
              <a:gd name="adj" fmla="val 16000"/>
            </a:avLst>
          </a:prstGeom>
          <a:solidFill>
            <a:srgbClr val="0A4A31"/>
          </a:solidFill>
          <a:ln/>
        </p:spPr>
        <p:txBody>
          <a:bodyPr/>
          <a:lstStyle/>
          <a:p>
            <a:endParaRPr lang="en-US"/>
          </a:p>
        </p:txBody>
      </p:sp>
      <p:sp>
        <p:nvSpPr>
          <p:cNvPr id="22" name="Text 20"/>
          <p:cNvSpPr/>
          <p:nvPr/>
        </p:nvSpPr>
        <p:spPr>
          <a:xfrm>
            <a:off x="8799165" y="4781252"/>
            <a:ext cx="495300"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02</a:t>
            </a:r>
            <a:endParaRPr lang="en-US" sz="1950" dirty="0"/>
          </a:p>
        </p:txBody>
      </p:sp>
      <p:sp>
        <p:nvSpPr>
          <p:cNvPr id="23" name="Text 21"/>
          <p:cNvSpPr/>
          <p:nvPr/>
        </p:nvSpPr>
        <p:spPr>
          <a:xfrm>
            <a:off x="9427815" y="4662190"/>
            <a:ext cx="5202570"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Inter" pitchFamily="34" charset="0"/>
                <a:ea typeface="Inter" pitchFamily="34" charset="-122"/>
                <a:cs typeface="Inter" pitchFamily="34" charset="-120"/>
              </a:rPr>
              <a:t>Plan</a:t>
            </a:r>
            <a:endParaRPr lang="en-US" sz="2100" dirty="0"/>
          </a:p>
        </p:txBody>
      </p:sp>
      <p:sp>
        <p:nvSpPr>
          <p:cNvPr id="24" name="Text 22"/>
          <p:cNvSpPr/>
          <p:nvPr/>
        </p:nvSpPr>
        <p:spPr>
          <a:xfrm>
            <a:off x="9427815" y="4986040"/>
            <a:ext cx="5202570" cy="285750"/>
          </a:xfrm>
          <a:prstGeom prst="rect">
            <a:avLst/>
          </a:prstGeom>
          <a:noFill/>
          <a:ln/>
        </p:spPr>
        <p:txBody>
          <a:bodyPr wrap="square" lIns="25400" tIns="25400" rIns="25400" bIns="25400" rtlCol="0" anchor="t">
            <a:normAutofit/>
          </a:bodyPr>
          <a:lstStyle/>
          <a:p>
            <a:pPr marL="0" indent="0" algn="l">
              <a:buNone/>
            </a:pPr>
            <a:r>
              <a:rPr lang="en-US" sz="1650" dirty="0">
                <a:solidFill>
                  <a:srgbClr val="CFE2D8"/>
                </a:solidFill>
                <a:latin typeface="Inter" pitchFamily="34" charset="0"/>
                <a:ea typeface="Inter" pitchFamily="34" charset="-122"/>
                <a:cs typeface="Inter" pitchFamily="34" charset="-120"/>
              </a:rPr>
              <a:t>A written plan, reviewed before implementation.</a:t>
            </a:r>
            <a:endParaRPr lang="en-US" sz="1650" dirty="0"/>
          </a:p>
        </p:txBody>
      </p:sp>
      <p:sp>
        <p:nvSpPr>
          <p:cNvPr id="25" name="Shape 23"/>
          <p:cNvSpPr/>
          <p:nvPr/>
        </p:nvSpPr>
        <p:spPr>
          <a:xfrm>
            <a:off x="8551515" y="5538490"/>
            <a:ext cx="8822085" cy="952500"/>
          </a:xfrm>
          <a:prstGeom prst="roundRect">
            <a:avLst>
              <a:gd name="adj" fmla="val 16000"/>
            </a:avLst>
          </a:prstGeom>
          <a:solidFill>
            <a:srgbClr val="0A4A31"/>
          </a:solidFill>
          <a:ln/>
        </p:spPr>
        <p:txBody>
          <a:bodyPr/>
          <a:lstStyle/>
          <a:p>
            <a:endParaRPr lang="en-US"/>
          </a:p>
        </p:txBody>
      </p:sp>
      <p:sp>
        <p:nvSpPr>
          <p:cNvPr id="26" name="Text 24"/>
          <p:cNvSpPr/>
          <p:nvPr/>
        </p:nvSpPr>
        <p:spPr>
          <a:xfrm>
            <a:off x="8799165" y="5848052"/>
            <a:ext cx="495300"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03</a:t>
            </a:r>
            <a:endParaRPr lang="en-US" sz="1950" dirty="0"/>
          </a:p>
        </p:txBody>
      </p:sp>
      <p:sp>
        <p:nvSpPr>
          <p:cNvPr id="27" name="Text 25"/>
          <p:cNvSpPr/>
          <p:nvPr/>
        </p:nvSpPr>
        <p:spPr>
          <a:xfrm>
            <a:off x="9427815" y="5728990"/>
            <a:ext cx="3959513"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Inter" pitchFamily="34" charset="0"/>
                <a:ea typeface="Inter" pitchFamily="34" charset="-122"/>
                <a:cs typeface="Inter" pitchFamily="34" charset="-120"/>
              </a:rPr>
              <a:t>Test-driven development</a:t>
            </a:r>
            <a:endParaRPr lang="en-US" sz="2100" dirty="0"/>
          </a:p>
        </p:txBody>
      </p:sp>
      <p:sp>
        <p:nvSpPr>
          <p:cNvPr id="28" name="Text 26"/>
          <p:cNvSpPr/>
          <p:nvPr/>
        </p:nvSpPr>
        <p:spPr>
          <a:xfrm>
            <a:off x="9427815" y="6052840"/>
            <a:ext cx="3959513" cy="285750"/>
          </a:xfrm>
          <a:prstGeom prst="rect">
            <a:avLst/>
          </a:prstGeom>
          <a:noFill/>
          <a:ln/>
        </p:spPr>
        <p:txBody>
          <a:bodyPr wrap="square" lIns="25400" tIns="25400" rIns="25400" bIns="25400" rtlCol="0" anchor="t">
            <a:normAutofit/>
          </a:bodyPr>
          <a:lstStyle/>
          <a:p>
            <a:pPr marL="0" indent="0" algn="l">
              <a:buNone/>
            </a:pPr>
            <a:r>
              <a:rPr lang="en-US" sz="1650" dirty="0">
                <a:solidFill>
                  <a:srgbClr val="CFE2D8"/>
                </a:solidFill>
                <a:latin typeface="Inter" pitchFamily="34" charset="0"/>
                <a:ea typeface="Inter" pitchFamily="34" charset="-122"/>
                <a:cs typeface="Inter" pitchFamily="34" charset="-120"/>
              </a:rPr>
              <a:t>Tests first; code made to pass them.</a:t>
            </a:r>
            <a:endParaRPr lang="en-US" sz="1650" dirty="0"/>
          </a:p>
        </p:txBody>
      </p:sp>
      <p:sp>
        <p:nvSpPr>
          <p:cNvPr id="29" name="Shape 27"/>
          <p:cNvSpPr/>
          <p:nvPr/>
        </p:nvSpPr>
        <p:spPr>
          <a:xfrm>
            <a:off x="8551515" y="6605290"/>
            <a:ext cx="8822085" cy="952500"/>
          </a:xfrm>
          <a:prstGeom prst="roundRect">
            <a:avLst>
              <a:gd name="adj" fmla="val 16000"/>
            </a:avLst>
          </a:prstGeom>
          <a:solidFill>
            <a:srgbClr val="0A4A31"/>
          </a:solidFill>
          <a:ln/>
        </p:spPr>
        <p:txBody>
          <a:bodyPr/>
          <a:lstStyle/>
          <a:p>
            <a:endParaRPr lang="en-US"/>
          </a:p>
        </p:txBody>
      </p:sp>
      <p:sp>
        <p:nvSpPr>
          <p:cNvPr id="30" name="Text 28"/>
          <p:cNvSpPr/>
          <p:nvPr/>
        </p:nvSpPr>
        <p:spPr>
          <a:xfrm>
            <a:off x="8799165" y="6914852"/>
            <a:ext cx="495300"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9EC5B3"/>
                </a:solidFill>
                <a:latin typeface="JetBrains Mono" pitchFamily="34" charset="0"/>
                <a:ea typeface="JetBrains Mono" pitchFamily="34" charset="-122"/>
                <a:cs typeface="JetBrains Mono" pitchFamily="34" charset="-120"/>
              </a:rPr>
              <a:t>04</a:t>
            </a:r>
            <a:endParaRPr lang="en-US" sz="1950" dirty="0"/>
          </a:p>
        </p:txBody>
      </p:sp>
      <p:sp>
        <p:nvSpPr>
          <p:cNvPr id="31" name="Text 29"/>
          <p:cNvSpPr/>
          <p:nvPr/>
        </p:nvSpPr>
        <p:spPr>
          <a:xfrm>
            <a:off x="9427815" y="6795790"/>
            <a:ext cx="4757276"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Inter" pitchFamily="34" charset="0"/>
                <a:ea typeface="Inter" pitchFamily="34" charset="-122"/>
                <a:cs typeface="Inter" pitchFamily="34" charset="-120"/>
              </a:rPr>
              <a:t>Verify</a:t>
            </a:r>
            <a:endParaRPr lang="en-US" sz="2100" dirty="0"/>
          </a:p>
        </p:txBody>
      </p:sp>
      <p:sp>
        <p:nvSpPr>
          <p:cNvPr id="32" name="Text 30"/>
          <p:cNvSpPr/>
          <p:nvPr/>
        </p:nvSpPr>
        <p:spPr>
          <a:xfrm>
            <a:off x="9427815" y="7119640"/>
            <a:ext cx="4757276" cy="285750"/>
          </a:xfrm>
          <a:prstGeom prst="rect">
            <a:avLst/>
          </a:prstGeom>
          <a:noFill/>
          <a:ln/>
        </p:spPr>
        <p:txBody>
          <a:bodyPr wrap="square" lIns="25400" tIns="25400" rIns="25400" bIns="25400" rtlCol="0" anchor="t">
            <a:normAutofit/>
          </a:bodyPr>
          <a:lstStyle/>
          <a:p>
            <a:pPr marL="0" indent="0" algn="l">
              <a:buNone/>
            </a:pPr>
            <a:r>
              <a:rPr lang="en-US" sz="1650" dirty="0">
                <a:solidFill>
                  <a:srgbClr val="CFE2D8"/>
                </a:solidFill>
                <a:latin typeface="Inter" pitchFamily="34" charset="0"/>
                <a:ea typeface="Inter" pitchFamily="34" charset="-122"/>
                <a:cs typeface="Inter" pitchFamily="34" charset="-120"/>
              </a:rPr>
              <a:t>Build &amp; behaviour checked against the plan.</a:t>
            </a:r>
            <a:endParaRPr lang="en-US" sz="1650" dirty="0"/>
          </a:p>
        </p:txBody>
      </p:sp>
      <p:sp>
        <p:nvSpPr>
          <p:cNvPr id="33" name="Shape 31"/>
          <p:cNvSpPr/>
          <p:nvPr/>
        </p:nvSpPr>
        <p:spPr>
          <a:xfrm>
            <a:off x="8551515" y="7672090"/>
            <a:ext cx="8822085" cy="952500"/>
          </a:xfrm>
          <a:prstGeom prst="roundRect">
            <a:avLst>
              <a:gd name="adj" fmla="val 16000"/>
            </a:avLst>
          </a:prstGeom>
          <a:solidFill>
            <a:srgbClr val="9EC5B3"/>
          </a:solidFill>
          <a:ln/>
        </p:spPr>
        <p:txBody>
          <a:bodyPr/>
          <a:lstStyle/>
          <a:p>
            <a:endParaRPr lang="en-US"/>
          </a:p>
        </p:txBody>
      </p:sp>
      <p:sp>
        <p:nvSpPr>
          <p:cNvPr id="34" name="Text 32"/>
          <p:cNvSpPr/>
          <p:nvPr/>
        </p:nvSpPr>
        <p:spPr>
          <a:xfrm>
            <a:off x="8799165" y="7981652"/>
            <a:ext cx="495300" cy="371475"/>
          </a:xfrm>
          <a:prstGeom prst="rect">
            <a:avLst/>
          </a:prstGeom>
          <a:noFill/>
          <a:ln/>
        </p:spPr>
        <p:txBody>
          <a:bodyPr wrap="square" lIns="25400" tIns="25400" rIns="25400" bIns="25400" rtlCol="0" anchor="t">
            <a:normAutofit/>
          </a:bodyPr>
          <a:lstStyle/>
          <a:p>
            <a:pPr marL="0" indent="0" algn="l">
              <a:buNone/>
            </a:pPr>
            <a:r>
              <a:rPr lang="en-US" sz="1950" b="1" dirty="0">
                <a:solidFill>
                  <a:srgbClr val="0A4A31"/>
                </a:solidFill>
                <a:latin typeface="JetBrains Mono" pitchFamily="34" charset="0"/>
                <a:ea typeface="JetBrains Mono" pitchFamily="34" charset="-122"/>
                <a:cs typeface="JetBrains Mono" pitchFamily="34" charset="-120"/>
              </a:rPr>
              <a:t>05</a:t>
            </a:r>
            <a:endParaRPr lang="en-US" sz="1950" dirty="0"/>
          </a:p>
        </p:txBody>
      </p:sp>
      <p:sp>
        <p:nvSpPr>
          <p:cNvPr id="35" name="Text 33"/>
          <p:cNvSpPr/>
          <p:nvPr/>
        </p:nvSpPr>
        <p:spPr>
          <a:xfrm>
            <a:off x="9427815" y="7862590"/>
            <a:ext cx="7406774"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003824"/>
                </a:solidFill>
                <a:latin typeface="Inter" pitchFamily="34" charset="0"/>
                <a:ea typeface="Inter" pitchFamily="34" charset="-122"/>
                <a:cs typeface="Inter" pitchFamily="34" charset="-120"/>
              </a:rPr>
              <a:t>Automated PR review</a:t>
            </a:r>
            <a:endParaRPr lang="en-US" sz="2100" dirty="0"/>
          </a:p>
        </p:txBody>
      </p:sp>
      <p:sp>
        <p:nvSpPr>
          <p:cNvPr id="36" name="Text 34"/>
          <p:cNvSpPr/>
          <p:nvPr/>
        </p:nvSpPr>
        <p:spPr>
          <a:xfrm>
            <a:off x="9427815" y="8186440"/>
            <a:ext cx="7406774" cy="285750"/>
          </a:xfrm>
          <a:prstGeom prst="rect">
            <a:avLst/>
          </a:prstGeom>
          <a:noFill/>
          <a:ln/>
        </p:spPr>
        <p:txBody>
          <a:bodyPr wrap="square" lIns="25400" tIns="25400" rIns="25400" bIns="25400" rtlCol="0" anchor="t">
            <a:normAutofit/>
          </a:bodyPr>
          <a:lstStyle/>
          <a:p>
            <a:pPr marL="0" indent="0" algn="l">
              <a:buNone/>
            </a:pPr>
            <a:r>
              <a:rPr lang="en-US" sz="1650" dirty="0">
                <a:solidFill>
                  <a:srgbClr val="0A3A26"/>
                </a:solidFill>
                <a:latin typeface="Inter" pitchFamily="34" charset="0"/>
                <a:ea typeface="Inter" pitchFamily="34" charset="-122"/>
                <a:cs typeface="Inter" pitchFamily="34" charset="-120"/>
              </a:rPr>
              <a:t>Thorough on NPEs &amp; off-by-one — catches what humans skim past.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400" y="685800"/>
            <a:ext cx="18105120" cy="371475"/>
          </a:xfrm>
          <a:prstGeom prst="rect">
            <a:avLst/>
          </a:prstGeom>
          <a:noFill/>
          <a:ln/>
        </p:spPr>
        <p:txBody>
          <a:bodyPr wrap="square" lIns="25400" tIns="25400" rIns="25400" bIns="25400" rtlCol="0" anchor="t">
            <a:normAutofit/>
          </a:bodyPr>
          <a:lstStyle/>
          <a:p>
            <a:pPr marL="0" indent="0" algn="l">
              <a:buNone/>
            </a:pPr>
            <a:r>
              <a:rPr lang="en-US" sz="1950" kern="0" spc="312" dirty="0">
                <a:solidFill>
                  <a:srgbClr val="006A4D"/>
                </a:solidFill>
                <a:latin typeface="JetBrains Mono" pitchFamily="34" charset="0"/>
                <a:ea typeface="JetBrains Mono" pitchFamily="34" charset="-122"/>
                <a:cs typeface="JetBrains Mono" pitchFamily="34" charset="-120"/>
              </a:rPr>
              <a:t>AI ENGINEERING · 03 / PER-REPO AGENTS.MD</a:t>
            </a:r>
            <a:endParaRPr lang="en-US" sz="1950" dirty="0"/>
          </a:p>
        </p:txBody>
      </p:sp>
      <p:sp>
        <p:nvSpPr>
          <p:cNvPr id="3" name="Shape 1"/>
          <p:cNvSpPr/>
          <p:nvPr/>
        </p:nvSpPr>
        <p:spPr>
          <a:xfrm>
            <a:off x="914400" y="11906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914400" y="1485900"/>
            <a:ext cx="11385277" cy="640407"/>
          </a:xfrm>
          <a:prstGeom prst="rect">
            <a:avLst/>
          </a:prstGeom>
          <a:noFill/>
          <a:ln/>
        </p:spPr>
        <p:txBody>
          <a:bodyPr wrap="square" lIns="25400" tIns="25400" rIns="25400" bIns="25400" rtlCol="0" anchor="t">
            <a:normAutofit/>
          </a:bodyPr>
          <a:lstStyle/>
          <a:p>
            <a:pPr marL="0" indent="0" algn="l">
              <a:lnSpc>
                <a:spcPct val="84320"/>
              </a:lnSpc>
              <a:buNone/>
            </a:pPr>
            <a:r>
              <a:rPr lang="en-US" sz="4650" b="1" kern="0" spc="-93" dirty="0">
                <a:solidFill>
                  <a:srgbClr val="003824"/>
                </a:solidFill>
                <a:latin typeface="Inter" pitchFamily="34" charset="0"/>
                <a:ea typeface="Inter" pitchFamily="34" charset="-122"/>
                <a:cs typeface="Inter" pitchFamily="34" charset="-120"/>
              </a:rPr>
              <a:t>Iron rules, enforced per repository.</a:t>
            </a:r>
            <a:endParaRPr lang="en-US" sz="4650" dirty="0"/>
          </a:p>
        </p:txBody>
      </p:sp>
      <p:sp>
        <p:nvSpPr>
          <p:cNvPr id="5" name="Shape 3"/>
          <p:cNvSpPr/>
          <p:nvPr/>
        </p:nvSpPr>
        <p:spPr>
          <a:xfrm>
            <a:off x="914400" y="2412057"/>
            <a:ext cx="6576417" cy="3499247"/>
          </a:xfrm>
          <a:prstGeom prst="roundRect">
            <a:avLst>
              <a:gd name="adj" fmla="val 5444"/>
            </a:avLst>
          </a:prstGeom>
          <a:solidFill>
            <a:srgbClr val="FBF3EA"/>
          </a:solidFill>
          <a:ln w="9525">
            <a:solidFill>
              <a:srgbClr val="EFDCC6"/>
            </a:solidFill>
            <a:prstDash val="solid"/>
          </a:ln>
        </p:spPr>
        <p:txBody>
          <a:bodyPr/>
          <a:lstStyle/>
          <a:p>
            <a:endParaRPr lang="en-US"/>
          </a:p>
        </p:txBody>
      </p:sp>
      <p:sp>
        <p:nvSpPr>
          <p:cNvPr id="6" name="Shape 4"/>
          <p:cNvSpPr/>
          <p:nvPr/>
        </p:nvSpPr>
        <p:spPr>
          <a:xfrm>
            <a:off x="1247775" y="2707332"/>
            <a:ext cx="1284982" cy="371475"/>
          </a:xfrm>
          <a:prstGeom prst="roundRect">
            <a:avLst>
              <a:gd name="adj" fmla="val 50000"/>
            </a:avLst>
          </a:prstGeom>
          <a:solidFill>
            <a:srgbClr val="F4E2CF"/>
          </a:solidFill>
          <a:ln/>
        </p:spPr>
        <p:txBody>
          <a:bodyPr/>
          <a:lstStyle/>
          <a:p>
            <a:endParaRPr lang="en-US"/>
          </a:p>
        </p:txBody>
      </p:sp>
      <p:sp>
        <p:nvSpPr>
          <p:cNvPr id="7" name="Text 5"/>
          <p:cNvSpPr/>
          <p:nvPr/>
        </p:nvSpPr>
        <p:spPr>
          <a:xfrm>
            <a:off x="1400175" y="2764482"/>
            <a:ext cx="1056382" cy="295275"/>
          </a:xfrm>
          <a:prstGeom prst="rect">
            <a:avLst/>
          </a:prstGeom>
          <a:noFill/>
          <a:ln/>
        </p:spPr>
        <p:txBody>
          <a:bodyPr wrap="square" lIns="25400" tIns="25400" rIns="25400" bIns="25400" rtlCol="0" anchor="t">
            <a:normAutofit/>
          </a:bodyPr>
          <a:lstStyle/>
          <a:p>
            <a:pPr marL="0" indent="0" algn="l">
              <a:buNone/>
            </a:pPr>
            <a:r>
              <a:rPr lang="en-US" sz="1575" b="1" kern="0" spc="158" dirty="0">
                <a:solidFill>
                  <a:srgbClr val="B5651D"/>
                </a:solidFill>
                <a:latin typeface="JetBrains Mono" pitchFamily="34" charset="0"/>
                <a:ea typeface="JetBrains Mono" pitchFamily="34" charset="-122"/>
                <a:cs typeface="JetBrains Mono" pitchFamily="34" charset="-120"/>
              </a:rPr>
              <a:t>PROBLEM</a:t>
            </a:r>
            <a:endParaRPr lang="en-US" sz="1575" dirty="0"/>
          </a:p>
        </p:txBody>
      </p:sp>
      <p:sp>
        <p:nvSpPr>
          <p:cNvPr id="8" name="Text 6"/>
          <p:cNvSpPr/>
          <p:nvPr/>
        </p:nvSpPr>
        <p:spPr>
          <a:xfrm>
            <a:off x="1247775" y="3250257"/>
            <a:ext cx="6500634" cy="403771"/>
          </a:xfrm>
          <a:prstGeom prst="rect">
            <a:avLst/>
          </a:prstGeom>
          <a:noFill/>
          <a:ln/>
        </p:spPr>
        <p:txBody>
          <a:bodyPr wrap="square" lIns="25400" tIns="25400" rIns="25400" bIns="25400" rtlCol="0" anchor="t">
            <a:normAutofit/>
          </a:bodyPr>
          <a:lstStyle/>
          <a:p>
            <a:pPr marL="0" indent="0" algn="l">
              <a:lnSpc>
                <a:spcPct val="106667"/>
              </a:lnSpc>
              <a:buNone/>
            </a:pPr>
            <a:r>
              <a:rPr lang="en-US" sz="2250" b="1" dirty="0">
                <a:solidFill>
                  <a:srgbClr val="14201B"/>
                </a:solidFill>
                <a:latin typeface="Inter" pitchFamily="34" charset="0"/>
                <a:ea typeface="Inter" pitchFamily="34" charset="-122"/>
                <a:cs typeface="Inter" pitchFamily="34" charset="-120"/>
              </a:rPr>
              <a:t>Architecture lives in people's heads.</a:t>
            </a:r>
            <a:endParaRPr lang="en-US" sz="2250" dirty="0"/>
          </a:p>
        </p:txBody>
      </p:sp>
      <p:sp>
        <p:nvSpPr>
          <p:cNvPr id="9" name="Text 7"/>
          <p:cNvSpPr/>
          <p:nvPr/>
        </p:nvSpPr>
        <p:spPr>
          <a:xfrm>
            <a:off x="1247775" y="3730228"/>
            <a:ext cx="6086957" cy="1038225"/>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6A5A45"/>
                </a:solidFill>
                <a:latin typeface="Inter" pitchFamily="34" charset="0"/>
                <a:ea typeface="Inter" pitchFamily="34" charset="-122"/>
                <a:cs typeface="Inter" pitchFamily="34" charset="-120"/>
              </a:rPr>
              <a:t>Engineers of every skill level touch each repo, and it's easy to introduce antipatterns when the rules are tribal knowledge.</a:t>
            </a:r>
            <a:endParaRPr lang="en-US" sz="1875" dirty="0"/>
          </a:p>
        </p:txBody>
      </p:sp>
      <p:sp>
        <p:nvSpPr>
          <p:cNvPr id="10" name="Shape 8"/>
          <p:cNvSpPr/>
          <p:nvPr/>
        </p:nvSpPr>
        <p:spPr>
          <a:xfrm>
            <a:off x="914400" y="6120854"/>
            <a:ext cx="6576417" cy="3480346"/>
          </a:xfrm>
          <a:prstGeom prst="roundRect">
            <a:avLst>
              <a:gd name="adj" fmla="val 5474"/>
            </a:avLst>
          </a:prstGeom>
          <a:solidFill>
            <a:srgbClr val="003824"/>
          </a:solidFill>
          <a:ln/>
        </p:spPr>
        <p:txBody>
          <a:bodyPr/>
          <a:lstStyle/>
          <a:p>
            <a:endParaRPr lang="en-US"/>
          </a:p>
        </p:txBody>
      </p:sp>
      <p:sp>
        <p:nvSpPr>
          <p:cNvPr id="11" name="Shape 9"/>
          <p:cNvSpPr/>
          <p:nvPr/>
        </p:nvSpPr>
        <p:spPr>
          <a:xfrm>
            <a:off x="1238250" y="6406604"/>
            <a:ext cx="1425029" cy="371475"/>
          </a:xfrm>
          <a:prstGeom prst="roundRect">
            <a:avLst>
              <a:gd name="adj" fmla="val 50000"/>
            </a:avLst>
          </a:prstGeom>
          <a:solidFill>
            <a:srgbClr val="9EC5B3"/>
          </a:solidFill>
          <a:ln/>
        </p:spPr>
        <p:txBody>
          <a:bodyPr/>
          <a:lstStyle/>
          <a:p>
            <a:endParaRPr lang="en-US"/>
          </a:p>
        </p:txBody>
      </p:sp>
      <p:sp>
        <p:nvSpPr>
          <p:cNvPr id="12" name="Text 10"/>
          <p:cNvSpPr/>
          <p:nvPr/>
        </p:nvSpPr>
        <p:spPr>
          <a:xfrm>
            <a:off x="1390650" y="6463754"/>
            <a:ext cx="1196429" cy="295275"/>
          </a:xfrm>
          <a:prstGeom prst="rect">
            <a:avLst/>
          </a:prstGeom>
          <a:noFill/>
          <a:ln/>
        </p:spPr>
        <p:txBody>
          <a:bodyPr wrap="square" lIns="25400" tIns="25400" rIns="25400" bIns="25400" rtlCol="0" anchor="t">
            <a:normAutofit/>
          </a:bodyPr>
          <a:lstStyle/>
          <a:p>
            <a:pPr marL="0" indent="0" algn="l">
              <a:buNone/>
            </a:pPr>
            <a:r>
              <a:rPr lang="en-US" sz="1575" b="1" kern="0" spc="158" dirty="0">
                <a:solidFill>
                  <a:srgbClr val="003824"/>
                </a:solidFill>
                <a:latin typeface="JetBrains Mono" pitchFamily="34" charset="0"/>
                <a:ea typeface="JetBrains Mono" pitchFamily="34" charset="-122"/>
                <a:cs typeface="JetBrains Mono" pitchFamily="34" charset="-120"/>
              </a:rPr>
              <a:t>SOLUTION</a:t>
            </a:r>
            <a:endParaRPr lang="en-US" sz="1575" dirty="0"/>
          </a:p>
        </p:txBody>
      </p:sp>
      <p:sp>
        <p:nvSpPr>
          <p:cNvPr id="13" name="Text 11"/>
          <p:cNvSpPr/>
          <p:nvPr/>
        </p:nvSpPr>
        <p:spPr>
          <a:xfrm>
            <a:off x="1238250" y="6949529"/>
            <a:ext cx="6521589" cy="403771"/>
          </a:xfrm>
          <a:prstGeom prst="rect">
            <a:avLst/>
          </a:prstGeom>
          <a:noFill/>
          <a:ln/>
        </p:spPr>
        <p:txBody>
          <a:bodyPr wrap="square" lIns="25400" tIns="25400" rIns="25400" bIns="25400" rtlCol="0" anchor="t">
            <a:normAutofit/>
          </a:bodyPr>
          <a:lstStyle/>
          <a:p>
            <a:pPr marL="0" indent="0" algn="l">
              <a:lnSpc>
                <a:spcPct val="106667"/>
              </a:lnSpc>
              <a:buNone/>
            </a:pPr>
            <a:r>
              <a:rPr lang="en-US" sz="2250" b="1" dirty="0">
                <a:solidFill>
                  <a:srgbClr val="FFFFFF"/>
                </a:solidFill>
                <a:latin typeface="Inter" pitchFamily="34" charset="0"/>
                <a:ea typeface="Inter" pitchFamily="34" charset="-122"/>
                <a:cs typeface="Inter" pitchFamily="34" charset="-120"/>
              </a:rPr>
              <a:t>Each repo carries its own rulebook.</a:t>
            </a:r>
            <a:endParaRPr lang="en-US" sz="2250" dirty="0"/>
          </a:p>
        </p:txBody>
      </p:sp>
      <p:sp>
        <p:nvSpPr>
          <p:cNvPr id="14" name="Text 12"/>
          <p:cNvSpPr/>
          <p:nvPr/>
        </p:nvSpPr>
        <p:spPr>
          <a:xfrm>
            <a:off x="1238250" y="7429500"/>
            <a:ext cx="6106579" cy="1038225"/>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CFE2D8"/>
                </a:solidFill>
                <a:latin typeface="Inter" pitchFamily="34" charset="0"/>
                <a:ea typeface="Inter" pitchFamily="34" charset="-122"/>
                <a:cs typeface="Inter" pitchFamily="34" charset="-120"/>
              </a:rPr>
              <a:t>An </a:t>
            </a:r>
            <a:r>
              <a:rPr lang="en-US" sz="1875" dirty="0">
                <a:solidFill>
                  <a:srgbClr val="9EC5B3"/>
                </a:solidFill>
                <a:latin typeface="JetBrains Mono" pitchFamily="34" charset="0"/>
                <a:ea typeface="JetBrains Mono" pitchFamily="34" charset="-122"/>
                <a:cs typeface="JetBrains Mono" pitchFamily="34" charset="-120"/>
              </a:rPr>
              <a:t>AGENTS.md </a:t>
            </a:r>
            <a:r>
              <a:rPr lang="en-US" sz="1875" dirty="0">
                <a:solidFill>
                  <a:srgbClr val="CFE2D8"/>
                </a:solidFill>
                <a:latin typeface="Inter" pitchFamily="34" charset="0"/>
                <a:ea typeface="Inter" pitchFamily="34" charset="-122"/>
                <a:cs typeface="Inter" pitchFamily="34" charset="-120"/>
              </a:rPr>
              <a:t>, pointed to from the Copilot config, encodes the patterns &amp; iron-rules — read before every change.</a:t>
            </a:r>
            <a:endParaRPr lang="en-US" sz="1875" dirty="0"/>
          </a:p>
        </p:txBody>
      </p:sp>
      <p:sp>
        <p:nvSpPr>
          <p:cNvPr id="15" name="Shape 13"/>
          <p:cNvSpPr/>
          <p:nvPr/>
        </p:nvSpPr>
        <p:spPr>
          <a:xfrm>
            <a:off x="7909917" y="2412057"/>
            <a:ext cx="2401193" cy="1190625"/>
          </a:xfrm>
          <a:prstGeom prst="roundRect">
            <a:avLst>
              <a:gd name="adj" fmla="val 12800"/>
            </a:avLst>
          </a:prstGeom>
          <a:solidFill>
            <a:srgbClr val="F3F8F5"/>
          </a:solidFill>
          <a:ln w="9525">
            <a:solidFill>
              <a:srgbClr val="E6F1EC"/>
            </a:solidFill>
            <a:prstDash val="solid"/>
          </a:ln>
        </p:spPr>
        <p:txBody>
          <a:bodyPr/>
          <a:lstStyle/>
          <a:p>
            <a:endParaRPr lang="en-US"/>
          </a:p>
        </p:txBody>
      </p:sp>
      <p:sp>
        <p:nvSpPr>
          <p:cNvPr id="16" name="Text 14"/>
          <p:cNvSpPr/>
          <p:nvPr/>
        </p:nvSpPr>
        <p:spPr>
          <a:xfrm>
            <a:off x="8128992" y="2612082"/>
            <a:ext cx="2159347" cy="257175"/>
          </a:xfrm>
          <a:prstGeom prst="rect">
            <a:avLst/>
          </a:prstGeom>
          <a:noFill/>
          <a:ln/>
        </p:spPr>
        <p:txBody>
          <a:bodyPr wrap="square" lIns="25400" tIns="25400" rIns="25400" bIns="25400" rtlCol="0" anchor="t">
            <a:normAutofit/>
          </a:bodyPr>
          <a:lstStyle/>
          <a:p>
            <a:pPr marL="0" indent="0" algn="l">
              <a:buNone/>
            </a:pPr>
            <a:r>
              <a:rPr lang="en-US" sz="1350" dirty="0">
                <a:solidFill>
                  <a:srgbClr val="006A4D"/>
                </a:solidFill>
                <a:latin typeface="JetBrains Mono" pitchFamily="34" charset="0"/>
                <a:ea typeface="JetBrains Mono" pitchFamily="34" charset="-122"/>
                <a:cs typeface="JetBrains Mono" pitchFamily="34" charset="-120"/>
              </a:rPr>
              <a:t>.github/copilot</a:t>
            </a:r>
            <a:endParaRPr lang="en-US" sz="1350" dirty="0"/>
          </a:p>
        </p:txBody>
      </p:sp>
      <p:sp>
        <p:nvSpPr>
          <p:cNvPr id="17" name="Text 15"/>
          <p:cNvSpPr/>
          <p:nvPr/>
        </p:nvSpPr>
        <p:spPr>
          <a:xfrm>
            <a:off x="8128992" y="2888307"/>
            <a:ext cx="2159347" cy="304800"/>
          </a:xfrm>
          <a:prstGeom prst="rect">
            <a:avLst/>
          </a:prstGeom>
          <a:noFill/>
          <a:ln/>
        </p:spPr>
        <p:txBody>
          <a:bodyPr wrap="square" lIns="25400" tIns="25400" rIns="25400" bIns="25400" rtlCol="0" anchor="t">
            <a:normAutofit/>
          </a:bodyPr>
          <a:lstStyle/>
          <a:p>
            <a:pPr marL="0" indent="0" algn="l">
              <a:buNone/>
            </a:pPr>
            <a:r>
              <a:rPr lang="en-US" sz="1725" b="1" dirty="0">
                <a:solidFill>
                  <a:srgbClr val="14201B"/>
                </a:solidFill>
                <a:latin typeface="Inter" pitchFamily="34" charset="0"/>
                <a:ea typeface="Inter" pitchFamily="34" charset="-122"/>
                <a:cs typeface="Inter" pitchFamily="34" charset="-120"/>
              </a:rPr>
              <a:t>Copilot config</a:t>
            </a:r>
            <a:endParaRPr lang="en-US" sz="1725" dirty="0"/>
          </a:p>
        </p:txBody>
      </p:sp>
      <p:sp>
        <p:nvSpPr>
          <p:cNvPr id="18" name="Text 16"/>
          <p:cNvSpPr/>
          <p:nvPr/>
        </p:nvSpPr>
        <p:spPr>
          <a:xfrm>
            <a:off x="10444460" y="2745432"/>
            <a:ext cx="899220" cy="238125"/>
          </a:xfrm>
          <a:prstGeom prst="rect">
            <a:avLst/>
          </a:prstGeom>
          <a:noFill/>
          <a:ln/>
        </p:spPr>
        <p:txBody>
          <a:bodyPr wrap="square" lIns="25400" tIns="25400" rIns="25400" bIns="25400" rtlCol="0" anchor="t">
            <a:normAutofit/>
          </a:bodyPr>
          <a:lstStyle/>
          <a:p>
            <a:pPr marL="0" indent="0" algn="l">
              <a:buNone/>
            </a:pPr>
            <a:r>
              <a:rPr lang="en-US" sz="1200" dirty="0">
                <a:solidFill>
                  <a:srgbClr val="006A4D"/>
                </a:solidFill>
                <a:latin typeface="JetBrains Mono" pitchFamily="34" charset="0"/>
                <a:ea typeface="JetBrains Mono" pitchFamily="34" charset="-122"/>
                <a:cs typeface="JetBrains Mono" pitchFamily="34" charset="-120"/>
              </a:rPr>
              <a:t>points to</a:t>
            </a:r>
            <a:endParaRPr lang="en-US" sz="1200" dirty="0"/>
          </a:p>
        </p:txBody>
      </p:sp>
      <p:sp>
        <p:nvSpPr>
          <p:cNvPr id="19" name="Text 17"/>
          <p:cNvSpPr/>
          <p:nvPr/>
        </p:nvSpPr>
        <p:spPr>
          <a:xfrm>
            <a:off x="10728275" y="2945457"/>
            <a:ext cx="331440"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006A4D"/>
                </a:solidFill>
                <a:latin typeface="Inter" pitchFamily="34" charset="0"/>
                <a:ea typeface="Inter" pitchFamily="34" charset="-122"/>
                <a:cs typeface="Inter" pitchFamily="34" charset="-120"/>
              </a:rPr>
              <a:t>→</a:t>
            </a:r>
            <a:endParaRPr lang="en-US" sz="2100" dirty="0"/>
          </a:p>
        </p:txBody>
      </p:sp>
      <p:sp>
        <p:nvSpPr>
          <p:cNvPr id="20" name="Shape 18"/>
          <p:cNvSpPr/>
          <p:nvPr/>
        </p:nvSpPr>
        <p:spPr>
          <a:xfrm>
            <a:off x="11400830" y="2412057"/>
            <a:ext cx="2774900" cy="1190625"/>
          </a:xfrm>
          <a:prstGeom prst="roundRect">
            <a:avLst>
              <a:gd name="adj" fmla="val 12800"/>
            </a:avLst>
          </a:prstGeom>
          <a:solidFill>
            <a:srgbClr val="0A1F17"/>
          </a:solidFill>
          <a:ln/>
        </p:spPr>
        <p:txBody>
          <a:bodyPr/>
          <a:lstStyle/>
          <a:p>
            <a:endParaRPr lang="en-US"/>
          </a:p>
        </p:txBody>
      </p:sp>
      <p:sp>
        <p:nvSpPr>
          <p:cNvPr id="21" name="Text 19"/>
          <p:cNvSpPr/>
          <p:nvPr/>
        </p:nvSpPr>
        <p:spPr>
          <a:xfrm>
            <a:off x="11610380" y="2602557"/>
            <a:ext cx="2591380" cy="257175"/>
          </a:xfrm>
          <a:prstGeom prst="rect">
            <a:avLst/>
          </a:prstGeom>
          <a:noFill/>
          <a:ln/>
        </p:spPr>
        <p:txBody>
          <a:bodyPr wrap="square" lIns="25400" tIns="25400" rIns="25400" bIns="25400" rtlCol="0" anchor="t">
            <a:normAutofit/>
          </a:bodyPr>
          <a:lstStyle/>
          <a:p>
            <a:pPr marL="0" indent="0" algn="l">
              <a:buNone/>
            </a:pPr>
            <a:r>
              <a:rPr lang="en-US" sz="1350" dirty="0">
                <a:solidFill>
                  <a:srgbClr val="9EC5B3"/>
                </a:solidFill>
                <a:latin typeface="JetBrains Mono" pitchFamily="34" charset="0"/>
                <a:ea typeface="JetBrains Mono" pitchFamily="34" charset="-122"/>
                <a:cs typeface="JetBrains Mono" pitchFamily="34" charset="-120"/>
              </a:rPr>
              <a:t>./AGENTS.md</a:t>
            </a:r>
            <a:endParaRPr lang="en-US" sz="1350" dirty="0"/>
          </a:p>
        </p:txBody>
      </p:sp>
      <p:sp>
        <p:nvSpPr>
          <p:cNvPr id="22" name="Text 20"/>
          <p:cNvSpPr/>
          <p:nvPr/>
        </p:nvSpPr>
        <p:spPr>
          <a:xfrm>
            <a:off x="11610380" y="2878782"/>
            <a:ext cx="2591380" cy="3048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Inter" pitchFamily="34" charset="0"/>
                <a:ea typeface="Inter" pitchFamily="34" charset="-122"/>
                <a:cs typeface="Inter" pitchFamily="34" charset="-120"/>
              </a:rPr>
              <a:t>Repo rulebook</a:t>
            </a:r>
            <a:endParaRPr lang="en-US" sz="1725" dirty="0"/>
          </a:p>
        </p:txBody>
      </p:sp>
      <p:sp>
        <p:nvSpPr>
          <p:cNvPr id="23" name="Text 21"/>
          <p:cNvSpPr/>
          <p:nvPr/>
        </p:nvSpPr>
        <p:spPr>
          <a:xfrm>
            <a:off x="14309080" y="2745432"/>
            <a:ext cx="624929" cy="238125"/>
          </a:xfrm>
          <a:prstGeom prst="rect">
            <a:avLst/>
          </a:prstGeom>
          <a:noFill/>
          <a:ln/>
        </p:spPr>
        <p:txBody>
          <a:bodyPr wrap="square" lIns="25400" tIns="25400" rIns="25400" bIns="25400" rtlCol="0" anchor="t">
            <a:normAutofit/>
          </a:bodyPr>
          <a:lstStyle/>
          <a:p>
            <a:pPr marL="0" indent="0" algn="l">
              <a:buNone/>
            </a:pPr>
            <a:r>
              <a:rPr lang="en-US" sz="1200" dirty="0">
                <a:solidFill>
                  <a:srgbClr val="006A4D"/>
                </a:solidFill>
                <a:latin typeface="JetBrains Mono" pitchFamily="34" charset="0"/>
                <a:ea typeface="JetBrains Mono" pitchFamily="34" charset="-122"/>
                <a:cs typeface="JetBrains Mono" pitchFamily="34" charset="-120"/>
              </a:rPr>
              <a:t>guides</a:t>
            </a:r>
            <a:endParaRPr lang="en-US" sz="1200" dirty="0"/>
          </a:p>
        </p:txBody>
      </p:sp>
      <p:sp>
        <p:nvSpPr>
          <p:cNvPr id="24" name="Text 22"/>
          <p:cNvSpPr/>
          <p:nvPr/>
        </p:nvSpPr>
        <p:spPr>
          <a:xfrm>
            <a:off x="14455825" y="2945457"/>
            <a:ext cx="331440"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006A4D"/>
                </a:solidFill>
                <a:latin typeface="Inter" pitchFamily="34" charset="0"/>
                <a:ea typeface="Inter" pitchFamily="34" charset="-122"/>
                <a:cs typeface="Inter" pitchFamily="34" charset="-120"/>
              </a:rPr>
              <a:t>→</a:t>
            </a:r>
            <a:endParaRPr lang="en-US" sz="2100" dirty="0"/>
          </a:p>
        </p:txBody>
      </p:sp>
      <p:sp>
        <p:nvSpPr>
          <p:cNvPr id="25" name="Shape 23"/>
          <p:cNvSpPr/>
          <p:nvPr/>
        </p:nvSpPr>
        <p:spPr>
          <a:xfrm>
            <a:off x="14991159" y="2412057"/>
            <a:ext cx="2382292" cy="1190625"/>
          </a:xfrm>
          <a:prstGeom prst="roundRect">
            <a:avLst>
              <a:gd name="adj" fmla="val 12800"/>
            </a:avLst>
          </a:prstGeom>
          <a:solidFill>
            <a:srgbClr val="006A4D"/>
          </a:solidFill>
          <a:ln/>
        </p:spPr>
        <p:txBody>
          <a:bodyPr/>
          <a:lstStyle/>
          <a:p>
            <a:endParaRPr lang="en-US"/>
          </a:p>
        </p:txBody>
      </p:sp>
      <p:sp>
        <p:nvSpPr>
          <p:cNvPr id="26" name="Text 24"/>
          <p:cNvSpPr/>
          <p:nvPr/>
        </p:nvSpPr>
        <p:spPr>
          <a:xfrm>
            <a:off x="15200709" y="2602557"/>
            <a:ext cx="2159511" cy="257175"/>
          </a:xfrm>
          <a:prstGeom prst="rect">
            <a:avLst/>
          </a:prstGeom>
          <a:noFill/>
          <a:ln/>
        </p:spPr>
        <p:txBody>
          <a:bodyPr wrap="square" lIns="25400" tIns="25400" rIns="25400" bIns="25400" rtlCol="0" anchor="t">
            <a:normAutofit/>
          </a:bodyPr>
          <a:lstStyle/>
          <a:p>
            <a:pPr marL="0" indent="0" algn="l">
              <a:buNone/>
            </a:pPr>
            <a:r>
              <a:rPr lang="en-US" sz="1350" dirty="0">
                <a:solidFill>
                  <a:srgbClr val="CBEADD"/>
                </a:solidFill>
                <a:latin typeface="JetBrains Mono" pitchFamily="34" charset="0"/>
                <a:ea typeface="JetBrains Mono" pitchFamily="34" charset="-122"/>
                <a:cs typeface="JetBrains Mono" pitchFamily="34" charset="-120"/>
              </a:rPr>
              <a:t>every edit</a:t>
            </a:r>
            <a:endParaRPr lang="en-US" sz="1350" dirty="0"/>
          </a:p>
        </p:txBody>
      </p:sp>
      <p:sp>
        <p:nvSpPr>
          <p:cNvPr id="27" name="Text 25"/>
          <p:cNvSpPr/>
          <p:nvPr/>
        </p:nvSpPr>
        <p:spPr>
          <a:xfrm>
            <a:off x="15200709" y="2878782"/>
            <a:ext cx="2039392" cy="5715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Inter" pitchFamily="34" charset="0"/>
                <a:ea typeface="Inter" pitchFamily="34" charset="-122"/>
                <a:cs typeface="Inter" pitchFamily="34" charset="-120"/>
              </a:rPr>
              <a:t>On-pattern change</a:t>
            </a:r>
            <a:endParaRPr lang="en-US" sz="1725" dirty="0"/>
          </a:p>
        </p:txBody>
      </p:sp>
      <p:sp>
        <p:nvSpPr>
          <p:cNvPr id="28" name="Shape 26"/>
          <p:cNvSpPr/>
          <p:nvPr/>
        </p:nvSpPr>
        <p:spPr>
          <a:xfrm>
            <a:off x="7909917" y="3755082"/>
            <a:ext cx="9463534" cy="4689425"/>
          </a:xfrm>
          <a:prstGeom prst="roundRect">
            <a:avLst>
              <a:gd name="adj" fmla="val 3656"/>
            </a:avLst>
          </a:prstGeom>
          <a:solidFill>
            <a:srgbClr val="0A1F17"/>
          </a:solidFill>
          <a:ln/>
          <a:effectLst>
            <a:outerShdw blurRad="571500" dist="285750" dir="5400000" algn="bl" rotWithShape="0">
              <a:srgbClr val="000000">
                <a:alpha val="50000"/>
              </a:srgbClr>
            </a:outerShdw>
          </a:effectLst>
        </p:spPr>
        <p:txBody>
          <a:bodyPr/>
          <a:lstStyle/>
          <a:p>
            <a:endParaRPr lang="en-US" dirty="0"/>
          </a:p>
        </p:txBody>
      </p:sp>
      <p:sp>
        <p:nvSpPr>
          <p:cNvPr id="29" name="Shape 27"/>
          <p:cNvSpPr/>
          <p:nvPr/>
        </p:nvSpPr>
        <p:spPr>
          <a:xfrm>
            <a:off x="8195667" y="4078932"/>
            <a:ext cx="95250" cy="95250"/>
          </a:xfrm>
          <a:prstGeom prst="ellipse">
            <a:avLst/>
          </a:prstGeom>
          <a:solidFill>
            <a:srgbClr val="9EC5B3"/>
          </a:solidFill>
          <a:ln/>
        </p:spPr>
        <p:txBody>
          <a:bodyPr/>
          <a:lstStyle/>
          <a:p>
            <a:endParaRPr lang="en-US"/>
          </a:p>
        </p:txBody>
      </p:sp>
      <p:sp>
        <p:nvSpPr>
          <p:cNvPr id="30" name="Text 28"/>
          <p:cNvSpPr/>
          <p:nvPr/>
        </p:nvSpPr>
        <p:spPr>
          <a:xfrm>
            <a:off x="8386167" y="4002732"/>
            <a:ext cx="3677602" cy="285750"/>
          </a:xfrm>
          <a:prstGeom prst="rect">
            <a:avLst/>
          </a:prstGeom>
          <a:noFill/>
          <a:ln/>
        </p:spPr>
        <p:txBody>
          <a:bodyPr wrap="square" lIns="25400" tIns="25400" rIns="25400" bIns="25400" rtlCol="0" anchor="t">
            <a:normAutofit/>
          </a:bodyPr>
          <a:lstStyle/>
          <a:p>
            <a:pPr marL="0" indent="0" algn="l">
              <a:buNone/>
            </a:pPr>
            <a:r>
              <a:rPr lang="en-US" sz="1500" kern="0" spc="75" dirty="0">
                <a:solidFill>
                  <a:srgbClr val="9EC5B3"/>
                </a:solidFill>
                <a:latin typeface="JetBrains Mono" pitchFamily="34" charset="0"/>
                <a:ea typeface="JetBrains Mono" pitchFamily="34" charset="-122"/>
                <a:cs typeface="JetBrains Mono" pitchFamily="34" charset="-120"/>
              </a:rPr>
              <a:t>AGENTS.md · terraform-infra</a:t>
            </a:r>
            <a:endParaRPr lang="en-US" sz="1500" dirty="0"/>
          </a:p>
        </p:txBody>
      </p:sp>
      <p:sp>
        <p:nvSpPr>
          <p:cNvPr id="31" name="Text 29"/>
          <p:cNvSpPr/>
          <p:nvPr/>
        </p:nvSpPr>
        <p:spPr>
          <a:xfrm>
            <a:off x="8195667" y="4402782"/>
            <a:ext cx="9158795" cy="373261"/>
          </a:xfrm>
          <a:prstGeom prst="rect">
            <a:avLst/>
          </a:prstGeom>
          <a:noFill/>
          <a:ln/>
        </p:spPr>
        <p:txBody>
          <a:bodyPr wrap="square" lIns="25400" tIns="25400" rIns="25400" bIns="25400" rtlCol="0" anchor="t">
            <a:normAutofit/>
          </a:bodyPr>
          <a:lstStyle/>
          <a:p>
            <a:pPr marL="0" indent="0" algn="l">
              <a:lnSpc>
                <a:spcPct val="121379"/>
              </a:lnSpc>
              <a:buNone/>
            </a:pPr>
            <a:r>
              <a:rPr lang="en-US" sz="1650" dirty="0">
                <a:solidFill>
                  <a:srgbClr val="6F9684"/>
                </a:solidFill>
                <a:latin typeface="JetBrains Mono" pitchFamily="34" charset="0"/>
                <a:ea typeface="JetBrains Mono" pitchFamily="34" charset="-122"/>
                <a:cs typeface="JetBrains Mono" pitchFamily="34" charset="-120"/>
              </a:rPr>
              <a:t>## Iron rules — never violate</a:t>
            </a:r>
            <a:endParaRPr lang="en-US" sz="1650" dirty="0"/>
          </a:p>
        </p:txBody>
      </p:sp>
      <p:sp>
        <p:nvSpPr>
          <p:cNvPr id="32" name="Text 30"/>
          <p:cNvSpPr/>
          <p:nvPr/>
        </p:nvSpPr>
        <p:spPr>
          <a:xfrm>
            <a:off x="8195667" y="4737943"/>
            <a:ext cx="9158795" cy="373261"/>
          </a:xfrm>
          <a:prstGeom prst="rect">
            <a:avLst/>
          </a:prstGeom>
          <a:noFill/>
          <a:ln/>
        </p:spPr>
        <p:txBody>
          <a:bodyPr wrap="square" lIns="25400" tIns="25400" rIns="25400" bIns="25400" rtlCol="0" anchor="t">
            <a:normAutofit/>
          </a:bodyPr>
          <a:lstStyle/>
          <a:p>
            <a:pPr marL="0" indent="0" algn="l">
              <a:lnSpc>
                <a:spcPct val="121379"/>
              </a:lnSpc>
              <a:buNone/>
            </a:pPr>
            <a:r>
              <a:rPr lang="en-US" sz="1650" dirty="0">
                <a:solidFill>
                  <a:srgbClr val="E8B98A"/>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All state in the remote GCS backend; no local state</a:t>
            </a:r>
            <a:endParaRPr lang="en-US" sz="1650" dirty="0"/>
          </a:p>
        </p:txBody>
      </p:sp>
      <p:sp>
        <p:nvSpPr>
          <p:cNvPr id="33" name="Text 31"/>
          <p:cNvSpPr/>
          <p:nvPr/>
        </p:nvSpPr>
        <p:spPr>
          <a:xfrm>
            <a:off x="8195667" y="5073104"/>
            <a:ext cx="9158795" cy="373261"/>
          </a:xfrm>
          <a:prstGeom prst="rect">
            <a:avLst/>
          </a:prstGeom>
          <a:noFill/>
          <a:ln/>
        </p:spPr>
        <p:txBody>
          <a:bodyPr wrap="square" lIns="25400" tIns="25400" rIns="25400" bIns="25400" rtlCol="0" anchor="t">
            <a:normAutofit/>
          </a:bodyPr>
          <a:lstStyle/>
          <a:p>
            <a:pPr marL="0" indent="0" algn="l">
              <a:lnSpc>
                <a:spcPct val="121379"/>
              </a:lnSpc>
              <a:buNone/>
            </a:pPr>
            <a:r>
              <a:rPr lang="en-US" sz="1650" dirty="0">
                <a:solidFill>
                  <a:srgbClr val="E8B98A"/>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Every resource tagged: team, cost-centre, env</a:t>
            </a:r>
            <a:endParaRPr lang="en-US" sz="1650" dirty="0"/>
          </a:p>
        </p:txBody>
      </p:sp>
      <p:sp>
        <p:nvSpPr>
          <p:cNvPr id="34" name="Text 32"/>
          <p:cNvSpPr/>
          <p:nvPr/>
        </p:nvSpPr>
        <p:spPr>
          <a:xfrm>
            <a:off x="8195667" y="5408265"/>
            <a:ext cx="9158795" cy="373261"/>
          </a:xfrm>
          <a:prstGeom prst="rect">
            <a:avLst/>
          </a:prstGeom>
          <a:noFill/>
          <a:ln/>
        </p:spPr>
        <p:txBody>
          <a:bodyPr wrap="square" lIns="25400" tIns="25400" rIns="25400" bIns="25400" rtlCol="0" anchor="t">
            <a:normAutofit/>
          </a:bodyPr>
          <a:lstStyle/>
          <a:p>
            <a:pPr marL="0" indent="0" algn="l">
              <a:lnSpc>
                <a:spcPct val="121379"/>
              </a:lnSpc>
              <a:buNone/>
            </a:pPr>
            <a:r>
              <a:rPr lang="en-US" sz="1650" dirty="0">
                <a:solidFill>
                  <a:srgbClr val="E8B98A"/>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No public buckets; CMEK on all datasets</a:t>
            </a:r>
            <a:endParaRPr lang="en-US" sz="1650" dirty="0"/>
          </a:p>
        </p:txBody>
      </p:sp>
      <p:sp>
        <p:nvSpPr>
          <p:cNvPr id="35" name="Text 33"/>
          <p:cNvSpPr/>
          <p:nvPr/>
        </p:nvSpPr>
        <p:spPr>
          <a:xfrm>
            <a:off x="8195667" y="5743426"/>
            <a:ext cx="9158795" cy="373261"/>
          </a:xfrm>
          <a:prstGeom prst="rect">
            <a:avLst/>
          </a:prstGeom>
          <a:noFill/>
          <a:ln/>
        </p:spPr>
        <p:txBody>
          <a:bodyPr wrap="square" lIns="25400" tIns="25400" rIns="25400" bIns="25400" rtlCol="0" anchor="t">
            <a:normAutofit/>
          </a:bodyPr>
          <a:lstStyle/>
          <a:p>
            <a:pPr marL="0" indent="0" algn="l">
              <a:lnSpc>
                <a:spcPct val="121379"/>
              </a:lnSpc>
              <a:buNone/>
            </a:pPr>
            <a:r>
              <a:rPr lang="en-US" sz="1650" dirty="0">
                <a:solidFill>
                  <a:srgbClr val="E8B98A"/>
                </a:solidFill>
                <a:latin typeface="JetBrains Mono" pitchFamily="34" charset="0"/>
                <a:ea typeface="JetBrains Mono" pitchFamily="34" charset="-122"/>
                <a:cs typeface="JetBrains Mono" pitchFamily="34" charset="-120"/>
              </a:rPr>
              <a:t>-</a:t>
            </a:r>
            <a:r>
              <a:rPr lang="en-US" sz="1650" dirty="0">
                <a:solidFill>
                  <a:srgbClr val="EAF4EF"/>
                </a:solidFill>
                <a:latin typeface="JetBrains Mono" pitchFamily="34" charset="0"/>
                <a:ea typeface="JetBrains Mono" pitchFamily="34" charset="-122"/>
                <a:cs typeface="JetBrains Mono" pitchFamily="34" charset="-120"/>
              </a:rPr>
              <a:t> Modules only — no top-level resource blocks</a:t>
            </a:r>
            <a:endParaRPr lang="en-US" sz="1650" dirty="0"/>
          </a:p>
        </p:txBody>
      </p:sp>
      <p:sp>
        <p:nvSpPr>
          <p:cNvPr id="36" name="Shape 34"/>
          <p:cNvSpPr/>
          <p:nvPr/>
        </p:nvSpPr>
        <p:spPr>
          <a:xfrm>
            <a:off x="7909917" y="8596908"/>
            <a:ext cx="9463534" cy="1004292"/>
          </a:xfrm>
          <a:prstGeom prst="roundRect">
            <a:avLst>
              <a:gd name="adj" fmla="val 15175"/>
            </a:avLst>
          </a:prstGeom>
          <a:solidFill>
            <a:srgbClr val="9EC5B3"/>
          </a:solidFill>
          <a:ln/>
        </p:spPr>
        <p:txBody>
          <a:bodyPr/>
          <a:lstStyle/>
          <a:p>
            <a:endParaRPr lang="en-US"/>
          </a:p>
        </p:txBody>
      </p:sp>
      <p:sp>
        <p:nvSpPr>
          <p:cNvPr id="37" name="Text 35"/>
          <p:cNvSpPr/>
          <p:nvPr/>
        </p:nvSpPr>
        <p:spPr>
          <a:xfrm>
            <a:off x="8195667" y="8960941"/>
            <a:ext cx="3319239" cy="314325"/>
          </a:xfrm>
          <a:prstGeom prst="rect">
            <a:avLst/>
          </a:prstGeom>
          <a:noFill/>
          <a:ln/>
        </p:spPr>
        <p:txBody>
          <a:bodyPr wrap="none" lIns="25400" tIns="25400" rIns="25400" bIns="25400" rtlCol="0" anchor="t">
            <a:normAutofit/>
          </a:bodyPr>
          <a:lstStyle/>
          <a:p>
            <a:pPr marL="0" indent="0" algn="l">
              <a:buNone/>
            </a:pPr>
            <a:r>
              <a:rPr lang="en-US" sz="1650" b="1" dirty="0">
                <a:solidFill>
                  <a:srgbClr val="003824"/>
                </a:solidFill>
                <a:latin typeface="JetBrains Mono" pitchFamily="34" charset="0"/>
                <a:ea typeface="JetBrains Mono" pitchFamily="34" charset="-122"/>
                <a:cs typeface="JetBrains Mono" pitchFamily="34" charset="-120"/>
              </a:rPr>
              <a:t>Data-product · IaC repos</a:t>
            </a:r>
            <a:endParaRPr lang="en-US" sz="1650" dirty="0"/>
          </a:p>
        </p:txBody>
      </p:sp>
      <p:sp>
        <p:nvSpPr>
          <p:cNvPr id="38" name="Text 36"/>
          <p:cNvSpPr/>
          <p:nvPr/>
        </p:nvSpPr>
        <p:spPr>
          <a:xfrm>
            <a:off x="11460807" y="8806458"/>
            <a:ext cx="5795701" cy="623292"/>
          </a:xfrm>
          <a:prstGeom prst="rect">
            <a:avLst/>
          </a:prstGeom>
          <a:noFill/>
          <a:ln/>
        </p:spPr>
        <p:txBody>
          <a:bodyPr wrap="square" lIns="25400" tIns="25400" rIns="25400" bIns="25400" rtlCol="0" anchor="t">
            <a:normAutofit/>
          </a:bodyPr>
          <a:lstStyle/>
          <a:p>
            <a:pPr marL="0" indent="0" algn="l">
              <a:lnSpc>
                <a:spcPct val="105931"/>
              </a:lnSpc>
              <a:buNone/>
            </a:pPr>
            <a:r>
              <a:rPr lang="en-US" sz="1800" b="1" dirty="0">
                <a:solidFill>
                  <a:srgbClr val="0A3A26"/>
                </a:solidFill>
                <a:latin typeface="Inter" pitchFamily="34" charset="0"/>
                <a:ea typeface="Inter" pitchFamily="34" charset="-122"/>
                <a:cs typeface="Inter" pitchFamily="34" charset="-120"/>
              </a:rPr>
              <a:t>Safer changes for engineers of any level — the resulting Terraform is running in </a:t>
            </a:r>
            <a:r>
              <a:rPr lang="en-US" sz="1800" b="1" dirty="0">
                <a:solidFill>
                  <a:srgbClr val="003824"/>
                </a:solidFill>
                <a:latin typeface="Inter" pitchFamily="34" charset="0"/>
                <a:ea typeface="Inter" pitchFamily="34" charset="-122"/>
                <a:cs typeface="Inter" pitchFamily="34" charset="-120"/>
              </a:rPr>
              <a:t>production</a:t>
            </a:r>
            <a:r>
              <a:rPr lang="en-US" sz="1800" b="1" dirty="0">
                <a:solidFill>
                  <a:srgbClr val="0A3A26"/>
                </a:solidFill>
                <a:latin typeface="Inter" pitchFamily="34" charset="0"/>
                <a:ea typeface="Inter" pitchFamily="34" charset="-122"/>
                <a:cs typeface="Inter" pitchFamily="34" charset="-120"/>
              </a:rPr>
              <a: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784</Words>
  <Application>Microsoft Macintosh PowerPoint</Application>
  <PresentationFormat>Custom</PresentationFormat>
  <Paragraphs>85</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Inter</vt:lpstr>
      <vt:lpstr>JetBrains Mono</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Frost</cp:lastModifiedBy>
  <cp:revision>2</cp:revision>
  <dcterms:created xsi:type="dcterms:W3CDTF">2026-07-17T16:12:05Z</dcterms:created>
  <dcterms:modified xsi:type="dcterms:W3CDTF">2026-07-17T16:13:40Z</dcterms:modified>
</cp:coreProperties>
</file>