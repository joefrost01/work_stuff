
<file path=[Content_Types].xml><?xml version="1.0" encoding="utf-8"?>
<Types xmlns="http://schemas.openxmlformats.org/package/2006/content-types">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80"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69986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We're Platform Engineering, Innovation and AI. We sit across the Trade Execution and Surveillance labs. In the next half hour: what we do, how we work, and how your team can get our help.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one-line version of the team. Everything on the following slides is a version of this: helping you build and ship faster, on cloud and pipelines that are already set up well, with AI tooling that actually works in your repos. Three principles guide how we do it: we prototype early, we reuse and improve the golden paths, and we hand work over cleanly so your team owns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we sit. Commercial Markets platform has two labs we work with: Trade Execution and Surveillance. We're one team serving both, so a pattern we build for one lab is available to the other. We also act as the link out to the central Cloud and AI teams and to the other platform-engineering teams across Markets.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for the rest of the talk. Five areas: building and prototyping, pipelines and quality, cloud, AI-assisted engineering, and connecting and enabling teams. We'll take each in turn, then finish on how to work with us.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Area one. When there's a new idea or pattern to try, we prototype it quickly on the internal developer platform using the golden paths, and deploy it to the cloud so it's real, not a slide. If it works, a feature team takes it over. We also do initial build work for feature teams: repo, pipeline, infrastructure and a first service, so the team starts on solid ground. The golden paths themselves are provided by the central teams; the labs consume them. Our part is helping lab teams onboard to them and keeping up to date as new ones are released.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Area two, pipelines. Many lab pipelines still run on Jenkins and are moving to Harness. We help with that migration: we look at what your pipelines do today, map them onto Harness templates, migrate alongside your team rather than for you, and retire the Jenkins job once the new pipeline is proven. The goal is fewer bespoke pipelines and more shared templates.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migration itself, we help improve what the pipeline does. Three themes. Faster feedback: caching, parallel stages, failing fast. Test automation: your team owns and writes its tests. We help raise automation levels and advise on restructuring tests so more of them can run automatically in the pipeline. And shift-left checks: static analysis, dependency and secret scanning running in the pipeline rather than at the end.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Area three, cloud. We help in three ways. Migration: moving workloads from on-prem to cloud, deciding whether to re-host or re-platform, and planning the cutover. Design: architecture for cloud-based deployments, with FinOps built in from the start: right-sizing, tagging, autoscaling and cost visibility. And troubleshooting advice: we're happy to help diagnose cloud and infrastructure issues and suggest next steps. We don't own support, though. Feature teams still raise their own support tickets, for example with Kyndryl.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Area four, AI-assisted engineering. AI assistants are only as good as the context they get. We prime repos with files like AGENTS.md and copilot-instructions.md, which tell the assistant how the repo builds, tests and is laid out, and what conventions to follow. Alongside the repo, we help each developer install skills plugins such as Superpowers. These are installed for the user, not in the repo, and add structured workflows like planning, test-driven development and review. And we write onboarding guides so new developers are productive with the AI tooling from day one.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AI solutions keep arriving from across the organisation: the Envoy agent framework, the Cortex API, Copilot Studio and others. We bring them into the labs. For each one we test it against real lab use cases, build a reference example, document the pattern, and support the first teams that adopt it. That way your team doesn't have to work it out alone.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work with the business side of each lab to find where AI and ML can help. It runs in four stages: discover with workshops, assess value, feasibility, data and risk, prototype on real data in a fixed timebox, then scale by handing a working pattern to a feature team. On the right are typical areas we look at. It isn't only generative AI: classic machine learning like anomaly detection is often the better fit, particularly in surveillance. One thing to be clear on: we don't do the governance and service introduction work. We're happy to feed in technical guidance, but the feature team drives that process, raises the requests and creates the documentation.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Area five, connecting. We sit between the labs and the central teams. Towards you we bring patterns, support and build help. Towards central Cloud and AI we carry your requirements and escalations, and get early access to what's coming. With the other platform-engineering teams across Markets we agree shared best-practice patterns, so a golden path in our labs looks like one elsewhere in Markets.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run activities that get people building. Hackathons, to try new ideas and AI tooling quickly with business involvement. Spin-up sessions, to get a new team or project from nothing to a working repo and pipeline in days. Office hours, a regular drop-in for pipeline, cloud and AI questions. And show-and-tells, so what one lab builds the other lab sees.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working with us. We work in two modes. Partially embedded: we work alongside your team on an agreed scope and timeline, typically new builds, migrations and prototypes, ending with a handover. To be clear, this is help on agreed pieces of work, not extra capacity for the team backlog. On demand: you bring a question or a problem and we help, from an hour to a few days. Best for troubleshooting, reviews, advice and setting up AI tooling.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an engagement runs. It starts with one or more briefing sessions, usually just meeting invites, where we agree the scope of our contribution and understand the overall picture. We then raise Jiras that reflect the agreed scope and timelines. We complete the stories as agreed, and finish with a handover including any supporting materials. Three things make it go well: a clear outcome, a named owner on your side, and access to the repo.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we're focused on right now. The main build is Bento, a microservices platform on GCP: a collection of loosely related small services. Within Bento we're building the SSI automation app, using the IDP, golden paths, Harness, GCP2 and the Cortex API, so it also exercises most of what we've talked about today. On the AI side, we're rolling out the latest GitHub Copilot plugin for VS Code and JetBrains along with the Superpowers skills plugin, and priming repos so the assistants work well in them.</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reach us. For now, get in touch with Joe Frost, Joe Walder or Ben Arterton. We're building out our Confluence space, which will have more detail on how to engage and work with us.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what we do. Open it up for questions. If you have a prototype idea, a pipeline that needs work, or an AI use case, come and talk to us.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003824">
                  <a:alpha val="100000"/>
                </a:srgbClr>
              </a:gs>
              <a:gs pos="100000">
                <a:srgbClr val="006A4D">
                  <a:alpha val="100000"/>
                </a:srgbClr>
              </a:gs>
            </a:gsLst>
            <a:lin ang="2700000" scaled="0"/>
          </a:gradFill>
          <a:ln/>
        </p:spPr>
        <p:txBody>
          <a:bodyPr/>
          <a:lstStyle/>
          <a:p>
            <a:endParaRPr lang="en-US"/>
          </a:p>
        </p:txBody>
      </p:sp>
      <p:sp>
        <p:nvSpPr>
          <p:cNvPr id="3" name="Text 1"/>
          <p:cNvSpPr/>
          <p:nvPr/>
        </p:nvSpPr>
        <p:spPr>
          <a:xfrm>
            <a:off x="1143000" y="1047750"/>
            <a:ext cx="17602200" cy="390525"/>
          </a:xfrm>
          <a:prstGeom prst="rect">
            <a:avLst/>
          </a:prstGeom>
          <a:noFill/>
          <a:ln/>
        </p:spPr>
        <p:txBody>
          <a:bodyPr wrap="square" lIns="25400" tIns="25400" rIns="25400" bIns="25400" rtlCol="0" anchor="t">
            <a:normAutofit/>
          </a:bodyPr>
          <a:lstStyle/>
          <a:p>
            <a:pPr marL="0" indent="0" algn="l">
              <a:buNone/>
            </a:pPr>
            <a:r>
              <a:rPr lang="en-US" sz="2100" kern="0" spc="378" dirty="0">
                <a:solidFill>
                  <a:srgbClr val="9EC5B3"/>
                </a:solidFill>
                <a:latin typeface="JetBrains Mono" pitchFamily="34" charset="0"/>
                <a:ea typeface="JetBrains Mono" pitchFamily="34" charset="-122"/>
                <a:cs typeface="JetBrains Mono" pitchFamily="34" charset="-120"/>
              </a:rPr>
              <a:t>COMMERCIAL MARKETS PLATFORM</a:t>
            </a:r>
            <a:endParaRPr lang="en-US" sz="2100" dirty="0"/>
          </a:p>
        </p:txBody>
      </p:sp>
      <p:sp>
        <p:nvSpPr>
          <p:cNvPr id="4" name="Text 2"/>
          <p:cNvSpPr/>
          <p:nvPr/>
        </p:nvSpPr>
        <p:spPr>
          <a:xfrm>
            <a:off x="1143000" y="1869579"/>
            <a:ext cx="17602200" cy="461963"/>
          </a:xfrm>
          <a:prstGeom prst="rect">
            <a:avLst/>
          </a:prstGeom>
          <a:noFill/>
          <a:ln/>
        </p:spPr>
        <p:txBody>
          <a:bodyPr wrap="square" lIns="25400" tIns="25400" rIns="25400" bIns="25400" rtlCol="0" anchor="t">
            <a:normAutofit/>
          </a:bodyPr>
          <a:lstStyle/>
          <a:p>
            <a:pPr marL="0" indent="0" algn="l">
              <a:buNone/>
            </a:pPr>
            <a:r>
              <a:rPr lang="en-US" sz="2550" kern="0" spc="357" dirty="0">
                <a:solidFill>
                  <a:srgbClr val="9EC5B3"/>
                </a:solidFill>
                <a:latin typeface="JetBrains Mono" pitchFamily="34" charset="0"/>
                <a:ea typeface="JetBrains Mono" pitchFamily="34" charset="-122"/>
                <a:cs typeface="JetBrains Mono" pitchFamily="34" charset="-120"/>
              </a:rPr>
              <a:t>TRADE EXECUTION &amp; SURVEILLANCE LABS</a:t>
            </a:r>
            <a:endParaRPr lang="en-US" sz="2550" dirty="0"/>
          </a:p>
        </p:txBody>
      </p:sp>
      <p:sp>
        <p:nvSpPr>
          <p:cNvPr id="5" name="Text 3"/>
          <p:cNvSpPr/>
          <p:nvPr/>
        </p:nvSpPr>
        <p:spPr>
          <a:xfrm>
            <a:off x="1143000" y="2636341"/>
            <a:ext cx="14443647" cy="4228133"/>
          </a:xfrm>
          <a:prstGeom prst="rect">
            <a:avLst/>
          </a:prstGeom>
          <a:noFill/>
          <a:ln/>
        </p:spPr>
        <p:txBody>
          <a:bodyPr wrap="square" lIns="25400" tIns="25400" rIns="25400" bIns="25400" rtlCol="0" anchor="t">
            <a:normAutofit/>
          </a:bodyPr>
          <a:lstStyle/>
          <a:p>
            <a:pPr marL="0" indent="0" algn="l">
              <a:lnSpc>
                <a:spcPct val="77793"/>
              </a:lnSpc>
              <a:buNone/>
            </a:pPr>
            <a:r>
              <a:rPr lang="en-US" sz="11700" b="1" kern="0" spc="-409" dirty="0">
                <a:solidFill>
                  <a:srgbClr val="FFFFFF"/>
                </a:solidFill>
                <a:latin typeface="Inter" pitchFamily="34" charset="0"/>
                <a:ea typeface="Inter" pitchFamily="34" charset="-122"/>
                <a:cs typeface="Inter" pitchFamily="34" charset="-120"/>
              </a:rPr>
              <a:t>Platform Engineering, Innovation &amp; AI</a:t>
            </a:r>
            <a:endParaRPr lang="en-US" sz="11700" dirty="0"/>
          </a:p>
        </p:txBody>
      </p:sp>
      <p:sp>
        <p:nvSpPr>
          <p:cNvPr id="6" name="Text 4"/>
          <p:cNvSpPr/>
          <p:nvPr/>
        </p:nvSpPr>
        <p:spPr>
          <a:xfrm>
            <a:off x="1143000" y="7283574"/>
            <a:ext cx="9116026" cy="1171873"/>
          </a:xfrm>
          <a:prstGeom prst="rect">
            <a:avLst/>
          </a:prstGeom>
          <a:noFill/>
          <a:ln/>
        </p:spPr>
        <p:txBody>
          <a:bodyPr wrap="square" lIns="25400" tIns="25400" rIns="25400" bIns="25400" rtlCol="0" anchor="t">
            <a:normAutofit/>
          </a:bodyPr>
          <a:lstStyle/>
          <a:p>
            <a:pPr marL="0" indent="0" algn="l">
              <a:lnSpc>
                <a:spcPct val="102621"/>
              </a:lnSpc>
              <a:buNone/>
            </a:pPr>
            <a:r>
              <a:rPr lang="en-US" sz="3600" dirty="0">
                <a:solidFill>
                  <a:srgbClr val="EAF4EF"/>
                </a:solidFill>
                <a:latin typeface="Inter" pitchFamily="34" charset="0"/>
                <a:ea typeface="Inter" pitchFamily="34" charset="-122"/>
                <a:cs typeface="Inter" pitchFamily="34" charset="-120"/>
              </a:rPr>
              <a:t>What we do, how we work, and how your team can engage us.</a:t>
            </a:r>
            <a:endParaRPr lang="en-US" sz="3600" dirty="0"/>
          </a:p>
        </p:txBody>
      </p:sp>
      <p:sp>
        <p:nvSpPr>
          <p:cNvPr id="7" name="Text 5"/>
          <p:cNvSpPr/>
          <p:nvPr/>
        </p:nvSpPr>
        <p:spPr>
          <a:xfrm>
            <a:off x="1143000" y="8886825"/>
            <a:ext cx="5227863" cy="390525"/>
          </a:xfrm>
          <a:prstGeom prst="rect">
            <a:avLst/>
          </a:prstGeom>
          <a:noFill/>
          <a:ln/>
        </p:spPr>
        <p:txBody>
          <a:bodyPr wrap="square" lIns="25400" tIns="25400" rIns="25400" bIns="25400" rtlCol="0" anchor="t">
            <a:normAutofit/>
          </a:bodyPr>
          <a:lstStyle/>
          <a:p>
            <a:pPr marL="0" indent="0" algn="l">
              <a:buNone/>
            </a:pPr>
            <a:r>
              <a:rPr lang="en-US" sz="2100" kern="0" spc="126" dirty="0">
                <a:solidFill>
                  <a:srgbClr val="9EC5B3"/>
                </a:solidFill>
                <a:latin typeface="JetBrains Mono" pitchFamily="34" charset="0"/>
                <a:ea typeface="JetBrains Mono" pitchFamily="34" charset="-122"/>
                <a:cs typeface="JetBrains Mono" pitchFamily="34" charset="-120"/>
              </a:rPr>
              <a:t>For lab feature &amp; dev teams</a:t>
            </a:r>
            <a:endParaRPr lang="en-US" sz="2100" dirty="0"/>
          </a:p>
        </p:txBody>
      </p:sp>
      <p:sp>
        <p:nvSpPr>
          <p:cNvPr id="8" name="Text 6"/>
          <p:cNvSpPr/>
          <p:nvPr/>
        </p:nvSpPr>
        <p:spPr>
          <a:xfrm>
            <a:off x="16088841" y="8886825"/>
            <a:ext cx="1132359" cy="390525"/>
          </a:xfrm>
          <a:prstGeom prst="rect">
            <a:avLst/>
          </a:prstGeom>
          <a:noFill/>
          <a:ln/>
        </p:spPr>
        <p:txBody>
          <a:bodyPr wrap="square" lIns="25400" tIns="25400" rIns="25400" bIns="25400" rtlCol="0" anchor="t">
            <a:normAutofit/>
          </a:bodyPr>
          <a:lstStyle/>
          <a:p>
            <a:pPr marL="0" indent="0" algn="l">
              <a:buNone/>
            </a:pPr>
            <a:r>
              <a:rPr lang="en-US" sz="2100" kern="0" spc="126" dirty="0">
                <a:solidFill>
                  <a:srgbClr val="9EC5B3"/>
                </a:solidFill>
                <a:latin typeface="JetBrains Mono" pitchFamily="34" charset="0"/>
                <a:ea typeface="JetBrains Mono" pitchFamily="34" charset="-122"/>
                <a:cs typeface="JetBrains Mono" pitchFamily="34" charset="-120"/>
              </a:rPr>
              <a:t>30 min</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3824"/>
        </a:solidFill>
        <a:effectLst/>
      </p:bgPr>
    </p:bg>
    <p:spTree>
      <p:nvGrpSpPr>
        <p:cNvPr id="1" name=""/>
        <p:cNvGrpSpPr/>
        <p:nvPr/>
      </p:nvGrpSpPr>
      <p:grpSpPr>
        <a:xfrm>
          <a:off x="0" y="0"/>
          <a:ext cx="0" cy="0"/>
          <a:chOff x="0" y="0"/>
          <a:chExt cx="0" cy="0"/>
        </a:xfrm>
      </p:grpSpPr>
      <p:sp>
        <p:nvSpPr>
          <p:cNvPr id="2" name="Text 0"/>
          <p:cNvSpPr/>
          <p:nvPr/>
        </p:nvSpPr>
        <p:spPr>
          <a:xfrm>
            <a:off x="1143000" y="2032992"/>
            <a:ext cx="17602200" cy="390525"/>
          </a:xfrm>
          <a:prstGeom prst="rect">
            <a:avLst/>
          </a:prstGeom>
          <a:noFill/>
          <a:ln/>
        </p:spPr>
        <p:txBody>
          <a:bodyPr wrap="square" lIns="25400" tIns="25400" rIns="25400" bIns="25400" rtlCol="0" anchor="t">
            <a:normAutofit/>
          </a:bodyPr>
          <a:lstStyle/>
          <a:p>
            <a:pPr marL="0" indent="0" algn="l">
              <a:buNone/>
            </a:pPr>
            <a:r>
              <a:rPr lang="en-US" sz="2100" kern="0" spc="336" dirty="0">
                <a:solidFill>
                  <a:srgbClr val="9EC5B3"/>
                </a:solidFill>
                <a:latin typeface="JetBrains Mono" pitchFamily="34" charset="0"/>
                <a:ea typeface="JetBrains Mono" pitchFamily="34" charset="-122"/>
                <a:cs typeface="JetBrains Mono" pitchFamily="34" charset="-120"/>
              </a:rPr>
              <a:t>OUR PURPOSE</a:t>
            </a:r>
            <a:endParaRPr lang="en-US" sz="2100" dirty="0"/>
          </a:p>
        </p:txBody>
      </p:sp>
      <p:sp>
        <p:nvSpPr>
          <p:cNvPr id="3" name="Shape 1"/>
          <p:cNvSpPr/>
          <p:nvPr/>
        </p:nvSpPr>
        <p:spPr>
          <a:xfrm>
            <a:off x="1143000" y="2614017"/>
            <a:ext cx="685800" cy="47625"/>
          </a:xfrm>
          <a:prstGeom prst="roundRect">
            <a:avLst>
              <a:gd name="adj" fmla="val 40000"/>
            </a:avLst>
          </a:prstGeom>
          <a:solidFill>
            <a:srgbClr val="9EC5B3"/>
          </a:solidFill>
          <a:ln/>
        </p:spPr>
        <p:txBody>
          <a:bodyPr/>
          <a:lstStyle/>
          <a:p>
            <a:endParaRPr lang="en-US"/>
          </a:p>
        </p:txBody>
      </p:sp>
      <p:sp>
        <p:nvSpPr>
          <p:cNvPr id="4" name="Text 2"/>
          <p:cNvSpPr/>
          <p:nvPr/>
        </p:nvSpPr>
        <p:spPr>
          <a:xfrm>
            <a:off x="1143000" y="3195042"/>
            <a:ext cx="15131472" cy="2753841"/>
          </a:xfrm>
          <a:prstGeom prst="rect">
            <a:avLst/>
          </a:prstGeom>
          <a:noFill/>
          <a:ln/>
        </p:spPr>
        <p:txBody>
          <a:bodyPr wrap="square" lIns="25400" tIns="25400" rIns="25400" bIns="25400" rtlCol="0" anchor="t">
            <a:normAutofit/>
          </a:bodyPr>
          <a:lstStyle/>
          <a:p>
            <a:pPr marL="0" indent="0" algn="l">
              <a:lnSpc>
                <a:spcPct val="89239"/>
              </a:lnSpc>
              <a:buNone/>
            </a:pPr>
            <a:r>
              <a:rPr lang="en-US" sz="6600" b="1" kern="0" spc="-165" dirty="0">
                <a:solidFill>
                  <a:srgbClr val="FFFFFF"/>
                </a:solidFill>
                <a:latin typeface="Inter" pitchFamily="34" charset="0"/>
                <a:ea typeface="Inter" pitchFamily="34" charset="-122"/>
                <a:cs typeface="Inter" pitchFamily="34" charset="-120"/>
              </a:rPr>
              <a:t>We help lab teams build, ship and run software faster, and put AI to work along the way.</a:t>
            </a:r>
            <a:endParaRPr lang="en-US" sz="6600" dirty="0"/>
          </a:p>
        </p:txBody>
      </p:sp>
      <p:sp>
        <p:nvSpPr>
          <p:cNvPr id="5" name="Shape 3"/>
          <p:cNvSpPr/>
          <p:nvPr/>
        </p:nvSpPr>
        <p:spPr>
          <a:xfrm>
            <a:off x="1143000" y="6748983"/>
            <a:ext cx="5181600" cy="1504950"/>
          </a:xfrm>
          <a:prstGeom prst="roundRect">
            <a:avLst>
              <a:gd name="adj" fmla="val 11392"/>
            </a:avLst>
          </a:prstGeom>
          <a:solidFill>
            <a:srgbClr val="0A4A31"/>
          </a:solidFill>
          <a:ln/>
        </p:spPr>
        <p:txBody>
          <a:bodyPr/>
          <a:lstStyle/>
          <a:p>
            <a:endParaRPr lang="en-US"/>
          </a:p>
        </p:txBody>
      </p:sp>
      <p:sp>
        <p:nvSpPr>
          <p:cNvPr id="6" name="Text 4"/>
          <p:cNvSpPr/>
          <p:nvPr/>
        </p:nvSpPr>
        <p:spPr>
          <a:xfrm>
            <a:off x="1504950" y="7072833"/>
            <a:ext cx="4903470" cy="366713"/>
          </a:xfrm>
          <a:prstGeom prst="rect">
            <a:avLst/>
          </a:prstGeom>
          <a:noFill/>
          <a:ln/>
        </p:spPr>
        <p:txBody>
          <a:bodyPr wrap="square" lIns="25400" tIns="25400" rIns="25400" bIns="25400" rtlCol="0" anchor="t">
            <a:normAutofit/>
          </a:bodyPr>
          <a:lstStyle/>
          <a:p>
            <a:pPr marL="0" indent="0" algn="l">
              <a:buNone/>
            </a:pPr>
            <a:r>
              <a:rPr lang="en-US" sz="1950" dirty="0">
                <a:solidFill>
                  <a:srgbClr val="9EC5B3"/>
                </a:solidFill>
                <a:latin typeface="JetBrains Mono" pitchFamily="34" charset="0"/>
                <a:ea typeface="JetBrains Mono" pitchFamily="34" charset="-122"/>
                <a:cs typeface="JetBrains Mono" pitchFamily="34" charset="-120"/>
              </a:rPr>
              <a:t>01</a:t>
            </a:r>
            <a:endParaRPr lang="en-US" sz="1950" dirty="0"/>
          </a:p>
        </p:txBody>
      </p:sp>
      <p:sp>
        <p:nvSpPr>
          <p:cNvPr id="7" name="Text 5"/>
          <p:cNvSpPr/>
          <p:nvPr/>
        </p:nvSpPr>
        <p:spPr>
          <a:xfrm>
            <a:off x="1504950" y="7515746"/>
            <a:ext cx="4903470" cy="452438"/>
          </a:xfrm>
          <a:prstGeom prst="rect">
            <a:avLst/>
          </a:prstGeom>
          <a:noFill/>
          <a:ln/>
        </p:spPr>
        <p:txBody>
          <a:bodyPr wrap="square" lIns="25400" tIns="25400" rIns="25400" bIns="25400" rtlCol="0" anchor="t">
            <a:normAutofit/>
          </a:bodyPr>
          <a:lstStyle/>
          <a:p>
            <a:pPr marL="0" indent="0" algn="l">
              <a:buNone/>
            </a:pPr>
            <a:r>
              <a:rPr lang="en-US" sz="2700" b="1" dirty="0">
                <a:solidFill>
                  <a:srgbClr val="FFFFFF"/>
                </a:solidFill>
                <a:latin typeface="Inter" pitchFamily="34" charset="0"/>
                <a:ea typeface="Inter" pitchFamily="34" charset="-122"/>
                <a:cs typeface="Inter" pitchFamily="34" charset="-120"/>
              </a:rPr>
              <a:t>Prototype early</a:t>
            </a:r>
            <a:endParaRPr lang="en-US" sz="2700" dirty="0"/>
          </a:p>
        </p:txBody>
      </p:sp>
      <p:sp>
        <p:nvSpPr>
          <p:cNvPr id="8" name="Shape 6"/>
          <p:cNvSpPr/>
          <p:nvPr/>
        </p:nvSpPr>
        <p:spPr>
          <a:xfrm>
            <a:off x="6553200" y="6748983"/>
            <a:ext cx="5181600" cy="1504950"/>
          </a:xfrm>
          <a:prstGeom prst="roundRect">
            <a:avLst>
              <a:gd name="adj" fmla="val 11392"/>
            </a:avLst>
          </a:prstGeom>
          <a:solidFill>
            <a:srgbClr val="0A4A31"/>
          </a:solidFill>
          <a:ln/>
        </p:spPr>
        <p:txBody>
          <a:bodyPr/>
          <a:lstStyle/>
          <a:p>
            <a:endParaRPr lang="en-US"/>
          </a:p>
        </p:txBody>
      </p:sp>
      <p:sp>
        <p:nvSpPr>
          <p:cNvPr id="9" name="Text 7"/>
          <p:cNvSpPr/>
          <p:nvPr/>
        </p:nvSpPr>
        <p:spPr>
          <a:xfrm>
            <a:off x="6915150" y="7072833"/>
            <a:ext cx="4903470" cy="366713"/>
          </a:xfrm>
          <a:prstGeom prst="rect">
            <a:avLst/>
          </a:prstGeom>
          <a:noFill/>
          <a:ln/>
        </p:spPr>
        <p:txBody>
          <a:bodyPr wrap="square" lIns="25400" tIns="25400" rIns="25400" bIns="25400" rtlCol="0" anchor="t">
            <a:normAutofit/>
          </a:bodyPr>
          <a:lstStyle/>
          <a:p>
            <a:pPr marL="0" indent="0" algn="l">
              <a:buNone/>
            </a:pPr>
            <a:r>
              <a:rPr lang="en-US" sz="1950" dirty="0">
                <a:solidFill>
                  <a:srgbClr val="9EC5B3"/>
                </a:solidFill>
                <a:latin typeface="JetBrains Mono" pitchFamily="34" charset="0"/>
                <a:ea typeface="JetBrains Mono" pitchFamily="34" charset="-122"/>
                <a:cs typeface="JetBrains Mono" pitchFamily="34" charset="-120"/>
              </a:rPr>
              <a:t>02</a:t>
            </a:r>
            <a:endParaRPr lang="en-US" sz="1950" dirty="0"/>
          </a:p>
        </p:txBody>
      </p:sp>
      <p:sp>
        <p:nvSpPr>
          <p:cNvPr id="10" name="Text 8"/>
          <p:cNvSpPr/>
          <p:nvPr/>
        </p:nvSpPr>
        <p:spPr>
          <a:xfrm>
            <a:off x="6915150" y="7515746"/>
            <a:ext cx="4903470" cy="452438"/>
          </a:xfrm>
          <a:prstGeom prst="rect">
            <a:avLst/>
          </a:prstGeom>
          <a:noFill/>
          <a:ln/>
        </p:spPr>
        <p:txBody>
          <a:bodyPr wrap="square" lIns="25400" tIns="25400" rIns="25400" bIns="25400" rtlCol="0" anchor="t">
            <a:normAutofit/>
          </a:bodyPr>
          <a:lstStyle/>
          <a:p>
            <a:pPr marL="0" indent="0" algn="l">
              <a:buNone/>
            </a:pPr>
            <a:r>
              <a:rPr lang="en-US" sz="2700" b="1" dirty="0">
                <a:solidFill>
                  <a:srgbClr val="FFFFFF"/>
                </a:solidFill>
                <a:latin typeface="Inter" pitchFamily="34" charset="0"/>
                <a:ea typeface="Inter" pitchFamily="34" charset="-122"/>
                <a:cs typeface="Inter" pitchFamily="34" charset="-120"/>
              </a:rPr>
              <a:t>Reuse the golden paths</a:t>
            </a:r>
            <a:endParaRPr lang="en-US" sz="2700" dirty="0"/>
          </a:p>
        </p:txBody>
      </p:sp>
      <p:sp>
        <p:nvSpPr>
          <p:cNvPr id="11" name="Shape 9"/>
          <p:cNvSpPr/>
          <p:nvPr/>
        </p:nvSpPr>
        <p:spPr>
          <a:xfrm>
            <a:off x="11963400" y="6748983"/>
            <a:ext cx="5181600" cy="1504950"/>
          </a:xfrm>
          <a:prstGeom prst="roundRect">
            <a:avLst>
              <a:gd name="adj" fmla="val 11392"/>
            </a:avLst>
          </a:prstGeom>
          <a:solidFill>
            <a:srgbClr val="9EC5B3"/>
          </a:solidFill>
          <a:ln/>
        </p:spPr>
        <p:txBody>
          <a:bodyPr/>
          <a:lstStyle/>
          <a:p>
            <a:endParaRPr lang="en-US"/>
          </a:p>
        </p:txBody>
      </p:sp>
      <p:sp>
        <p:nvSpPr>
          <p:cNvPr id="12" name="Text 10"/>
          <p:cNvSpPr/>
          <p:nvPr/>
        </p:nvSpPr>
        <p:spPr>
          <a:xfrm>
            <a:off x="12325350" y="7072833"/>
            <a:ext cx="4903470" cy="366713"/>
          </a:xfrm>
          <a:prstGeom prst="rect">
            <a:avLst/>
          </a:prstGeom>
          <a:noFill/>
          <a:ln/>
        </p:spPr>
        <p:txBody>
          <a:bodyPr wrap="square" lIns="25400" tIns="25400" rIns="25400" bIns="25400" rtlCol="0" anchor="t">
            <a:normAutofit/>
          </a:bodyPr>
          <a:lstStyle/>
          <a:p>
            <a:pPr marL="0" indent="0" algn="l">
              <a:buNone/>
            </a:pPr>
            <a:r>
              <a:rPr lang="en-US" sz="1950" dirty="0">
                <a:solidFill>
                  <a:srgbClr val="0A4A31"/>
                </a:solidFill>
                <a:latin typeface="JetBrains Mono" pitchFamily="34" charset="0"/>
                <a:ea typeface="JetBrains Mono" pitchFamily="34" charset="-122"/>
                <a:cs typeface="JetBrains Mono" pitchFamily="34" charset="-120"/>
              </a:rPr>
              <a:t>03</a:t>
            </a:r>
            <a:endParaRPr lang="en-US" sz="1950" dirty="0"/>
          </a:p>
        </p:txBody>
      </p:sp>
      <p:sp>
        <p:nvSpPr>
          <p:cNvPr id="13" name="Text 11"/>
          <p:cNvSpPr/>
          <p:nvPr/>
        </p:nvSpPr>
        <p:spPr>
          <a:xfrm>
            <a:off x="12325350" y="7515746"/>
            <a:ext cx="4903470" cy="452438"/>
          </a:xfrm>
          <a:prstGeom prst="rect">
            <a:avLst/>
          </a:prstGeom>
          <a:noFill/>
          <a:ln/>
        </p:spPr>
        <p:txBody>
          <a:bodyPr wrap="square" lIns="25400" tIns="25400" rIns="25400" bIns="25400" rtlCol="0" anchor="t">
            <a:normAutofit/>
          </a:bodyPr>
          <a:lstStyle/>
          <a:p>
            <a:pPr marL="0" indent="0" algn="l">
              <a:buNone/>
            </a:pPr>
            <a:r>
              <a:rPr lang="en-US" sz="2700" b="1" dirty="0">
                <a:solidFill>
                  <a:srgbClr val="003824"/>
                </a:solidFill>
                <a:latin typeface="Inter" pitchFamily="34" charset="0"/>
                <a:ea typeface="Inter" pitchFamily="34" charset="-122"/>
                <a:cs typeface="Inter" pitchFamily="34" charset="-120"/>
              </a:rPr>
              <a:t>Hand over cleanly</a:t>
            </a:r>
            <a:endParaRPr lang="en-US" sz="2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43000" y="952500"/>
            <a:ext cx="17602200" cy="390525"/>
          </a:xfrm>
          <a:prstGeom prst="rect">
            <a:avLst/>
          </a:prstGeom>
          <a:noFill/>
          <a:ln/>
        </p:spPr>
        <p:txBody>
          <a:bodyPr wrap="square" lIns="25400" tIns="25400" rIns="25400" bIns="25400" rtlCol="0" anchor="t">
            <a:normAutofit/>
          </a:bodyPr>
          <a:lstStyle/>
          <a:p>
            <a:pPr marL="0" indent="0" algn="l">
              <a:buNone/>
            </a:pPr>
            <a:r>
              <a:rPr lang="en-US" sz="2100" kern="0" spc="336" dirty="0">
                <a:solidFill>
                  <a:srgbClr val="006A4D"/>
                </a:solidFill>
                <a:latin typeface="JetBrains Mono" pitchFamily="34" charset="0"/>
                <a:ea typeface="JetBrains Mono" pitchFamily="34" charset="-122"/>
                <a:cs typeface="JetBrains Mono" pitchFamily="34" charset="-120"/>
              </a:rPr>
              <a:t>WHO WE SERVE</a:t>
            </a:r>
            <a:endParaRPr lang="en-US" sz="2100" dirty="0"/>
          </a:p>
        </p:txBody>
      </p:sp>
      <p:sp>
        <p:nvSpPr>
          <p:cNvPr id="3" name="Shape 1"/>
          <p:cNvSpPr/>
          <p:nvPr/>
        </p:nvSpPr>
        <p:spPr>
          <a:xfrm>
            <a:off x="1143000" y="1533525"/>
            <a:ext cx="685800" cy="47625"/>
          </a:xfrm>
          <a:prstGeom prst="roundRect">
            <a:avLst>
              <a:gd name="adj" fmla="val 40000"/>
            </a:avLst>
          </a:prstGeom>
          <a:solidFill>
            <a:srgbClr val="006A4D"/>
          </a:solidFill>
          <a:ln/>
        </p:spPr>
        <p:txBody>
          <a:bodyPr/>
          <a:lstStyle/>
          <a:p>
            <a:endParaRPr lang="en-US"/>
          </a:p>
        </p:txBody>
      </p:sp>
      <p:sp>
        <p:nvSpPr>
          <p:cNvPr id="4" name="Text 2"/>
          <p:cNvSpPr/>
          <p:nvPr/>
        </p:nvSpPr>
        <p:spPr>
          <a:xfrm>
            <a:off x="1143000" y="2000250"/>
            <a:ext cx="16482060" cy="1543794"/>
          </a:xfrm>
          <a:prstGeom prst="rect">
            <a:avLst/>
          </a:prstGeom>
          <a:noFill/>
          <a:ln/>
        </p:spPr>
        <p:txBody>
          <a:bodyPr wrap="square" lIns="25400" tIns="25400" rIns="25400" bIns="25400" rtlCol="0" anchor="t">
            <a:normAutofit/>
          </a:bodyPr>
          <a:lstStyle/>
          <a:p>
            <a:pPr marL="0" indent="0" algn="l">
              <a:lnSpc>
                <a:spcPct val="85913"/>
              </a:lnSpc>
              <a:buNone/>
            </a:pPr>
            <a:r>
              <a:rPr lang="en-US" sz="5700" b="1" kern="0" spc="-114" dirty="0">
                <a:solidFill>
                  <a:srgbClr val="003824"/>
                </a:solidFill>
                <a:latin typeface="Inter" pitchFamily="34" charset="0"/>
                <a:ea typeface="Inter" pitchFamily="34" charset="-122"/>
                <a:cs typeface="Inter" pitchFamily="34" charset="-120"/>
              </a:rPr>
              <a:t>We support two labs on the Commercial Markets platform.</a:t>
            </a:r>
            <a:endParaRPr lang="en-US" sz="5700" dirty="0"/>
          </a:p>
        </p:txBody>
      </p:sp>
      <p:sp>
        <p:nvSpPr>
          <p:cNvPr id="5" name="Shape 3"/>
          <p:cNvSpPr/>
          <p:nvPr/>
        </p:nvSpPr>
        <p:spPr>
          <a:xfrm>
            <a:off x="1143000" y="3963144"/>
            <a:ext cx="16002000" cy="2571750"/>
          </a:xfrm>
          <a:prstGeom prst="roundRect">
            <a:avLst>
              <a:gd name="adj" fmla="val 8148"/>
            </a:avLst>
          </a:prstGeom>
          <a:solidFill>
            <a:srgbClr val="F3F8F5"/>
          </a:solidFill>
          <a:ln w="9525">
            <a:solidFill>
              <a:srgbClr val="E6F1EC"/>
            </a:solidFill>
            <a:prstDash val="solid"/>
          </a:ln>
        </p:spPr>
        <p:txBody>
          <a:bodyPr/>
          <a:lstStyle/>
          <a:p>
            <a:endParaRPr lang="en-US"/>
          </a:p>
        </p:txBody>
      </p:sp>
      <p:sp>
        <p:nvSpPr>
          <p:cNvPr id="6" name="Text 4"/>
          <p:cNvSpPr/>
          <p:nvPr/>
        </p:nvSpPr>
        <p:spPr>
          <a:xfrm>
            <a:off x="1476375" y="4258419"/>
            <a:ext cx="16868775" cy="338138"/>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006A4D"/>
                </a:solidFill>
                <a:latin typeface="JetBrains Mono" pitchFamily="34" charset="0"/>
                <a:ea typeface="JetBrains Mono" pitchFamily="34" charset="-122"/>
                <a:cs typeface="JetBrains Mono" pitchFamily="34" charset="-120"/>
              </a:rPr>
              <a:t>COMMERCIAL MARKETS PLATFORM</a:t>
            </a:r>
            <a:endParaRPr lang="en-US" sz="1800" dirty="0"/>
          </a:p>
        </p:txBody>
      </p:sp>
      <p:sp>
        <p:nvSpPr>
          <p:cNvPr id="7" name="Shape 5"/>
          <p:cNvSpPr/>
          <p:nvPr/>
        </p:nvSpPr>
        <p:spPr>
          <a:xfrm>
            <a:off x="1476375" y="4748957"/>
            <a:ext cx="7572375" cy="1452563"/>
          </a:xfrm>
          <a:prstGeom prst="roundRect">
            <a:avLst>
              <a:gd name="adj" fmla="val 10492"/>
            </a:avLst>
          </a:prstGeom>
          <a:solidFill>
            <a:srgbClr val="FFFFFF"/>
          </a:solidFill>
          <a:ln w="9525">
            <a:solidFill>
              <a:srgbClr val="E6F1EC"/>
            </a:solidFill>
            <a:prstDash val="solid"/>
          </a:ln>
        </p:spPr>
        <p:txBody>
          <a:bodyPr/>
          <a:lstStyle/>
          <a:p>
            <a:endParaRPr lang="en-US"/>
          </a:p>
        </p:txBody>
      </p:sp>
      <p:sp>
        <p:nvSpPr>
          <p:cNvPr id="8" name="Text 6"/>
          <p:cNvSpPr/>
          <p:nvPr/>
        </p:nvSpPr>
        <p:spPr>
          <a:xfrm>
            <a:off x="1809750" y="5044232"/>
            <a:ext cx="7596187" cy="500063"/>
          </a:xfrm>
          <a:prstGeom prst="rect">
            <a:avLst/>
          </a:prstGeom>
          <a:noFill/>
          <a:ln/>
        </p:spPr>
        <p:txBody>
          <a:bodyPr wrap="square" lIns="25400" tIns="25400" rIns="25400" bIns="25400" rtlCol="0" anchor="t">
            <a:normAutofit/>
          </a:bodyPr>
          <a:lstStyle/>
          <a:p>
            <a:pPr marL="0" indent="0" algn="l">
              <a:buNone/>
            </a:pPr>
            <a:r>
              <a:rPr lang="en-US" sz="3000" b="1" dirty="0">
                <a:solidFill>
                  <a:srgbClr val="003824"/>
                </a:solidFill>
                <a:latin typeface="Inter" pitchFamily="34" charset="0"/>
                <a:ea typeface="Inter" pitchFamily="34" charset="-122"/>
                <a:cs typeface="Inter" pitchFamily="34" charset="-120"/>
              </a:rPr>
              <a:t>Trade Execution lab</a:t>
            </a:r>
            <a:endParaRPr lang="en-US" sz="3000" dirty="0"/>
          </a:p>
        </p:txBody>
      </p:sp>
      <p:sp>
        <p:nvSpPr>
          <p:cNvPr id="9" name="Text 7"/>
          <p:cNvSpPr/>
          <p:nvPr/>
        </p:nvSpPr>
        <p:spPr>
          <a:xfrm>
            <a:off x="1809750" y="5582394"/>
            <a:ext cx="7596187" cy="361950"/>
          </a:xfrm>
          <a:prstGeom prst="rect">
            <a:avLst/>
          </a:prstGeom>
          <a:noFill/>
          <a:ln/>
        </p:spPr>
        <p:txBody>
          <a:bodyPr wrap="square" lIns="25400" tIns="25400" rIns="25400" bIns="25400" rtlCol="0" anchor="t">
            <a:normAutofit/>
          </a:bodyPr>
          <a:lstStyle/>
          <a:p>
            <a:pPr marL="0" indent="0" algn="l">
              <a:buNone/>
            </a:pPr>
            <a:r>
              <a:rPr lang="en-US" sz="2100" dirty="0">
                <a:solidFill>
                  <a:srgbClr val="3B4A44"/>
                </a:solidFill>
                <a:latin typeface="Inter" pitchFamily="34" charset="0"/>
                <a:ea typeface="Inter" pitchFamily="34" charset="-122"/>
                <a:cs typeface="Inter" pitchFamily="34" charset="-120"/>
              </a:rPr>
              <a:t>Feature teams building execution apps &amp; services</a:t>
            </a:r>
            <a:endParaRPr lang="en-US" sz="2100" dirty="0"/>
          </a:p>
        </p:txBody>
      </p:sp>
      <p:sp>
        <p:nvSpPr>
          <p:cNvPr id="10" name="Shape 8"/>
          <p:cNvSpPr/>
          <p:nvPr/>
        </p:nvSpPr>
        <p:spPr>
          <a:xfrm>
            <a:off x="9239250" y="4748957"/>
            <a:ext cx="7572375" cy="1452563"/>
          </a:xfrm>
          <a:prstGeom prst="roundRect">
            <a:avLst>
              <a:gd name="adj" fmla="val 10492"/>
            </a:avLst>
          </a:prstGeom>
          <a:solidFill>
            <a:srgbClr val="FFFFFF"/>
          </a:solidFill>
          <a:ln w="9525">
            <a:solidFill>
              <a:srgbClr val="E6F1EC"/>
            </a:solidFill>
            <a:prstDash val="solid"/>
          </a:ln>
        </p:spPr>
        <p:txBody>
          <a:bodyPr/>
          <a:lstStyle/>
          <a:p>
            <a:endParaRPr lang="en-US"/>
          </a:p>
        </p:txBody>
      </p:sp>
      <p:sp>
        <p:nvSpPr>
          <p:cNvPr id="11" name="Text 9"/>
          <p:cNvSpPr/>
          <p:nvPr/>
        </p:nvSpPr>
        <p:spPr>
          <a:xfrm>
            <a:off x="9572625" y="5044232"/>
            <a:ext cx="7596187" cy="500063"/>
          </a:xfrm>
          <a:prstGeom prst="rect">
            <a:avLst/>
          </a:prstGeom>
          <a:noFill/>
          <a:ln/>
        </p:spPr>
        <p:txBody>
          <a:bodyPr wrap="square" lIns="25400" tIns="25400" rIns="25400" bIns="25400" rtlCol="0" anchor="t">
            <a:normAutofit/>
          </a:bodyPr>
          <a:lstStyle/>
          <a:p>
            <a:pPr marL="0" indent="0" algn="l">
              <a:buNone/>
            </a:pPr>
            <a:r>
              <a:rPr lang="en-US" sz="3000" b="1" dirty="0">
                <a:solidFill>
                  <a:srgbClr val="003824"/>
                </a:solidFill>
                <a:latin typeface="Inter" pitchFamily="34" charset="0"/>
                <a:ea typeface="Inter" pitchFamily="34" charset="-122"/>
                <a:cs typeface="Inter" pitchFamily="34" charset="-120"/>
              </a:rPr>
              <a:t>Surveillance lab</a:t>
            </a:r>
            <a:endParaRPr lang="en-US" sz="3000" dirty="0"/>
          </a:p>
        </p:txBody>
      </p:sp>
      <p:sp>
        <p:nvSpPr>
          <p:cNvPr id="12" name="Text 10"/>
          <p:cNvSpPr/>
          <p:nvPr/>
        </p:nvSpPr>
        <p:spPr>
          <a:xfrm>
            <a:off x="9572625" y="5582394"/>
            <a:ext cx="7596187" cy="361950"/>
          </a:xfrm>
          <a:prstGeom prst="rect">
            <a:avLst/>
          </a:prstGeom>
          <a:noFill/>
          <a:ln/>
        </p:spPr>
        <p:txBody>
          <a:bodyPr wrap="square" lIns="25400" tIns="25400" rIns="25400" bIns="25400" rtlCol="0" anchor="t">
            <a:normAutofit/>
          </a:bodyPr>
          <a:lstStyle/>
          <a:p>
            <a:pPr marL="0" indent="0" algn="l">
              <a:buNone/>
            </a:pPr>
            <a:r>
              <a:rPr lang="en-US" sz="2100" dirty="0">
                <a:solidFill>
                  <a:srgbClr val="3B4A44"/>
                </a:solidFill>
                <a:latin typeface="Inter" pitchFamily="34" charset="0"/>
                <a:ea typeface="Inter" pitchFamily="34" charset="-122"/>
                <a:cs typeface="Inter" pitchFamily="34" charset="-120"/>
              </a:rPr>
              <a:t>Feature teams building surveillance apps &amp; services</a:t>
            </a:r>
            <a:endParaRPr lang="en-US" sz="2100" dirty="0"/>
          </a:p>
        </p:txBody>
      </p:sp>
      <p:sp>
        <p:nvSpPr>
          <p:cNvPr id="13" name="Shape 11"/>
          <p:cNvSpPr/>
          <p:nvPr/>
        </p:nvSpPr>
        <p:spPr>
          <a:xfrm>
            <a:off x="1143000" y="6725394"/>
            <a:ext cx="16002000" cy="1009650"/>
          </a:xfrm>
          <a:prstGeom prst="roundRect">
            <a:avLst>
              <a:gd name="adj" fmla="val 16981"/>
            </a:avLst>
          </a:prstGeom>
          <a:solidFill>
            <a:srgbClr val="003824"/>
          </a:solidFill>
          <a:ln/>
        </p:spPr>
        <p:txBody>
          <a:bodyPr/>
          <a:lstStyle/>
          <a:p>
            <a:endParaRPr lang="en-US"/>
          </a:p>
        </p:txBody>
      </p:sp>
      <p:sp>
        <p:nvSpPr>
          <p:cNvPr id="14" name="Text 12"/>
          <p:cNvSpPr/>
          <p:nvPr/>
        </p:nvSpPr>
        <p:spPr>
          <a:xfrm>
            <a:off x="1485900" y="7011144"/>
            <a:ext cx="7225955" cy="476250"/>
          </a:xfrm>
          <a:prstGeom prst="rect">
            <a:avLst/>
          </a:prstGeom>
          <a:noFill/>
          <a:ln/>
        </p:spPr>
        <p:txBody>
          <a:bodyPr wrap="square" lIns="25400" tIns="25400" rIns="25400" bIns="25400" rtlCol="0" anchor="t">
            <a:normAutofit/>
          </a:bodyPr>
          <a:lstStyle/>
          <a:p>
            <a:pPr marL="0" indent="0" algn="l">
              <a:buNone/>
            </a:pPr>
            <a:r>
              <a:rPr lang="en-US" sz="2850" b="1" dirty="0">
                <a:solidFill>
                  <a:srgbClr val="FFFFFF"/>
                </a:solidFill>
                <a:latin typeface="Inter" pitchFamily="34" charset="0"/>
                <a:ea typeface="Inter" pitchFamily="34" charset="-122"/>
                <a:cs typeface="Inter" pitchFamily="34" charset="-120"/>
              </a:rPr>
              <a:t>Platform Engineering, Innovation &amp; AI</a:t>
            </a:r>
            <a:endParaRPr lang="en-US" sz="2850" dirty="0"/>
          </a:p>
        </p:txBody>
      </p:sp>
      <p:sp>
        <p:nvSpPr>
          <p:cNvPr id="15" name="Text 13"/>
          <p:cNvSpPr/>
          <p:nvPr/>
        </p:nvSpPr>
        <p:spPr>
          <a:xfrm>
            <a:off x="13830300" y="7065913"/>
            <a:ext cx="3268980" cy="366713"/>
          </a:xfrm>
          <a:prstGeom prst="rect">
            <a:avLst/>
          </a:prstGeom>
          <a:noFill/>
          <a:ln/>
        </p:spPr>
        <p:txBody>
          <a:bodyPr wrap="square" lIns="25400" tIns="25400" rIns="25400" bIns="25400" rtlCol="0" anchor="t">
            <a:normAutofit/>
          </a:bodyPr>
          <a:lstStyle/>
          <a:p>
            <a:pPr marL="0" indent="0" algn="l">
              <a:buNone/>
            </a:pPr>
            <a:r>
              <a:rPr lang="en-US" sz="1950" dirty="0">
                <a:solidFill>
                  <a:srgbClr val="9EC5B3"/>
                </a:solidFill>
                <a:latin typeface="JetBrains Mono" pitchFamily="34" charset="0"/>
                <a:ea typeface="JetBrains Mono" pitchFamily="34" charset="-122"/>
                <a:cs typeface="JetBrains Mono" pitchFamily="34" charset="-120"/>
              </a:rPr>
              <a:t>one team · both labs</a:t>
            </a:r>
            <a:endParaRPr lang="en-US" sz="1950" dirty="0"/>
          </a:p>
        </p:txBody>
      </p:sp>
      <p:sp>
        <p:nvSpPr>
          <p:cNvPr id="16" name="Text 14"/>
          <p:cNvSpPr/>
          <p:nvPr/>
        </p:nvSpPr>
        <p:spPr>
          <a:xfrm>
            <a:off x="1143000" y="8070800"/>
            <a:ext cx="2464341" cy="338138"/>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6F9684"/>
                </a:solidFill>
                <a:latin typeface="JetBrains Mono" pitchFamily="34" charset="0"/>
                <a:ea typeface="JetBrains Mono" pitchFamily="34" charset="-122"/>
                <a:cs typeface="JetBrains Mono" pitchFamily="34" charset="-120"/>
              </a:rPr>
              <a:t>WE LIAISE WITH</a:t>
            </a:r>
            <a:endParaRPr lang="en-US" sz="1800" dirty="0"/>
          </a:p>
        </p:txBody>
      </p:sp>
      <p:sp>
        <p:nvSpPr>
          <p:cNvPr id="17" name="Shape 15"/>
          <p:cNvSpPr/>
          <p:nvPr/>
        </p:nvSpPr>
        <p:spPr>
          <a:xfrm>
            <a:off x="3630960" y="7925544"/>
            <a:ext cx="3047181" cy="590550"/>
          </a:xfrm>
          <a:prstGeom prst="roundRect">
            <a:avLst>
              <a:gd name="adj" fmla="val 50000"/>
            </a:avLst>
          </a:prstGeom>
          <a:ln w="19050">
            <a:solidFill>
              <a:srgbClr val="9EC5B3"/>
            </a:solidFill>
            <a:prstDash val="solid"/>
          </a:ln>
        </p:spPr>
        <p:txBody>
          <a:bodyPr/>
          <a:lstStyle/>
          <a:p>
            <a:endParaRPr lang="en-US"/>
          </a:p>
        </p:txBody>
      </p:sp>
      <p:sp>
        <p:nvSpPr>
          <p:cNvPr id="18" name="Text 16"/>
          <p:cNvSpPr/>
          <p:nvPr/>
        </p:nvSpPr>
        <p:spPr>
          <a:xfrm>
            <a:off x="3916710" y="8058894"/>
            <a:ext cx="2567097" cy="361950"/>
          </a:xfrm>
          <a:prstGeom prst="rect">
            <a:avLst/>
          </a:prstGeom>
          <a:noFill/>
          <a:ln/>
        </p:spPr>
        <p:txBody>
          <a:bodyPr wrap="square" lIns="25400" tIns="25400" rIns="25400" bIns="25400" rtlCol="0" anchor="t">
            <a:normAutofit/>
          </a:bodyPr>
          <a:lstStyle/>
          <a:p>
            <a:pPr marL="0" indent="0" algn="l">
              <a:buNone/>
            </a:pPr>
            <a:r>
              <a:rPr lang="en-US" sz="2100" b="1" dirty="0">
                <a:solidFill>
                  <a:srgbClr val="003824"/>
                </a:solidFill>
                <a:latin typeface="Inter" pitchFamily="34" charset="0"/>
                <a:ea typeface="Inter" pitchFamily="34" charset="-122"/>
                <a:cs typeface="Inter" pitchFamily="34" charset="-120"/>
              </a:rPr>
              <a:t>Central Cloud team</a:t>
            </a:r>
            <a:endParaRPr lang="en-US" sz="2100" dirty="0"/>
          </a:p>
        </p:txBody>
      </p:sp>
      <p:sp>
        <p:nvSpPr>
          <p:cNvPr id="19" name="Shape 17"/>
          <p:cNvSpPr/>
          <p:nvPr/>
        </p:nvSpPr>
        <p:spPr>
          <a:xfrm>
            <a:off x="6849591" y="7925544"/>
            <a:ext cx="2556718" cy="590550"/>
          </a:xfrm>
          <a:prstGeom prst="roundRect">
            <a:avLst>
              <a:gd name="adj" fmla="val 50000"/>
            </a:avLst>
          </a:prstGeom>
          <a:ln w="19050">
            <a:solidFill>
              <a:srgbClr val="9EC5B3"/>
            </a:solidFill>
            <a:prstDash val="solid"/>
          </a:ln>
        </p:spPr>
        <p:txBody>
          <a:bodyPr/>
          <a:lstStyle/>
          <a:p>
            <a:endParaRPr lang="en-US"/>
          </a:p>
        </p:txBody>
      </p:sp>
      <p:sp>
        <p:nvSpPr>
          <p:cNvPr id="20" name="Text 18"/>
          <p:cNvSpPr/>
          <p:nvPr/>
        </p:nvSpPr>
        <p:spPr>
          <a:xfrm>
            <a:off x="7135341" y="8058894"/>
            <a:ext cx="2061920" cy="361950"/>
          </a:xfrm>
          <a:prstGeom prst="rect">
            <a:avLst/>
          </a:prstGeom>
          <a:noFill/>
          <a:ln/>
        </p:spPr>
        <p:txBody>
          <a:bodyPr wrap="square" lIns="25400" tIns="25400" rIns="25400" bIns="25400" rtlCol="0" anchor="t">
            <a:normAutofit/>
          </a:bodyPr>
          <a:lstStyle/>
          <a:p>
            <a:pPr marL="0" indent="0" algn="l">
              <a:buNone/>
            </a:pPr>
            <a:r>
              <a:rPr lang="en-US" sz="2100" b="1" dirty="0">
                <a:solidFill>
                  <a:srgbClr val="003824"/>
                </a:solidFill>
                <a:latin typeface="Inter" pitchFamily="34" charset="0"/>
                <a:ea typeface="Inter" pitchFamily="34" charset="-122"/>
                <a:cs typeface="Inter" pitchFamily="34" charset="-120"/>
              </a:rPr>
              <a:t>Central AI team</a:t>
            </a:r>
            <a:endParaRPr lang="en-US" sz="2100" dirty="0"/>
          </a:p>
        </p:txBody>
      </p:sp>
      <p:sp>
        <p:nvSpPr>
          <p:cNvPr id="21" name="Shape 19"/>
          <p:cNvSpPr/>
          <p:nvPr/>
        </p:nvSpPr>
        <p:spPr>
          <a:xfrm>
            <a:off x="9577760" y="7925544"/>
            <a:ext cx="5300365" cy="590550"/>
          </a:xfrm>
          <a:prstGeom prst="roundRect">
            <a:avLst>
              <a:gd name="adj" fmla="val 50000"/>
            </a:avLst>
          </a:prstGeom>
          <a:ln w="19050">
            <a:solidFill>
              <a:srgbClr val="9EC5B3"/>
            </a:solidFill>
            <a:prstDash val="solid"/>
          </a:ln>
        </p:spPr>
        <p:txBody>
          <a:bodyPr/>
          <a:lstStyle/>
          <a:p>
            <a:endParaRPr lang="en-US"/>
          </a:p>
        </p:txBody>
      </p:sp>
      <p:sp>
        <p:nvSpPr>
          <p:cNvPr id="22" name="Text 20"/>
          <p:cNvSpPr/>
          <p:nvPr/>
        </p:nvSpPr>
        <p:spPr>
          <a:xfrm>
            <a:off x="9863510" y="8058894"/>
            <a:ext cx="4887876" cy="361950"/>
          </a:xfrm>
          <a:prstGeom prst="rect">
            <a:avLst/>
          </a:prstGeom>
          <a:noFill/>
          <a:ln/>
        </p:spPr>
        <p:txBody>
          <a:bodyPr wrap="square" lIns="25400" tIns="25400" rIns="25400" bIns="25400" rtlCol="0" anchor="t">
            <a:normAutofit/>
          </a:bodyPr>
          <a:lstStyle/>
          <a:p>
            <a:pPr marL="0" indent="0" algn="l">
              <a:buNone/>
            </a:pPr>
            <a:r>
              <a:rPr lang="en-US" sz="2100" b="1" dirty="0">
                <a:solidFill>
                  <a:srgbClr val="003824"/>
                </a:solidFill>
                <a:latin typeface="Inter" pitchFamily="34" charset="0"/>
                <a:ea typeface="Inter" pitchFamily="34" charset="-122"/>
                <a:cs typeface="Inter" pitchFamily="34" charset="-120"/>
              </a:rPr>
              <a:t>Markets platform-engineering teams</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43000" y="952500"/>
            <a:ext cx="17602200" cy="390525"/>
          </a:xfrm>
          <a:prstGeom prst="rect">
            <a:avLst/>
          </a:prstGeom>
          <a:noFill/>
          <a:ln/>
        </p:spPr>
        <p:txBody>
          <a:bodyPr wrap="square" lIns="25400" tIns="25400" rIns="25400" bIns="25400" rtlCol="0" anchor="t">
            <a:normAutofit/>
          </a:bodyPr>
          <a:lstStyle/>
          <a:p>
            <a:pPr marL="0" indent="0" algn="l">
              <a:buNone/>
            </a:pPr>
            <a:r>
              <a:rPr lang="en-US" sz="2100" kern="0" spc="336" dirty="0">
                <a:solidFill>
                  <a:srgbClr val="006A4D"/>
                </a:solidFill>
                <a:latin typeface="JetBrains Mono" pitchFamily="34" charset="0"/>
                <a:ea typeface="JetBrains Mono" pitchFamily="34" charset="-122"/>
                <a:cs typeface="JetBrains Mono" pitchFamily="34" charset="-120"/>
              </a:rPr>
              <a:t>WHAT WE DO</a:t>
            </a:r>
            <a:endParaRPr lang="en-US" sz="2100" dirty="0"/>
          </a:p>
        </p:txBody>
      </p:sp>
      <p:sp>
        <p:nvSpPr>
          <p:cNvPr id="3" name="Shape 1"/>
          <p:cNvSpPr/>
          <p:nvPr/>
        </p:nvSpPr>
        <p:spPr>
          <a:xfrm>
            <a:off x="1143000" y="1533525"/>
            <a:ext cx="685800" cy="47625"/>
          </a:xfrm>
          <a:prstGeom prst="roundRect">
            <a:avLst>
              <a:gd name="adj" fmla="val 40000"/>
            </a:avLst>
          </a:prstGeom>
          <a:solidFill>
            <a:srgbClr val="006A4D"/>
          </a:solidFill>
          <a:ln/>
        </p:spPr>
        <p:txBody>
          <a:bodyPr/>
          <a:lstStyle/>
          <a:p>
            <a:endParaRPr lang="en-US"/>
          </a:p>
        </p:txBody>
      </p:sp>
      <p:sp>
        <p:nvSpPr>
          <p:cNvPr id="4" name="Text 2"/>
          <p:cNvSpPr/>
          <p:nvPr/>
        </p:nvSpPr>
        <p:spPr>
          <a:xfrm>
            <a:off x="1143000" y="2000250"/>
            <a:ext cx="17602200" cy="790947"/>
          </a:xfrm>
          <a:prstGeom prst="rect">
            <a:avLst/>
          </a:prstGeom>
          <a:noFill/>
          <a:ln/>
        </p:spPr>
        <p:txBody>
          <a:bodyPr wrap="square" lIns="25400" tIns="25400" rIns="25400" bIns="25400" rtlCol="0" anchor="t">
            <a:normAutofit/>
          </a:bodyPr>
          <a:lstStyle/>
          <a:p>
            <a:pPr marL="0" indent="0" algn="l">
              <a:lnSpc>
                <a:spcPct val="85913"/>
              </a:lnSpc>
              <a:buNone/>
            </a:pPr>
            <a:r>
              <a:rPr lang="en-US" sz="5700" b="1" kern="0" spc="-114" dirty="0">
                <a:solidFill>
                  <a:srgbClr val="003824"/>
                </a:solidFill>
                <a:latin typeface="Inter" pitchFamily="34" charset="0"/>
                <a:ea typeface="Inter" pitchFamily="34" charset="-122"/>
                <a:cs typeface="Inter" pitchFamily="34" charset="-120"/>
              </a:rPr>
              <a:t>Our work falls into five areas.</a:t>
            </a:r>
            <a:endParaRPr lang="en-US" sz="5700" dirty="0"/>
          </a:p>
        </p:txBody>
      </p:sp>
      <p:sp>
        <p:nvSpPr>
          <p:cNvPr id="5" name="Shape 3"/>
          <p:cNvSpPr/>
          <p:nvPr/>
        </p:nvSpPr>
        <p:spPr>
          <a:xfrm>
            <a:off x="1143000" y="3286497"/>
            <a:ext cx="3048000" cy="5334000"/>
          </a:xfrm>
          <a:prstGeom prst="roundRect">
            <a:avLst>
              <a:gd name="adj" fmla="val 6250"/>
            </a:avLst>
          </a:prstGeom>
          <a:solidFill>
            <a:srgbClr val="F3F8F5"/>
          </a:solidFill>
          <a:ln w="9525">
            <a:solidFill>
              <a:srgbClr val="E6F1EC"/>
            </a:solidFill>
            <a:prstDash val="solid"/>
          </a:ln>
        </p:spPr>
        <p:txBody>
          <a:bodyPr/>
          <a:lstStyle/>
          <a:p>
            <a:endParaRPr lang="en-US"/>
          </a:p>
        </p:txBody>
      </p:sp>
      <p:sp>
        <p:nvSpPr>
          <p:cNvPr id="6" name="Text 4"/>
          <p:cNvSpPr/>
          <p:nvPr/>
        </p:nvSpPr>
        <p:spPr>
          <a:xfrm>
            <a:off x="1438275" y="3679403"/>
            <a:ext cx="419100" cy="414338"/>
          </a:xfrm>
          <a:prstGeom prst="rect">
            <a:avLst/>
          </a:prstGeom>
          <a:noFill/>
          <a:ln/>
        </p:spPr>
        <p:txBody>
          <a:bodyPr wrap="square" lIns="25400" tIns="25400" rIns="25400" bIns="25400" rtlCol="0" anchor="t">
            <a:normAutofit/>
          </a:bodyPr>
          <a:lstStyle/>
          <a:p>
            <a:pPr marL="0" indent="0" algn="l">
              <a:buNone/>
            </a:pPr>
            <a:r>
              <a:rPr lang="en-US" sz="2250" b="1" dirty="0">
                <a:solidFill>
                  <a:srgbClr val="9EC5B3"/>
                </a:solidFill>
                <a:latin typeface="JetBrains Mono" pitchFamily="34" charset="0"/>
                <a:ea typeface="JetBrains Mono" pitchFamily="34" charset="-122"/>
                <a:cs typeface="JetBrains Mono" pitchFamily="34" charset="-120"/>
              </a:rPr>
              <a:t>01</a:t>
            </a:r>
            <a:endParaRPr lang="en-US" sz="2250" dirty="0"/>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00425" y="3619872"/>
            <a:ext cx="495300" cy="495300"/>
          </a:xfrm>
          <a:prstGeom prst="rect">
            <a:avLst/>
          </a:prstGeom>
        </p:spPr>
      </p:pic>
      <p:sp>
        <p:nvSpPr>
          <p:cNvPr id="8" name="Text 5"/>
          <p:cNvSpPr/>
          <p:nvPr/>
        </p:nvSpPr>
        <p:spPr>
          <a:xfrm>
            <a:off x="1438275" y="4286622"/>
            <a:ext cx="2533650" cy="800100"/>
          </a:xfrm>
          <a:prstGeom prst="rect">
            <a:avLst/>
          </a:prstGeom>
          <a:noFill/>
          <a:ln/>
        </p:spPr>
        <p:txBody>
          <a:bodyPr wrap="square" lIns="25400" tIns="25400" rIns="25400" bIns="25400" rtlCol="0" anchor="t">
            <a:normAutofit/>
          </a:bodyPr>
          <a:lstStyle/>
          <a:p>
            <a:pPr marL="0" indent="0" algn="l">
              <a:lnSpc>
                <a:spcPct val="91034"/>
              </a:lnSpc>
              <a:buNone/>
            </a:pPr>
            <a:r>
              <a:rPr lang="en-US" sz="2700" b="1" dirty="0">
                <a:solidFill>
                  <a:srgbClr val="003824"/>
                </a:solidFill>
                <a:latin typeface="Inter" pitchFamily="34" charset="0"/>
                <a:ea typeface="Inter" pitchFamily="34" charset="-122"/>
                <a:cs typeface="Inter" pitchFamily="34" charset="-120"/>
              </a:rPr>
              <a:t>Build &amp; prototype</a:t>
            </a:r>
            <a:endParaRPr lang="en-US" sz="2700" dirty="0"/>
          </a:p>
        </p:txBody>
      </p:sp>
      <p:sp>
        <p:nvSpPr>
          <p:cNvPr id="9" name="Shape 6"/>
          <p:cNvSpPr/>
          <p:nvPr/>
        </p:nvSpPr>
        <p:spPr>
          <a:xfrm>
            <a:off x="1438275" y="5220072"/>
            <a:ext cx="2457450" cy="9525"/>
          </a:xfrm>
          <a:prstGeom prst="rect">
            <a:avLst/>
          </a:prstGeom>
          <a:solidFill>
            <a:srgbClr val="D6E6DE"/>
          </a:solidFill>
          <a:ln/>
        </p:spPr>
        <p:txBody>
          <a:bodyPr/>
          <a:lstStyle/>
          <a:p>
            <a:endParaRPr lang="en-US"/>
          </a:p>
        </p:txBody>
      </p:sp>
      <p:sp>
        <p:nvSpPr>
          <p:cNvPr id="10" name="Text 7"/>
          <p:cNvSpPr/>
          <p:nvPr/>
        </p:nvSpPr>
        <p:spPr>
          <a:xfrm>
            <a:off x="1438275" y="5401047"/>
            <a:ext cx="2533650" cy="681930"/>
          </a:xfrm>
          <a:prstGeom prst="rect">
            <a:avLst/>
          </a:prstGeom>
          <a:noFill/>
          <a:ln/>
        </p:spPr>
        <p:txBody>
          <a:bodyPr wrap="square" lIns="25400" tIns="25400" rIns="25400" bIns="25400" rtlCol="0" anchor="t">
            <a:normAutofit/>
          </a:bodyPr>
          <a:lstStyle/>
          <a:p>
            <a:pPr marL="0" indent="0" algn="l">
              <a:lnSpc>
                <a:spcPct val="107302"/>
              </a:lnSpc>
              <a:buNone/>
            </a:pPr>
            <a:r>
              <a:rPr lang="en-US" sz="1950" dirty="0">
                <a:solidFill>
                  <a:srgbClr val="3B4A44"/>
                </a:solidFill>
                <a:latin typeface="Inter" pitchFamily="34" charset="0"/>
                <a:ea typeface="Inter" pitchFamily="34" charset="-122"/>
                <a:cs typeface="Inter" pitchFamily="34" charset="-120"/>
              </a:rPr>
              <a:t>Rapid prototypes on the IDP</a:t>
            </a:r>
            <a:endParaRPr lang="en-US" sz="1950" dirty="0"/>
          </a:p>
        </p:txBody>
      </p:sp>
      <p:sp>
        <p:nvSpPr>
          <p:cNvPr id="11" name="Text 8"/>
          <p:cNvSpPr/>
          <p:nvPr/>
        </p:nvSpPr>
        <p:spPr>
          <a:xfrm>
            <a:off x="1438275" y="6216328"/>
            <a:ext cx="2533650" cy="681930"/>
          </a:xfrm>
          <a:prstGeom prst="rect">
            <a:avLst/>
          </a:prstGeom>
          <a:noFill/>
          <a:ln/>
        </p:spPr>
        <p:txBody>
          <a:bodyPr wrap="square" lIns="25400" tIns="25400" rIns="25400" bIns="25400" rtlCol="0" anchor="t">
            <a:normAutofit/>
          </a:bodyPr>
          <a:lstStyle/>
          <a:p>
            <a:pPr marL="0" indent="0" algn="l">
              <a:lnSpc>
                <a:spcPct val="107302"/>
              </a:lnSpc>
              <a:buNone/>
            </a:pPr>
            <a:r>
              <a:rPr lang="en-US" sz="1950" dirty="0">
                <a:solidFill>
                  <a:srgbClr val="3B4A44"/>
                </a:solidFill>
                <a:latin typeface="Inter" pitchFamily="34" charset="0"/>
                <a:ea typeface="Inter" pitchFamily="34" charset="-122"/>
                <a:cs typeface="Inter" pitchFamily="34" charset="-120"/>
              </a:rPr>
              <a:t>Golden path onboarding</a:t>
            </a:r>
            <a:endParaRPr lang="en-US" sz="1950" dirty="0"/>
          </a:p>
        </p:txBody>
      </p:sp>
      <p:sp>
        <p:nvSpPr>
          <p:cNvPr id="12" name="Text 9"/>
          <p:cNvSpPr/>
          <p:nvPr/>
        </p:nvSpPr>
        <p:spPr>
          <a:xfrm>
            <a:off x="1438275" y="7031608"/>
            <a:ext cx="2533650" cy="681930"/>
          </a:xfrm>
          <a:prstGeom prst="rect">
            <a:avLst/>
          </a:prstGeom>
          <a:noFill/>
          <a:ln/>
        </p:spPr>
        <p:txBody>
          <a:bodyPr wrap="square" lIns="25400" tIns="25400" rIns="25400" bIns="25400" rtlCol="0" anchor="t">
            <a:normAutofit/>
          </a:bodyPr>
          <a:lstStyle/>
          <a:p>
            <a:pPr marL="0" indent="0" algn="l">
              <a:lnSpc>
                <a:spcPct val="107302"/>
              </a:lnSpc>
              <a:buNone/>
            </a:pPr>
            <a:r>
              <a:rPr lang="en-US" sz="1950" dirty="0">
                <a:solidFill>
                  <a:srgbClr val="3B4A44"/>
                </a:solidFill>
                <a:latin typeface="Inter" pitchFamily="34" charset="0"/>
                <a:ea typeface="Inter" pitchFamily="34" charset="-122"/>
                <a:cs typeface="Inter" pitchFamily="34" charset="-120"/>
              </a:rPr>
              <a:t>Initial builds for feature teams</a:t>
            </a:r>
            <a:endParaRPr lang="en-US" sz="1950" dirty="0"/>
          </a:p>
        </p:txBody>
      </p:sp>
      <p:sp>
        <p:nvSpPr>
          <p:cNvPr id="13" name="Shape 10"/>
          <p:cNvSpPr/>
          <p:nvPr/>
        </p:nvSpPr>
        <p:spPr>
          <a:xfrm>
            <a:off x="4381500" y="3286497"/>
            <a:ext cx="3048000" cy="5334000"/>
          </a:xfrm>
          <a:prstGeom prst="roundRect">
            <a:avLst>
              <a:gd name="adj" fmla="val 6250"/>
            </a:avLst>
          </a:prstGeom>
          <a:solidFill>
            <a:srgbClr val="F3F8F5"/>
          </a:solidFill>
          <a:ln w="9525">
            <a:solidFill>
              <a:srgbClr val="E6F1EC"/>
            </a:solidFill>
            <a:prstDash val="solid"/>
          </a:ln>
        </p:spPr>
        <p:txBody>
          <a:bodyPr/>
          <a:lstStyle/>
          <a:p>
            <a:endParaRPr lang="en-US"/>
          </a:p>
        </p:txBody>
      </p:sp>
      <p:sp>
        <p:nvSpPr>
          <p:cNvPr id="14" name="Text 11"/>
          <p:cNvSpPr/>
          <p:nvPr/>
        </p:nvSpPr>
        <p:spPr>
          <a:xfrm>
            <a:off x="4676775" y="3679403"/>
            <a:ext cx="419100" cy="414338"/>
          </a:xfrm>
          <a:prstGeom prst="rect">
            <a:avLst/>
          </a:prstGeom>
          <a:noFill/>
          <a:ln/>
        </p:spPr>
        <p:txBody>
          <a:bodyPr wrap="square" lIns="25400" tIns="25400" rIns="25400" bIns="25400" rtlCol="0" anchor="t">
            <a:normAutofit/>
          </a:bodyPr>
          <a:lstStyle/>
          <a:p>
            <a:pPr marL="0" indent="0" algn="l">
              <a:buNone/>
            </a:pPr>
            <a:r>
              <a:rPr lang="en-US" sz="2250" b="1" dirty="0">
                <a:solidFill>
                  <a:srgbClr val="9EC5B3"/>
                </a:solidFill>
                <a:latin typeface="JetBrains Mono" pitchFamily="34" charset="0"/>
                <a:ea typeface="JetBrains Mono" pitchFamily="34" charset="-122"/>
                <a:cs typeface="JetBrains Mono" pitchFamily="34" charset="-120"/>
              </a:rPr>
              <a:t>02</a:t>
            </a:r>
            <a:endParaRPr lang="en-US" sz="2250" dirty="0"/>
          </a:p>
        </p:txBody>
      </p:sp>
      <p:pic>
        <p:nvPicPr>
          <p:cNvPr id="1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38925" y="3619872"/>
            <a:ext cx="495300" cy="495300"/>
          </a:xfrm>
          <a:prstGeom prst="rect">
            <a:avLst/>
          </a:prstGeom>
        </p:spPr>
      </p:pic>
      <p:sp>
        <p:nvSpPr>
          <p:cNvPr id="16" name="Text 12"/>
          <p:cNvSpPr/>
          <p:nvPr/>
        </p:nvSpPr>
        <p:spPr>
          <a:xfrm>
            <a:off x="4676775" y="4286622"/>
            <a:ext cx="2533650" cy="800100"/>
          </a:xfrm>
          <a:prstGeom prst="rect">
            <a:avLst/>
          </a:prstGeom>
          <a:noFill/>
          <a:ln/>
        </p:spPr>
        <p:txBody>
          <a:bodyPr wrap="square" lIns="25400" tIns="25400" rIns="25400" bIns="25400" rtlCol="0" anchor="t">
            <a:normAutofit/>
          </a:bodyPr>
          <a:lstStyle/>
          <a:p>
            <a:pPr marL="0" indent="0" algn="l">
              <a:lnSpc>
                <a:spcPct val="91034"/>
              </a:lnSpc>
              <a:buNone/>
            </a:pPr>
            <a:r>
              <a:rPr lang="en-US" sz="2700" b="1" dirty="0">
                <a:solidFill>
                  <a:srgbClr val="003824"/>
                </a:solidFill>
                <a:latin typeface="Inter" pitchFamily="34" charset="0"/>
                <a:ea typeface="Inter" pitchFamily="34" charset="-122"/>
                <a:cs typeface="Inter" pitchFamily="34" charset="-120"/>
              </a:rPr>
              <a:t>Pipelines &amp; quality</a:t>
            </a:r>
            <a:endParaRPr lang="en-US" sz="2700" dirty="0"/>
          </a:p>
        </p:txBody>
      </p:sp>
      <p:sp>
        <p:nvSpPr>
          <p:cNvPr id="17" name="Shape 13"/>
          <p:cNvSpPr/>
          <p:nvPr/>
        </p:nvSpPr>
        <p:spPr>
          <a:xfrm>
            <a:off x="4676775" y="5220072"/>
            <a:ext cx="2457450" cy="9525"/>
          </a:xfrm>
          <a:prstGeom prst="rect">
            <a:avLst/>
          </a:prstGeom>
          <a:solidFill>
            <a:srgbClr val="D6E6DE"/>
          </a:solidFill>
          <a:ln/>
        </p:spPr>
        <p:txBody>
          <a:bodyPr/>
          <a:lstStyle/>
          <a:p>
            <a:endParaRPr lang="en-US"/>
          </a:p>
        </p:txBody>
      </p:sp>
      <p:sp>
        <p:nvSpPr>
          <p:cNvPr id="18" name="Text 14"/>
          <p:cNvSpPr/>
          <p:nvPr/>
        </p:nvSpPr>
        <p:spPr>
          <a:xfrm>
            <a:off x="4676775" y="5401047"/>
            <a:ext cx="2703195" cy="360015"/>
          </a:xfrm>
          <a:prstGeom prst="rect">
            <a:avLst/>
          </a:prstGeom>
          <a:noFill/>
          <a:ln/>
        </p:spPr>
        <p:txBody>
          <a:bodyPr wrap="square" lIns="25400" tIns="25400" rIns="25400" bIns="25400" rtlCol="0" anchor="t">
            <a:normAutofit/>
          </a:bodyPr>
          <a:lstStyle/>
          <a:p>
            <a:pPr marL="0" indent="0" algn="l">
              <a:lnSpc>
                <a:spcPct val="107302"/>
              </a:lnSpc>
              <a:buNone/>
            </a:pPr>
            <a:r>
              <a:rPr lang="en-US" sz="1950" dirty="0">
                <a:solidFill>
                  <a:srgbClr val="3B4A44"/>
                </a:solidFill>
                <a:latin typeface="Inter" pitchFamily="34" charset="0"/>
                <a:ea typeface="Inter" pitchFamily="34" charset="-122"/>
                <a:cs typeface="Inter" pitchFamily="34" charset="-120"/>
              </a:rPr>
              <a:t>Jenkins → Harness</a:t>
            </a:r>
            <a:endParaRPr lang="en-US" sz="1950" dirty="0"/>
          </a:p>
        </p:txBody>
      </p:sp>
      <p:sp>
        <p:nvSpPr>
          <p:cNvPr id="19" name="Text 15"/>
          <p:cNvSpPr/>
          <p:nvPr/>
        </p:nvSpPr>
        <p:spPr>
          <a:xfrm>
            <a:off x="4676775" y="5894412"/>
            <a:ext cx="2703195" cy="360015"/>
          </a:xfrm>
          <a:prstGeom prst="rect">
            <a:avLst/>
          </a:prstGeom>
          <a:noFill/>
          <a:ln/>
        </p:spPr>
        <p:txBody>
          <a:bodyPr wrap="square" lIns="25400" tIns="25400" rIns="25400" bIns="25400" rtlCol="0" anchor="t">
            <a:normAutofit/>
          </a:bodyPr>
          <a:lstStyle/>
          <a:p>
            <a:pPr marL="0" indent="0" algn="l">
              <a:lnSpc>
                <a:spcPct val="107302"/>
              </a:lnSpc>
              <a:buNone/>
            </a:pPr>
            <a:r>
              <a:rPr lang="en-US" sz="1950" dirty="0">
                <a:solidFill>
                  <a:srgbClr val="3B4A44"/>
                </a:solidFill>
                <a:latin typeface="Inter" pitchFamily="34" charset="0"/>
                <a:ea typeface="Inter" pitchFamily="34" charset="-122"/>
                <a:cs typeface="Inter" pitchFamily="34" charset="-120"/>
              </a:rPr>
              <a:t>Better CI/CD</a:t>
            </a:r>
            <a:endParaRPr lang="en-US" sz="1950" dirty="0"/>
          </a:p>
        </p:txBody>
      </p:sp>
      <p:sp>
        <p:nvSpPr>
          <p:cNvPr id="20" name="Text 16"/>
          <p:cNvSpPr/>
          <p:nvPr/>
        </p:nvSpPr>
        <p:spPr>
          <a:xfrm>
            <a:off x="4676775" y="6387778"/>
            <a:ext cx="2703195" cy="360015"/>
          </a:xfrm>
          <a:prstGeom prst="rect">
            <a:avLst/>
          </a:prstGeom>
          <a:noFill/>
          <a:ln/>
        </p:spPr>
        <p:txBody>
          <a:bodyPr wrap="square" lIns="25400" tIns="25400" rIns="25400" bIns="25400" rtlCol="0" anchor="t">
            <a:normAutofit/>
          </a:bodyPr>
          <a:lstStyle/>
          <a:p>
            <a:pPr marL="0" indent="0" algn="l">
              <a:lnSpc>
                <a:spcPct val="107302"/>
              </a:lnSpc>
              <a:buNone/>
            </a:pPr>
            <a:r>
              <a:rPr lang="en-US" sz="1950" dirty="0">
                <a:solidFill>
                  <a:srgbClr val="3B4A44"/>
                </a:solidFill>
                <a:latin typeface="Inter" pitchFamily="34" charset="0"/>
                <a:ea typeface="Inter" pitchFamily="34" charset="-122"/>
                <a:cs typeface="Inter" pitchFamily="34" charset="-120"/>
              </a:rPr>
              <a:t>Automated testing</a:t>
            </a:r>
            <a:endParaRPr lang="en-US" sz="1950" dirty="0"/>
          </a:p>
        </p:txBody>
      </p:sp>
      <p:sp>
        <p:nvSpPr>
          <p:cNvPr id="21" name="Shape 17"/>
          <p:cNvSpPr/>
          <p:nvPr/>
        </p:nvSpPr>
        <p:spPr>
          <a:xfrm>
            <a:off x="7620000" y="3286497"/>
            <a:ext cx="3048000" cy="5334000"/>
          </a:xfrm>
          <a:prstGeom prst="roundRect">
            <a:avLst>
              <a:gd name="adj" fmla="val 6250"/>
            </a:avLst>
          </a:prstGeom>
          <a:solidFill>
            <a:srgbClr val="F3F8F5"/>
          </a:solidFill>
          <a:ln w="9525">
            <a:solidFill>
              <a:srgbClr val="E6F1EC"/>
            </a:solidFill>
            <a:prstDash val="solid"/>
          </a:ln>
        </p:spPr>
        <p:txBody>
          <a:bodyPr/>
          <a:lstStyle/>
          <a:p>
            <a:endParaRPr lang="en-US"/>
          </a:p>
        </p:txBody>
      </p:sp>
      <p:sp>
        <p:nvSpPr>
          <p:cNvPr id="22" name="Text 18"/>
          <p:cNvSpPr/>
          <p:nvPr/>
        </p:nvSpPr>
        <p:spPr>
          <a:xfrm>
            <a:off x="7915275" y="3679403"/>
            <a:ext cx="419100" cy="414338"/>
          </a:xfrm>
          <a:prstGeom prst="rect">
            <a:avLst/>
          </a:prstGeom>
          <a:noFill/>
          <a:ln/>
        </p:spPr>
        <p:txBody>
          <a:bodyPr wrap="square" lIns="25400" tIns="25400" rIns="25400" bIns="25400" rtlCol="0" anchor="t">
            <a:normAutofit/>
          </a:bodyPr>
          <a:lstStyle/>
          <a:p>
            <a:pPr marL="0" indent="0" algn="l">
              <a:buNone/>
            </a:pPr>
            <a:r>
              <a:rPr lang="en-US" sz="2250" b="1" dirty="0">
                <a:solidFill>
                  <a:srgbClr val="9EC5B3"/>
                </a:solidFill>
                <a:latin typeface="JetBrains Mono" pitchFamily="34" charset="0"/>
                <a:ea typeface="JetBrains Mono" pitchFamily="34" charset="-122"/>
                <a:cs typeface="JetBrains Mono" pitchFamily="34" charset="-120"/>
              </a:rPr>
              <a:t>03</a:t>
            </a:r>
            <a:endParaRPr lang="en-US" sz="2250" dirty="0"/>
          </a:p>
        </p:txBody>
      </p:sp>
      <p:pic>
        <p:nvPicPr>
          <p:cNvPr id="23"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877425" y="3619872"/>
            <a:ext cx="495300" cy="495300"/>
          </a:xfrm>
          <a:prstGeom prst="rect">
            <a:avLst/>
          </a:prstGeom>
        </p:spPr>
      </p:pic>
      <p:sp>
        <p:nvSpPr>
          <p:cNvPr id="24" name="Text 19"/>
          <p:cNvSpPr/>
          <p:nvPr/>
        </p:nvSpPr>
        <p:spPr>
          <a:xfrm>
            <a:off x="7915275" y="4286622"/>
            <a:ext cx="2533650" cy="800100"/>
          </a:xfrm>
          <a:prstGeom prst="rect">
            <a:avLst/>
          </a:prstGeom>
          <a:noFill/>
          <a:ln/>
        </p:spPr>
        <p:txBody>
          <a:bodyPr wrap="square" lIns="25400" tIns="25400" rIns="25400" bIns="25400" rtlCol="0" anchor="t">
            <a:normAutofit/>
          </a:bodyPr>
          <a:lstStyle/>
          <a:p>
            <a:pPr marL="0" indent="0" algn="l">
              <a:lnSpc>
                <a:spcPct val="91034"/>
              </a:lnSpc>
              <a:buNone/>
            </a:pPr>
            <a:r>
              <a:rPr lang="en-US" sz="2700" b="1" dirty="0">
                <a:solidFill>
                  <a:srgbClr val="003824"/>
                </a:solidFill>
                <a:latin typeface="Inter" pitchFamily="34" charset="0"/>
                <a:ea typeface="Inter" pitchFamily="34" charset="-122"/>
                <a:cs typeface="Inter" pitchFamily="34" charset="-120"/>
              </a:rPr>
              <a:t>Cloud</a:t>
            </a:r>
            <a:endParaRPr lang="en-US" sz="2700" dirty="0"/>
          </a:p>
        </p:txBody>
      </p:sp>
      <p:sp>
        <p:nvSpPr>
          <p:cNvPr id="25" name="Shape 20"/>
          <p:cNvSpPr/>
          <p:nvPr/>
        </p:nvSpPr>
        <p:spPr>
          <a:xfrm>
            <a:off x="7915275" y="5220072"/>
            <a:ext cx="2457450" cy="9525"/>
          </a:xfrm>
          <a:prstGeom prst="rect">
            <a:avLst/>
          </a:prstGeom>
          <a:solidFill>
            <a:srgbClr val="D6E6DE"/>
          </a:solidFill>
          <a:ln/>
        </p:spPr>
        <p:txBody>
          <a:bodyPr/>
          <a:lstStyle/>
          <a:p>
            <a:endParaRPr lang="en-US"/>
          </a:p>
        </p:txBody>
      </p:sp>
      <p:sp>
        <p:nvSpPr>
          <p:cNvPr id="26" name="Text 21"/>
          <p:cNvSpPr/>
          <p:nvPr/>
        </p:nvSpPr>
        <p:spPr>
          <a:xfrm>
            <a:off x="7915275" y="5401047"/>
            <a:ext cx="2533650" cy="681930"/>
          </a:xfrm>
          <a:prstGeom prst="rect">
            <a:avLst/>
          </a:prstGeom>
          <a:noFill/>
          <a:ln/>
        </p:spPr>
        <p:txBody>
          <a:bodyPr wrap="square" lIns="25400" tIns="25400" rIns="25400" bIns="25400" rtlCol="0" anchor="t">
            <a:normAutofit/>
          </a:bodyPr>
          <a:lstStyle/>
          <a:p>
            <a:pPr marL="0" indent="0" algn="l">
              <a:lnSpc>
                <a:spcPct val="107302"/>
              </a:lnSpc>
              <a:buNone/>
            </a:pPr>
            <a:r>
              <a:rPr lang="en-US" sz="1950" dirty="0">
                <a:solidFill>
                  <a:srgbClr val="3B4A44"/>
                </a:solidFill>
                <a:latin typeface="Inter" pitchFamily="34" charset="0"/>
                <a:ea typeface="Inter" pitchFamily="34" charset="-122"/>
                <a:cs typeface="Inter" pitchFamily="34" charset="-120"/>
              </a:rPr>
              <a:t>On-prem → cloud migration</a:t>
            </a:r>
            <a:endParaRPr lang="en-US" sz="1950" dirty="0"/>
          </a:p>
        </p:txBody>
      </p:sp>
      <p:sp>
        <p:nvSpPr>
          <p:cNvPr id="27" name="Text 22"/>
          <p:cNvSpPr/>
          <p:nvPr/>
        </p:nvSpPr>
        <p:spPr>
          <a:xfrm>
            <a:off x="7915275" y="6216328"/>
            <a:ext cx="2533650" cy="681930"/>
          </a:xfrm>
          <a:prstGeom prst="rect">
            <a:avLst/>
          </a:prstGeom>
          <a:noFill/>
          <a:ln/>
        </p:spPr>
        <p:txBody>
          <a:bodyPr wrap="square" lIns="25400" tIns="25400" rIns="25400" bIns="25400" rtlCol="0" anchor="t">
            <a:normAutofit/>
          </a:bodyPr>
          <a:lstStyle/>
          <a:p>
            <a:pPr marL="0" indent="0" algn="l">
              <a:lnSpc>
                <a:spcPct val="107302"/>
              </a:lnSpc>
              <a:buNone/>
            </a:pPr>
            <a:r>
              <a:rPr lang="en-US" sz="1950" dirty="0">
                <a:solidFill>
                  <a:srgbClr val="3B4A44"/>
                </a:solidFill>
                <a:latin typeface="Inter" pitchFamily="34" charset="0"/>
                <a:ea typeface="Inter" pitchFamily="34" charset="-122"/>
                <a:cs typeface="Inter" pitchFamily="34" charset="-120"/>
              </a:rPr>
              <a:t>Design with FinOps in mind</a:t>
            </a:r>
            <a:endParaRPr lang="en-US" sz="1950" dirty="0"/>
          </a:p>
        </p:txBody>
      </p:sp>
      <p:sp>
        <p:nvSpPr>
          <p:cNvPr id="28" name="Text 23"/>
          <p:cNvSpPr/>
          <p:nvPr/>
        </p:nvSpPr>
        <p:spPr>
          <a:xfrm>
            <a:off x="7915275" y="7031608"/>
            <a:ext cx="2533650" cy="681930"/>
          </a:xfrm>
          <a:prstGeom prst="rect">
            <a:avLst/>
          </a:prstGeom>
          <a:noFill/>
          <a:ln/>
        </p:spPr>
        <p:txBody>
          <a:bodyPr wrap="square" lIns="25400" tIns="25400" rIns="25400" bIns="25400" rtlCol="0" anchor="t">
            <a:normAutofit/>
          </a:bodyPr>
          <a:lstStyle/>
          <a:p>
            <a:pPr marL="0" indent="0" algn="l">
              <a:lnSpc>
                <a:spcPct val="107302"/>
              </a:lnSpc>
              <a:buNone/>
            </a:pPr>
            <a:r>
              <a:rPr lang="en-US" sz="1950" dirty="0">
                <a:solidFill>
                  <a:srgbClr val="3B4A44"/>
                </a:solidFill>
                <a:latin typeface="Inter" pitchFamily="34" charset="0"/>
                <a:ea typeface="Inter" pitchFamily="34" charset="-122"/>
                <a:cs typeface="Inter" pitchFamily="34" charset="-120"/>
              </a:rPr>
              <a:t>Troubleshooting advice</a:t>
            </a:r>
            <a:endParaRPr lang="en-US" sz="1950" dirty="0"/>
          </a:p>
        </p:txBody>
      </p:sp>
      <p:sp>
        <p:nvSpPr>
          <p:cNvPr id="29" name="Shape 24"/>
          <p:cNvSpPr/>
          <p:nvPr/>
        </p:nvSpPr>
        <p:spPr>
          <a:xfrm>
            <a:off x="10858500" y="3286497"/>
            <a:ext cx="3048000" cy="5334000"/>
          </a:xfrm>
          <a:prstGeom prst="roundRect">
            <a:avLst>
              <a:gd name="adj" fmla="val 6250"/>
            </a:avLst>
          </a:prstGeom>
          <a:solidFill>
            <a:srgbClr val="F3F8F5"/>
          </a:solidFill>
          <a:ln w="9525">
            <a:solidFill>
              <a:srgbClr val="E6F1EC"/>
            </a:solidFill>
            <a:prstDash val="solid"/>
          </a:ln>
        </p:spPr>
        <p:txBody>
          <a:bodyPr/>
          <a:lstStyle/>
          <a:p>
            <a:endParaRPr lang="en-US"/>
          </a:p>
        </p:txBody>
      </p:sp>
      <p:sp>
        <p:nvSpPr>
          <p:cNvPr id="30" name="Text 25"/>
          <p:cNvSpPr/>
          <p:nvPr/>
        </p:nvSpPr>
        <p:spPr>
          <a:xfrm>
            <a:off x="11153775" y="3679403"/>
            <a:ext cx="419100" cy="414338"/>
          </a:xfrm>
          <a:prstGeom prst="rect">
            <a:avLst/>
          </a:prstGeom>
          <a:noFill/>
          <a:ln/>
        </p:spPr>
        <p:txBody>
          <a:bodyPr wrap="square" lIns="25400" tIns="25400" rIns="25400" bIns="25400" rtlCol="0" anchor="t">
            <a:normAutofit/>
          </a:bodyPr>
          <a:lstStyle/>
          <a:p>
            <a:pPr marL="0" indent="0" algn="l">
              <a:buNone/>
            </a:pPr>
            <a:r>
              <a:rPr lang="en-US" sz="2250" b="1" dirty="0">
                <a:solidFill>
                  <a:srgbClr val="9EC5B3"/>
                </a:solidFill>
                <a:latin typeface="JetBrains Mono" pitchFamily="34" charset="0"/>
                <a:ea typeface="JetBrains Mono" pitchFamily="34" charset="-122"/>
                <a:cs typeface="JetBrains Mono" pitchFamily="34" charset="-120"/>
              </a:rPr>
              <a:t>04</a:t>
            </a:r>
            <a:endParaRPr lang="en-US" sz="2250" dirty="0"/>
          </a:p>
        </p:txBody>
      </p:sp>
      <p:pic>
        <p:nvPicPr>
          <p:cNvPr id="3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3115925" y="3619872"/>
            <a:ext cx="495300" cy="495300"/>
          </a:xfrm>
          <a:prstGeom prst="rect">
            <a:avLst/>
          </a:prstGeom>
        </p:spPr>
      </p:pic>
      <p:sp>
        <p:nvSpPr>
          <p:cNvPr id="32" name="Text 26"/>
          <p:cNvSpPr/>
          <p:nvPr/>
        </p:nvSpPr>
        <p:spPr>
          <a:xfrm>
            <a:off x="11153775" y="4286622"/>
            <a:ext cx="2533650" cy="800100"/>
          </a:xfrm>
          <a:prstGeom prst="rect">
            <a:avLst/>
          </a:prstGeom>
          <a:noFill/>
          <a:ln/>
        </p:spPr>
        <p:txBody>
          <a:bodyPr wrap="square" lIns="25400" tIns="25400" rIns="25400" bIns="25400" rtlCol="0" anchor="t">
            <a:normAutofit/>
          </a:bodyPr>
          <a:lstStyle/>
          <a:p>
            <a:pPr marL="0" indent="0" algn="l">
              <a:lnSpc>
                <a:spcPct val="91034"/>
              </a:lnSpc>
              <a:buNone/>
            </a:pPr>
            <a:r>
              <a:rPr lang="en-US" sz="2700" b="1" dirty="0">
                <a:solidFill>
                  <a:srgbClr val="003824"/>
                </a:solidFill>
                <a:latin typeface="Inter" pitchFamily="34" charset="0"/>
                <a:ea typeface="Inter" pitchFamily="34" charset="-122"/>
                <a:cs typeface="Inter" pitchFamily="34" charset="-120"/>
              </a:rPr>
              <a:t>AI-assisted engineering</a:t>
            </a:r>
            <a:endParaRPr lang="en-US" sz="2700" dirty="0"/>
          </a:p>
        </p:txBody>
      </p:sp>
      <p:sp>
        <p:nvSpPr>
          <p:cNvPr id="33" name="Shape 27"/>
          <p:cNvSpPr/>
          <p:nvPr/>
        </p:nvSpPr>
        <p:spPr>
          <a:xfrm>
            <a:off x="11153775" y="5220072"/>
            <a:ext cx="2457450" cy="9525"/>
          </a:xfrm>
          <a:prstGeom prst="rect">
            <a:avLst/>
          </a:prstGeom>
          <a:solidFill>
            <a:srgbClr val="D6E6DE"/>
          </a:solidFill>
          <a:ln/>
        </p:spPr>
        <p:txBody>
          <a:bodyPr/>
          <a:lstStyle/>
          <a:p>
            <a:endParaRPr lang="en-US"/>
          </a:p>
        </p:txBody>
      </p:sp>
      <p:sp>
        <p:nvSpPr>
          <p:cNvPr id="34" name="Text 28"/>
          <p:cNvSpPr/>
          <p:nvPr/>
        </p:nvSpPr>
        <p:spPr>
          <a:xfrm>
            <a:off x="11153775" y="5401047"/>
            <a:ext cx="2703195" cy="360015"/>
          </a:xfrm>
          <a:prstGeom prst="rect">
            <a:avLst/>
          </a:prstGeom>
          <a:noFill/>
          <a:ln/>
        </p:spPr>
        <p:txBody>
          <a:bodyPr wrap="square" lIns="25400" tIns="25400" rIns="25400" bIns="25400" rtlCol="0" anchor="t">
            <a:normAutofit/>
          </a:bodyPr>
          <a:lstStyle/>
          <a:p>
            <a:pPr marL="0" indent="0" algn="l">
              <a:lnSpc>
                <a:spcPct val="107302"/>
              </a:lnSpc>
              <a:buNone/>
            </a:pPr>
            <a:r>
              <a:rPr lang="en-US" sz="1950" dirty="0">
                <a:solidFill>
                  <a:srgbClr val="3B4A44"/>
                </a:solidFill>
                <a:latin typeface="Inter" pitchFamily="34" charset="0"/>
                <a:ea typeface="Inter" pitchFamily="34" charset="-122"/>
                <a:cs typeface="Inter" pitchFamily="34" charset="-120"/>
              </a:rPr>
              <a:t>Repos primed for AI</a:t>
            </a:r>
            <a:endParaRPr lang="en-US" sz="1950" dirty="0"/>
          </a:p>
        </p:txBody>
      </p:sp>
      <p:sp>
        <p:nvSpPr>
          <p:cNvPr id="35" name="Text 29"/>
          <p:cNvSpPr/>
          <p:nvPr/>
        </p:nvSpPr>
        <p:spPr>
          <a:xfrm>
            <a:off x="11153775" y="5894412"/>
            <a:ext cx="2533650" cy="681930"/>
          </a:xfrm>
          <a:prstGeom prst="rect">
            <a:avLst/>
          </a:prstGeom>
          <a:noFill/>
          <a:ln/>
        </p:spPr>
        <p:txBody>
          <a:bodyPr wrap="square" lIns="25400" tIns="25400" rIns="25400" bIns="25400" rtlCol="0" anchor="t">
            <a:normAutofit/>
          </a:bodyPr>
          <a:lstStyle/>
          <a:p>
            <a:pPr marL="0" indent="0" algn="l">
              <a:lnSpc>
                <a:spcPct val="107302"/>
              </a:lnSpc>
              <a:buNone/>
            </a:pPr>
            <a:r>
              <a:rPr lang="en-US" sz="1950" dirty="0">
                <a:solidFill>
                  <a:srgbClr val="3B4A44"/>
                </a:solidFill>
                <a:latin typeface="Inter" pitchFamily="34" charset="0"/>
                <a:ea typeface="Inter" pitchFamily="34" charset="-122"/>
                <a:cs typeface="Inter" pitchFamily="34" charset="-120"/>
              </a:rPr>
              <a:t>New AI solutions onboarded</a:t>
            </a:r>
            <a:endParaRPr lang="en-US" sz="1950" dirty="0"/>
          </a:p>
        </p:txBody>
      </p:sp>
      <p:sp>
        <p:nvSpPr>
          <p:cNvPr id="36" name="Text 30"/>
          <p:cNvSpPr/>
          <p:nvPr/>
        </p:nvSpPr>
        <p:spPr>
          <a:xfrm>
            <a:off x="11153775" y="6709693"/>
            <a:ext cx="2533650" cy="681930"/>
          </a:xfrm>
          <a:prstGeom prst="rect">
            <a:avLst/>
          </a:prstGeom>
          <a:noFill/>
          <a:ln/>
        </p:spPr>
        <p:txBody>
          <a:bodyPr wrap="square" lIns="25400" tIns="25400" rIns="25400" bIns="25400" rtlCol="0" anchor="t">
            <a:normAutofit/>
          </a:bodyPr>
          <a:lstStyle/>
          <a:p>
            <a:pPr marL="0" indent="0" algn="l">
              <a:lnSpc>
                <a:spcPct val="107302"/>
              </a:lnSpc>
              <a:buNone/>
            </a:pPr>
            <a:r>
              <a:rPr lang="en-US" sz="1950" dirty="0">
                <a:solidFill>
                  <a:srgbClr val="3B4A44"/>
                </a:solidFill>
                <a:latin typeface="Inter" pitchFamily="34" charset="0"/>
                <a:ea typeface="Inter" pitchFamily="34" charset="-122"/>
                <a:cs typeface="Inter" pitchFamily="34" charset="-120"/>
              </a:rPr>
              <a:t>AI opportunities with the business</a:t>
            </a:r>
            <a:endParaRPr lang="en-US" sz="1950" dirty="0"/>
          </a:p>
        </p:txBody>
      </p:sp>
      <p:sp>
        <p:nvSpPr>
          <p:cNvPr id="37" name="Shape 31"/>
          <p:cNvSpPr/>
          <p:nvPr/>
        </p:nvSpPr>
        <p:spPr>
          <a:xfrm>
            <a:off x="14097000" y="3286497"/>
            <a:ext cx="3048000" cy="5334000"/>
          </a:xfrm>
          <a:prstGeom prst="roundRect">
            <a:avLst>
              <a:gd name="adj" fmla="val 6250"/>
            </a:avLst>
          </a:prstGeom>
          <a:solidFill>
            <a:srgbClr val="F3F8F5"/>
          </a:solidFill>
          <a:ln w="9525">
            <a:solidFill>
              <a:srgbClr val="E6F1EC"/>
            </a:solidFill>
            <a:prstDash val="solid"/>
          </a:ln>
        </p:spPr>
        <p:txBody>
          <a:bodyPr/>
          <a:lstStyle/>
          <a:p>
            <a:endParaRPr lang="en-US"/>
          </a:p>
        </p:txBody>
      </p:sp>
      <p:sp>
        <p:nvSpPr>
          <p:cNvPr id="38" name="Text 32"/>
          <p:cNvSpPr/>
          <p:nvPr/>
        </p:nvSpPr>
        <p:spPr>
          <a:xfrm>
            <a:off x="14392275" y="3679403"/>
            <a:ext cx="419100" cy="414338"/>
          </a:xfrm>
          <a:prstGeom prst="rect">
            <a:avLst/>
          </a:prstGeom>
          <a:noFill/>
          <a:ln/>
        </p:spPr>
        <p:txBody>
          <a:bodyPr wrap="square" lIns="25400" tIns="25400" rIns="25400" bIns="25400" rtlCol="0" anchor="t">
            <a:normAutofit/>
          </a:bodyPr>
          <a:lstStyle/>
          <a:p>
            <a:pPr marL="0" indent="0" algn="l">
              <a:buNone/>
            </a:pPr>
            <a:r>
              <a:rPr lang="en-US" sz="2250" b="1" dirty="0">
                <a:solidFill>
                  <a:srgbClr val="9EC5B3"/>
                </a:solidFill>
                <a:latin typeface="JetBrains Mono" pitchFamily="34" charset="0"/>
                <a:ea typeface="JetBrains Mono" pitchFamily="34" charset="-122"/>
                <a:cs typeface="JetBrains Mono" pitchFamily="34" charset="-120"/>
              </a:rPr>
              <a:t>05</a:t>
            </a:r>
            <a:endParaRPr lang="en-US" sz="2250" dirty="0"/>
          </a:p>
        </p:txBody>
      </p:sp>
      <p:pic>
        <p:nvPicPr>
          <p:cNvPr id="39"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6354425" y="3619872"/>
            <a:ext cx="495300" cy="495300"/>
          </a:xfrm>
          <a:prstGeom prst="rect">
            <a:avLst/>
          </a:prstGeom>
        </p:spPr>
      </p:pic>
      <p:sp>
        <p:nvSpPr>
          <p:cNvPr id="40" name="Text 33"/>
          <p:cNvSpPr/>
          <p:nvPr/>
        </p:nvSpPr>
        <p:spPr>
          <a:xfrm>
            <a:off x="14392275" y="4286622"/>
            <a:ext cx="2533650" cy="800100"/>
          </a:xfrm>
          <a:prstGeom prst="rect">
            <a:avLst/>
          </a:prstGeom>
          <a:noFill/>
          <a:ln/>
        </p:spPr>
        <p:txBody>
          <a:bodyPr wrap="square" lIns="25400" tIns="25400" rIns="25400" bIns="25400" rtlCol="0" anchor="t">
            <a:normAutofit/>
          </a:bodyPr>
          <a:lstStyle/>
          <a:p>
            <a:pPr marL="0" indent="0" algn="l">
              <a:lnSpc>
                <a:spcPct val="91034"/>
              </a:lnSpc>
              <a:buNone/>
            </a:pPr>
            <a:r>
              <a:rPr lang="en-US" sz="2700" b="1" dirty="0">
                <a:solidFill>
                  <a:srgbClr val="003824"/>
                </a:solidFill>
                <a:latin typeface="Inter" pitchFamily="34" charset="0"/>
                <a:ea typeface="Inter" pitchFamily="34" charset="-122"/>
                <a:cs typeface="Inter" pitchFamily="34" charset="-120"/>
              </a:rPr>
              <a:t>Connect &amp; enable</a:t>
            </a:r>
            <a:endParaRPr lang="en-US" sz="2700" dirty="0"/>
          </a:p>
        </p:txBody>
      </p:sp>
      <p:sp>
        <p:nvSpPr>
          <p:cNvPr id="41" name="Shape 34"/>
          <p:cNvSpPr/>
          <p:nvPr/>
        </p:nvSpPr>
        <p:spPr>
          <a:xfrm>
            <a:off x="14392275" y="5220072"/>
            <a:ext cx="2457450" cy="9525"/>
          </a:xfrm>
          <a:prstGeom prst="rect">
            <a:avLst/>
          </a:prstGeom>
          <a:solidFill>
            <a:srgbClr val="D6E6DE"/>
          </a:solidFill>
          <a:ln/>
        </p:spPr>
        <p:txBody>
          <a:bodyPr/>
          <a:lstStyle/>
          <a:p>
            <a:endParaRPr lang="en-US"/>
          </a:p>
        </p:txBody>
      </p:sp>
      <p:sp>
        <p:nvSpPr>
          <p:cNvPr id="42" name="Text 35"/>
          <p:cNvSpPr/>
          <p:nvPr/>
        </p:nvSpPr>
        <p:spPr>
          <a:xfrm>
            <a:off x="14392275" y="5401047"/>
            <a:ext cx="2533650" cy="681930"/>
          </a:xfrm>
          <a:prstGeom prst="rect">
            <a:avLst/>
          </a:prstGeom>
          <a:noFill/>
          <a:ln/>
        </p:spPr>
        <p:txBody>
          <a:bodyPr wrap="square" lIns="25400" tIns="25400" rIns="25400" bIns="25400" rtlCol="0" anchor="t">
            <a:normAutofit/>
          </a:bodyPr>
          <a:lstStyle/>
          <a:p>
            <a:pPr marL="0" indent="0" algn="l">
              <a:lnSpc>
                <a:spcPct val="107302"/>
              </a:lnSpc>
              <a:buNone/>
            </a:pPr>
            <a:r>
              <a:rPr lang="en-US" sz="1950" dirty="0">
                <a:solidFill>
                  <a:srgbClr val="3B4A44"/>
                </a:solidFill>
                <a:latin typeface="Inter" pitchFamily="34" charset="0"/>
                <a:ea typeface="Inter" pitchFamily="34" charset="-122"/>
                <a:cs typeface="Inter" pitchFamily="34" charset="-120"/>
              </a:rPr>
              <a:t>Central Cloud &amp; AI liaison</a:t>
            </a:r>
            <a:endParaRPr lang="en-US" sz="1950" dirty="0"/>
          </a:p>
        </p:txBody>
      </p:sp>
      <p:sp>
        <p:nvSpPr>
          <p:cNvPr id="43" name="Text 36"/>
          <p:cNvSpPr/>
          <p:nvPr/>
        </p:nvSpPr>
        <p:spPr>
          <a:xfrm>
            <a:off x="14392275" y="6216328"/>
            <a:ext cx="2533650" cy="681930"/>
          </a:xfrm>
          <a:prstGeom prst="rect">
            <a:avLst/>
          </a:prstGeom>
          <a:noFill/>
          <a:ln/>
        </p:spPr>
        <p:txBody>
          <a:bodyPr wrap="square" lIns="25400" tIns="25400" rIns="25400" bIns="25400" rtlCol="0" anchor="t">
            <a:normAutofit/>
          </a:bodyPr>
          <a:lstStyle/>
          <a:p>
            <a:pPr marL="0" indent="0" algn="l">
              <a:lnSpc>
                <a:spcPct val="107302"/>
              </a:lnSpc>
              <a:buNone/>
            </a:pPr>
            <a:r>
              <a:rPr lang="en-US" sz="1950" dirty="0">
                <a:solidFill>
                  <a:srgbClr val="3B4A44"/>
                </a:solidFill>
                <a:latin typeface="Inter" pitchFamily="34" charset="0"/>
                <a:ea typeface="Inter" pitchFamily="34" charset="-122"/>
                <a:cs typeface="Inter" pitchFamily="34" charset="-120"/>
              </a:rPr>
              <a:t>Shared Markets patterns</a:t>
            </a:r>
            <a:endParaRPr lang="en-US" sz="1950" dirty="0"/>
          </a:p>
        </p:txBody>
      </p:sp>
      <p:sp>
        <p:nvSpPr>
          <p:cNvPr id="44" name="Text 37"/>
          <p:cNvSpPr/>
          <p:nvPr/>
        </p:nvSpPr>
        <p:spPr>
          <a:xfrm>
            <a:off x="14392275" y="7031608"/>
            <a:ext cx="2533650" cy="681930"/>
          </a:xfrm>
          <a:prstGeom prst="rect">
            <a:avLst/>
          </a:prstGeom>
          <a:noFill/>
          <a:ln/>
        </p:spPr>
        <p:txBody>
          <a:bodyPr wrap="square" lIns="25400" tIns="25400" rIns="25400" bIns="25400" rtlCol="0" anchor="t">
            <a:normAutofit/>
          </a:bodyPr>
          <a:lstStyle/>
          <a:p>
            <a:pPr marL="0" indent="0" algn="l">
              <a:lnSpc>
                <a:spcPct val="107302"/>
              </a:lnSpc>
              <a:buNone/>
            </a:pPr>
            <a:r>
              <a:rPr lang="en-US" sz="1950" dirty="0">
                <a:solidFill>
                  <a:srgbClr val="3B4A44"/>
                </a:solidFill>
                <a:latin typeface="Inter" pitchFamily="34" charset="0"/>
                <a:ea typeface="Inter" pitchFamily="34" charset="-122"/>
                <a:cs typeface="Inter" pitchFamily="34" charset="-120"/>
              </a:rPr>
              <a:t>Hackathons &amp; spin-ups</a:t>
            </a:r>
            <a:endParaRPr lang="en-US" sz="1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3000" y="957263"/>
            <a:ext cx="342900" cy="342900"/>
          </a:xfrm>
          <a:prstGeom prst="rect">
            <a:avLst/>
          </a:prstGeom>
        </p:spPr>
      </p:pic>
      <p:sp>
        <p:nvSpPr>
          <p:cNvPr id="3" name="Text 0"/>
          <p:cNvSpPr/>
          <p:nvPr/>
        </p:nvSpPr>
        <p:spPr>
          <a:xfrm>
            <a:off x="1638300" y="952500"/>
            <a:ext cx="4905107" cy="390525"/>
          </a:xfrm>
          <a:prstGeom prst="rect">
            <a:avLst/>
          </a:prstGeom>
          <a:noFill/>
          <a:ln/>
        </p:spPr>
        <p:txBody>
          <a:bodyPr wrap="square" lIns="25400" tIns="25400" rIns="25400" bIns="25400" rtlCol="0" anchor="t">
            <a:normAutofit/>
          </a:bodyPr>
          <a:lstStyle/>
          <a:p>
            <a:pPr marL="0" indent="0" algn="l">
              <a:buNone/>
            </a:pPr>
            <a:r>
              <a:rPr lang="en-US" sz="2100" kern="0" spc="336" dirty="0">
                <a:solidFill>
                  <a:srgbClr val="006A4D"/>
                </a:solidFill>
                <a:latin typeface="JetBrains Mono" pitchFamily="34" charset="0"/>
                <a:ea typeface="JetBrains Mono" pitchFamily="34" charset="-122"/>
                <a:cs typeface="JetBrains Mono" pitchFamily="34" charset="-120"/>
              </a:rPr>
              <a:t>01 · BUILD &amp; PROTOTYPE</a:t>
            </a:r>
            <a:endParaRPr lang="en-US" sz="2100" dirty="0"/>
          </a:p>
        </p:txBody>
      </p:sp>
      <p:sp>
        <p:nvSpPr>
          <p:cNvPr id="4" name="Shape 1"/>
          <p:cNvSpPr/>
          <p:nvPr/>
        </p:nvSpPr>
        <p:spPr>
          <a:xfrm>
            <a:off x="1143000" y="1533525"/>
            <a:ext cx="685800" cy="47625"/>
          </a:xfrm>
          <a:prstGeom prst="roundRect">
            <a:avLst>
              <a:gd name="adj" fmla="val 40000"/>
            </a:avLst>
          </a:prstGeom>
          <a:solidFill>
            <a:srgbClr val="006A4D"/>
          </a:solidFill>
          <a:ln/>
        </p:spPr>
        <p:txBody>
          <a:bodyPr/>
          <a:lstStyle/>
          <a:p>
            <a:endParaRPr lang="en-US"/>
          </a:p>
        </p:txBody>
      </p:sp>
      <p:sp>
        <p:nvSpPr>
          <p:cNvPr id="5" name="Text 2"/>
          <p:cNvSpPr/>
          <p:nvPr/>
        </p:nvSpPr>
        <p:spPr>
          <a:xfrm>
            <a:off x="1143000" y="2000250"/>
            <a:ext cx="14073368" cy="1543794"/>
          </a:xfrm>
          <a:prstGeom prst="rect">
            <a:avLst/>
          </a:prstGeom>
          <a:noFill/>
          <a:ln/>
        </p:spPr>
        <p:txBody>
          <a:bodyPr wrap="square" lIns="25400" tIns="25400" rIns="25400" bIns="25400" rtlCol="0" anchor="t">
            <a:normAutofit/>
          </a:bodyPr>
          <a:lstStyle/>
          <a:p>
            <a:pPr marL="0" indent="0" algn="l">
              <a:lnSpc>
                <a:spcPct val="85913"/>
              </a:lnSpc>
              <a:buNone/>
            </a:pPr>
            <a:r>
              <a:rPr lang="en-US" sz="5700" b="1" kern="0" spc="-114" dirty="0">
                <a:solidFill>
                  <a:srgbClr val="003824"/>
                </a:solidFill>
                <a:latin typeface="Inter" pitchFamily="34" charset="0"/>
                <a:ea typeface="Inter" pitchFamily="34" charset="-122"/>
                <a:cs typeface="Inter" pitchFamily="34" charset="-120"/>
              </a:rPr>
              <a:t>We prototype new patterns and apps on the developer platform.</a:t>
            </a:r>
            <a:endParaRPr lang="en-US" sz="5700" dirty="0"/>
          </a:p>
        </p:txBody>
      </p:sp>
      <p:sp>
        <p:nvSpPr>
          <p:cNvPr id="6" name="Shape 3"/>
          <p:cNvSpPr/>
          <p:nvPr/>
        </p:nvSpPr>
        <p:spPr>
          <a:xfrm>
            <a:off x="1143000" y="4001244"/>
            <a:ext cx="3616970" cy="1662113"/>
          </a:xfrm>
          <a:prstGeom prst="roundRect">
            <a:avLst>
              <a:gd name="adj" fmla="val 10315"/>
            </a:avLst>
          </a:prstGeom>
          <a:solidFill>
            <a:srgbClr val="F3F8F5"/>
          </a:solidFill>
          <a:ln w="9525">
            <a:solidFill>
              <a:srgbClr val="E6F1EC"/>
            </a:solidFill>
            <a:prstDash val="solid"/>
          </a:ln>
        </p:spPr>
        <p:txBody>
          <a:bodyPr/>
          <a:lstStyle/>
          <a:p>
            <a:endParaRPr lang="en-US"/>
          </a:p>
        </p:txBody>
      </p:sp>
      <p:sp>
        <p:nvSpPr>
          <p:cNvPr id="7" name="Text 4"/>
          <p:cNvSpPr/>
          <p:nvPr/>
        </p:nvSpPr>
        <p:spPr>
          <a:xfrm>
            <a:off x="1438275" y="4277469"/>
            <a:ext cx="3329062" cy="338138"/>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006A4D"/>
                </a:solidFill>
                <a:latin typeface="JetBrains Mono" pitchFamily="34" charset="0"/>
                <a:ea typeface="JetBrains Mono" pitchFamily="34" charset="-122"/>
                <a:cs typeface="JetBrains Mono" pitchFamily="34" charset="-120"/>
              </a:rPr>
              <a:t>IDEA</a:t>
            </a:r>
            <a:endParaRPr lang="en-US" sz="1800" dirty="0"/>
          </a:p>
        </p:txBody>
      </p:sp>
      <p:sp>
        <p:nvSpPr>
          <p:cNvPr id="8" name="Text 5"/>
          <p:cNvSpPr/>
          <p:nvPr/>
        </p:nvSpPr>
        <p:spPr>
          <a:xfrm>
            <a:off x="1438275" y="4672757"/>
            <a:ext cx="3117213" cy="752475"/>
          </a:xfrm>
          <a:prstGeom prst="rect">
            <a:avLst/>
          </a:prstGeom>
          <a:noFill/>
          <a:ln/>
        </p:spPr>
        <p:txBody>
          <a:bodyPr wrap="square" lIns="25400" tIns="25400" rIns="25400" bIns="25400" rtlCol="0" anchor="t">
            <a:normAutofit/>
          </a:bodyPr>
          <a:lstStyle/>
          <a:p>
            <a:pPr marL="0" indent="0" algn="l">
              <a:lnSpc>
                <a:spcPct val="104167"/>
              </a:lnSpc>
              <a:buNone/>
            </a:pPr>
            <a:r>
              <a:rPr lang="en-US" sz="2250" b="1" dirty="0">
                <a:solidFill>
                  <a:srgbClr val="14201B"/>
                </a:solidFill>
                <a:latin typeface="Inter" pitchFamily="34" charset="0"/>
                <a:ea typeface="Inter" pitchFamily="34" charset="-122"/>
                <a:cs typeface="Inter" pitchFamily="34" charset="-120"/>
              </a:rPr>
              <a:t>A new pattern or app from a lab team</a:t>
            </a:r>
            <a:endParaRPr lang="en-US" sz="2250" dirty="0"/>
          </a:p>
        </p:txBody>
      </p:sp>
      <p:sp>
        <p:nvSpPr>
          <p:cNvPr id="9" name="Text 6"/>
          <p:cNvSpPr/>
          <p:nvPr/>
        </p:nvSpPr>
        <p:spPr>
          <a:xfrm>
            <a:off x="4912370" y="4001244"/>
            <a:ext cx="282699" cy="1700213"/>
          </a:xfrm>
          <a:prstGeom prst="rect">
            <a:avLst/>
          </a:prstGeom>
          <a:noFill/>
          <a:ln/>
        </p:spPr>
        <p:txBody>
          <a:bodyPr wrap="square" lIns="25400" tIns="25400" rIns="25400" bIns="25400" rtlCol="0" anchor="ctr">
            <a:normAutofit/>
          </a:bodyPr>
          <a:lstStyle/>
          <a:p>
            <a:pPr marL="0" indent="0" algn="l">
              <a:buNone/>
            </a:pPr>
            <a:r>
              <a:rPr lang="en-US" sz="2700" dirty="0">
                <a:solidFill>
                  <a:srgbClr val="9EC5B3"/>
                </a:solidFill>
                <a:latin typeface="JetBrains Mono" pitchFamily="34" charset="0"/>
                <a:ea typeface="JetBrains Mono" pitchFamily="34" charset="-122"/>
                <a:cs typeface="JetBrains Mono" pitchFamily="34" charset="-120"/>
              </a:rPr>
              <a:t>→</a:t>
            </a:r>
            <a:endParaRPr lang="en-US" sz="2700" dirty="0"/>
          </a:p>
        </p:txBody>
      </p:sp>
      <p:sp>
        <p:nvSpPr>
          <p:cNvPr id="10" name="Shape 7"/>
          <p:cNvSpPr/>
          <p:nvPr/>
        </p:nvSpPr>
        <p:spPr>
          <a:xfrm>
            <a:off x="5271269" y="4001244"/>
            <a:ext cx="3617044" cy="1662113"/>
          </a:xfrm>
          <a:prstGeom prst="roundRect">
            <a:avLst>
              <a:gd name="adj" fmla="val 10315"/>
            </a:avLst>
          </a:prstGeom>
          <a:solidFill>
            <a:srgbClr val="F3F8F5"/>
          </a:solidFill>
          <a:ln w="9525">
            <a:solidFill>
              <a:srgbClr val="E6F1EC"/>
            </a:solidFill>
            <a:prstDash val="solid"/>
          </a:ln>
        </p:spPr>
        <p:txBody>
          <a:bodyPr/>
          <a:lstStyle/>
          <a:p>
            <a:endParaRPr lang="en-US"/>
          </a:p>
        </p:txBody>
      </p:sp>
      <p:sp>
        <p:nvSpPr>
          <p:cNvPr id="11" name="Text 8"/>
          <p:cNvSpPr/>
          <p:nvPr/>
        </p:nvSpPr>
        <p:spPr>
          <a:xfrm>
            <a:off x="5566544" y="4277469"/>
            <a:ext cx="3329144" cy="338138"/>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006A4D"/>
                </a:solidFill>
                <a:latin typeface="JetBrains Mono" pitchFamily="34" charset="0"/>
                <a:ea typeface="JetBrains Mono" pitchFamily="34" charset="-122"/>
                <a:cs typeface="JetBrains Mono" pitchFamily="34" charset="-120"/>
              </a:rPr>
              <a:t>PROTOTYPE</a:t>
            </a:r>
            <a:endParaRPr lang="en-US" sz="1800" dirty="0"/>
          </a:p>
        </p:txBody>
      </p:sp>
      <p:sp>
        <p:nvSpPr>
          <p:cNvPr id="12" name="Text 9"/>
          <p:cNvSpPr/>
          <p:nvPr/>
        </p:nvSpPr>
        <p:spPr>
          <a:xfrm>
            <a:off x="5566544" y="4672757"/>
            <a:ext cx="3117289" cy="752475"/>
          </a:xfrm>
          <a:prstGeom prst="rect">
            <a:avLst/>
          </a:prstGeom>
          <a:noFill/>
          <a:ln/>
        </p:spPr>
        <p:txBody>
          <a:bodyPr wrap="square" lIns="25400" tIns="25400" rIns="25400" bIns="25400" rtlCol="0" anchor="t">
            <a:normAutofit/>
          </a:bodyPr>
          <a:lstStyle/>
          <a:p>
            <a:pPr marL="0" indent="0" algn="l">
              <a:lnSpc>
                <a:spcPct val="104167"/>
              </a:lnSpc>
              <a:buNone/>
            </a:pPr>
            <a:r>
              <a:rPr lang="en-US" sz="2250" b="1" dirty="0">
                <a:solidFill>
                  <a:srgbClr val="14201B"/>
                </a:solidFill>
                <a:latin typeface="Inter" pitchFamily="34" charset="0"/>
                <a:ea typeface="Inter" pitchFamily="34" charset="-122"/>
                <a:cs typeface="Inter" pitchFamily="34" charset="-120"/>
              </a:rPr>
              <a:t>Built on the IDP with golden paths</a:t>
            </a:r>
            <a:endParaRPr lang="en-US" sz="2250" dirty="0"/>
          </a:p>
        </p:txBody>
      </p:sp>
      <p:sp>
        <p:nvSpPr>
          <p:cNvPr id="13" name="Text 10"/>
          <p:cNvSpPr/>
          <p:nvPr/>
        </p:nvSpPr>
        <p:spPr>
          <a:xfrm>
            <a:off x="9040713" y="4001244"/>
            <a:ext cx="282699" cy="1700213"/>
          </a:xfrm>
          <a:prstGeom prst="rect">
            <a:avLst/>
          </a:prstGeom>
          <a:noFill/>
          <a:ln/>
        </p:spPr>
        <p:txBody>
          <a:bodyPr wrap="square" lIns="25400" tIns="25400" rIns="25400" bIns="25400" rtlCol="0" anchor="ctr">
            <a:normAutofit/>
          </a:bodyPr>
          <a:lstStyle/>
          <a:p>
            <a:pPr marL="0" indent="0" algn="l">
              <a:buNone/>
            </a:pPr>
            <a:r>
              <a:rPr lang="en-US" sz="2700" dirty="0">
                <a:solidFill>
                  <a:srgbClr val="9EC5B3"/>
                </a:solidFill>
                <a:latin typeface="JetBrains Mono" pitchFamily="34" charset="0"/>
                <a:ea typeface="JetBrains Mono" pitchFamily="34" charset="-122"/>
                <a:cs typeface="JetBrains Mono" pitchFamily="34" charset="-120"/>
              </a:rPr>
              <a:t>→</a:t>
            </a:r>
            <a:endParaRPr lang="en-US" sz="2700" dirty="0"/>
          </a:p>
        </p:txBody>
      </p:sp>
      <p:sp>
        <p:nvSpPr>
          <p:cNvPr id="14" name="Shape 11"/>
          <p:cNvSpPr/>
          <p:nvPr/>
        </p:nvSpPr>
        <p:spPr>
          <a:xfrm>
            <a:off x="9399612" y="4001244"/>
            <a:ext cx="3617044" cy="1662113"/>
          </a:xfrm>
          <a:prstGeom prst="roundRect">
            <a:avLst>
              <a:gd name="adj" fmla="val 10315"/>
            </a:avLst>
          </a:prstGeom>
          <a:solidFill>
            <a:srgbClr val="F3F8F5"/>
          </a:solidFill>
          <a:ln w="9525">
            <a:solidFill>
              <a:srgbClr val="E6F1EC"/>
            </a:solidFill>
            <a:prstDash val="solid"/>
          </a:ln>
        </p:spPr>
        <p:txBody>
          <a:bodyPr/>
          <a:lstStyle/>
          <a:p>
            <a:endParaRPr lang="en-US"/>
          </a:p>
        </p:txBody>
      </p:sp>
      <p:sp>
        <p:nvSpPr>
          <p:cNvPr id="15" name="Text 12"/>
          <p:cNvSpPr/>
          <p:nvPr/>
        </p:nvSpPr>
        <p:spPr>
          <a:xfrm>
            <a:off x="9694887" y="4277469"/>
            <a:ext cx="3329144" cy="338138"/>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006A4D"/>
                </a:solidFill>
                <a:latin typeface="JetBrains Mono" pitchFamily="34" charset="0"/>
                <a:ea typeface="JetBrains Mono" pitchFamily="34" charset="-122"/>
                <a:cs typeface="JetBrains Mono" pitchFamily="34" charset="-120"/>
              </a:rPr>
              <a:t>DEPLOY</a:t>
            </a:r>
            <a:endParaRPr lang="en-US" sz="1800" dirty="0"/>
          </a:p>
        </p:txBody>
      </p:sp>
      <p:sp>
        <p:nvSpPr>
          <p:cNvPr id="16" name="Text 13"/>
          <p:cNvSpPr/>
          <p:nvPr/>
        </p:nvSpPr>
        <p:spPr>
          <a:xfrm>
            <a:off x="9694887" y="4672757"/>
            <a:ext cx="3117289" cy="752475"/>
          </a:xfrm>
          <a:prstGeom prst="rect">
            <a:avLst/>
          </a:prstGeom>
          <a:noFill/>
          <a:ln/>
        </p:spPr>
        <p:txBody>
          <a:bodyPr wrap="square" lIns="25400" tIns="25400" rIns="25400" bIns="25400" rtlCol="0" anchor="t">
            <a:normAutofit/>
          </a:bodyPr>
          <a:lstStyle/>
          <a:p>
            <a:pPr marL="0" indent="0" algn="l">
              <a:lnSpc>
                <a:spcPct val="104167"/>
              </a:lnSpc>
              <a:buNone/>
            </a:pPr>
            <a:r>
              <a:rPr lang="en-US" sz="2250" b="1" dirty="0">
                <a:solidFill>
                  <a:srgbClr val="14201B"/>
                </a:solidFill>
                <a:latin typeface="Inter" pitchFamily="34" charset="0"/>
                <a:ea typeface="Inter" pitchFamily="34" charset="-122"/>
                <a:cs typeface="Inter" pitchFamily="34" charset="-120"/>
              </a:rPr>
              <a:t>Running in the cloud, not on a laptop</a:t>
            </a:r>
            <a:endParaRPr lang="en-US" sz="2250" dirty="0"/>
          </a:p>
        </p:txBody>
      </p:sp>
      <p:sp>
        <p:nvSpPr>
          <p:cNvPr id="17" name="Text 14"/>
          <p:cNvSpPr/>
          <p:nvPr/>
        </p:nvSpPr>
        <p:spPr>
          <a:xfrm>
            <a:off x="13169057" y="4001244"/>
            <a:ext cx="282699" cy="1700213"/>
          </a:xfrm>
          <a:prstGeom prst="rect">
            <a:avLst/>
          </a:prstGeom>
          <a:noFill/>
          <a:ln/>
        </p:spPr>
        <p:txBody>
          <a:bodyPr wrap="square" lIns="25400" tIns="25400" rIns="25400" bIns="25400" rtlCol="0" anchor="ctr">
            <a:normAutofit/>
          </a:bodyPr>
          <a:lstStyle/>
          <a:p>
            <a:pPr marL="0" indent="0" algn="l">
              <a:buNone/>
            </a:pPr>
            <a:r>
              <a:rPr lang="en-US" sz="2700" dirty="0">
                <a:solidFill>
                  <a:srgbClr val="9EC5B3"/>
                </a:solidFill>
                <a:latin typeface="JetBrains Mono" pitchFamily="34" charset="0"/>
                <a:ea typeface="JetBrains Mono" pitchFamily="34" charset="-122"/>
                <a:cs typeface="JetBrains Mono" pitchFamily="34" charset="-120"/>
              </a:rPr>
              <a:t>→</a:t>
            </a:r>
            <a:endParaRPr lang="en-US" sz="2700" dirty="0"/>
          </a:p>
        </p:txBody>
      </p:sp>
      <p:sp>
        <p:nvSpPr>
          <p:cNvPr id="18" name="Shape 15"/>
          <p:cNvSpPr/>
          <p:nvPr/>
        </p:nvSpPr>
        <p:spPr>
          <a:xfrm>
            <a:off x="13527956" y="4001244"/>
            <a:ext cx="3617044" cy="1662113"/>
          </a:xfrm>
          <a:prstGeom prst="roundRect">
            <a:avLst>
              <a:gd name="adj" fmla="val 10315"/>
            </a:avLst>
          </a:prstGeom>
          <a:solidFill>
            <a:srgbClr val="003824"/>
          </a:solidFill>
          <a:ln/>
        </p:spPr>
        <p:txBody>
          <a:bodyPr/>
          <a:lstStyle/>
          <a:p>
            <a:endParaRPr lang="en-US"/>
          </a:p>
        </p:txBody>
      </p:sp>
      <p:sp>
        <p:nvSpPr>
          <p:cNvPr id="19" name="Text 16"/>
          <p:cNvSpPr/>
          <p:nvPr/>
        </p:nvSpPr>
        <p:spPr>
          <a:xfrm>
            <a:off x="13813706" y="4267944"/>
            <a:ext cx="3350099" cy="338138"/>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9EC5B3"/>
                </a:solidFill>
                <a:latin typeface="JetBrains Mono" pitchFamily="34" charset="0"/>
                <a:ea typeface="JetBrains Mono" pitchFamily="34" charset="-122"/>
                <a:cs typeface="JetBrains Mono" pitchFamily="34" charset="-120"/>
              </a:rPr>
              <a:t>HAND OVER</a:t>
            </a:r>
            <a:endParaRPr lang="en-US" sz="1800" dirty="0"/>
          </a:p>
        </p:txBody>
      </p:sp>
      <p:sp>
        <p:nvSpPr>
          <p:cNvPr id="20" name="Text 17"/>
          <p:cNvSpPr/>
          <p:nvPr/>
        </p:nvSpPr>
        <p:spPr>
          <a:xfrm>
            <a:off x="13813706" y="4663232"/>
            <a:ext cx="3136911" cy="752475"/>
          </a:xfrm>
          <a:prstGeom prst="rect">
            <a:avLst/>
          </a:prstGeom>
          <a:noFill/>
          <a:ln/>
        </p:spPr>
        <p:txBody>
          <a:bodyPr wrap="square" lIns="25400" tIns="25400" rIns="25400" bIns="25400" rtlCol="0" anchor="t">
            <a:normAutofit/>
          </a:bodyPr>
          <a:lstStyle/>
          <a:p>
            <a:pPr marL="0" indent="0" algn="l">
              <a:lnSpc>
                <a:spcPct val="104167"/>
              </a:lnSpc>
              <a:buNone/>
            </a:pPr>
            <a:r>
              <a:rPr lang="en-US" sz="2250" b="1" dirty="0">
                <a:solidFill>
                  <a:srgbClr val="FFFFFF"/>
                </a:solidFill>
                <a:latin typeface="Inter" pitchFamily="34" charset="0"/>
                <a:ea typeface="Inter" pitchFamily="34" charset="-122"/>
                <a:cs typeface="Inter" pitchFamily="34" charset="-120"/>
              </a:rPr>
              <a:t>A feature team owns it from here</a:t>
            </a:r>
            <a:endParaRPr lang="en-US" sz="2250" dirty="0"/>
          </a:p>
        </p:txBody>
      </p:sp>
      <p:sp>
        <p:nvSpPr>
          <p:cNvPr id="21" name="Shape 18"/>
          <p:cNvSpPr/>
          <p:nvPr/>
        </p:nvSpPr>
        <p:spPr>
          <a:xfrm>
            <a:off x="1143000" y="5930057"/>
            <a:ext cx="7886700" cy="28575"/>
          </a:xfrm>
          <a:prstGeom prst="rect">
            <a:avLst/>
          </a:prstGeom>
          <a:solidFill>
            <a:srgbClr val="006A4D"/>
          </a:solidFill>
          <a:ln/>
        </p:spPr>
        <p:txBody>
          <a:bodyPr/>
          <a:lstStyle/>
          <a:p>
            <a:endParaRPr lang="en-US"/>
          </a:p>
        </p:txBody>
      </p:sp>
      <p:sp>
        <p:nvSpPr>
          <p:cNvPr id="22" name="Text 19"/>
          <p:cNvSpPr/>
          <p:nvPr/>
        </p:nvSpPr>
        <p:spPr>
          <a:xfrm>
            <a:off x="1143000" y="6187232"/>
            <a:ext cx="8675370" cy="428625"/>
          </a:xfrm>
          <a:prstGeom prst="rect">
            <a:avLst/>
          </a:prstGeom>
          <a:noFill/>
          <a:ln/>
        </p:spPr>
        <p:txBody>
          <a:bodyPr wrap="square" lIns="25400" tIns="25400" rIns="25400" bIns="25400" rtlCol="0" anchor="t">
            <a:normAutofit/>
          </a:bodyPr>
          <a:lstStyle/>
          <a:p>
            <a:pPr marL="0" indent="0" algn="l">
              <a:buNone/>
            </a:pPr>
            <a:r>
              <a:rPr lang="en-US" sz="2550" b="1" dirty="0">
                <a:solidFill>
                  <a:srgbClr val="003824"/>
                </a:solidFill>
                <a:latin typeface="Inter" pitchFamily="34" charset="0"/>
                <a:ea typeface="Inter" pitchFamily="34" charset="-122"/>
                <a:cs typeface="Inter" pitchFamily="34" charset="-120"/>
              </a:rPr>
              <a:t>Initial build work</a:t>
            </a:r>
            <a:endParaRPr lang="en-US" sz="2550" dirty="0"/>
          </a:p>
        </p:txBody>
      </p:sp>
      <p:sp>
        <p:nvSpPr>
          <p:cNvPr id="23" name="Text 20"/>
          <p:cNvSpPr/>
          <p:nvPr/>
        </p:nvSpPr>
        <p:spPr>
          <a:xfrm>
            <a:off x="1143000" y="6673007"/>
            <a:ext cx="8123301" cy="838200"/>
          </a:xfrm>
          <a:prstGeom prst="rect">
            <a:avLst/>
          </a:prstGeom>
          <a:noFill/>
          <a:ln/>
        </p:spPr>
        <p:txBody>
          <a:bodyPr wrap="square" lIns="25400" tIns="25400" rIns="25400" bIns="25400" rtlCol="0" anchor="t">
            <a:normAutofit/>
          </a:bodyPr>
          <a:lstStyle/>
          <a:p>
            <a:pPr marL="0" indent="0" algn="l">
              <a:lnSpc>
                <a:spcPct val="116667"/>
              </a:lnSpc>
              <a:buNone/>
            </a:pPr>
            <a:r>
              <a:rPr lang="en-US" sz="2250" dirty="0">
                <a:solidFill>
                  <a:srgbClr val="3B4A44"/>
                </a:solidFill>
                <a:latin typeface="Inter" pitchFamily="34" charset="0"/>
                <a:ea typeface="Inter" pitchFamily="34" charset="-122"/>
                <a:cs typeface="Inter" pitchFamily="34" charset="-120"/>
              </a:rPr>
              <a:t>Repo, pipeline, infrastructure and a first service for a feature team, then we step back.</a:t>
            </a:r>
            <a:endParaRPr lang="en-US" sz="2250" dirty="0"/>
          </a:p>
        </p:txBody>
      </p:sp>
      <p:sp>
        <p:nvSpPr>
          <p:cNvPr id="24" name="Shape 21"/>
          <p:cNvSpPr/>
          <p:nvPr/>
        </p:nvSpPr>
        <p:spPr>
          <a:xfrm>
            <a:off x="9258300" y="5930057"/>
            <a:ext cx="7886700" cy="28575"/>
          </a:xfrm>
          <a:prstGeom prst="rect">
            <a:avLst/>
          </a:prstGeom>
          <a:solidFill>
            <a:srgbClr val="9EC5B3"/>
          </a:solidFill>
          <a:ln/>
        </p:spPr>
        <p:txBody>
          <a:bodyPr/>
          <a:lstStyle/>
          <a:p>
            <a:endParaRPr lang="en-US"/>
          </a:p>
        </p:txBody>
      </p:sp>
      <p:sp>
        <p:nvSpPr>
          <p:cNvPr id="25" name="Text 22"/>
          <p:cNvSpPr/>
          <p:nvPr/>
        </p:nvSpPr>
        <p:spPr>
          <a:xfrm>
            <a:off x="9258300" y="6187232"/>
            <a:ext cx="8675370" cy="428625"/>
          </a:xfrm>
          <a:prstGeom prst="rect">
            <a:avLst/>
          </a:prstGeom>
          <a:noFill/>
          <a:ln/>
        </p:spPr>
        <p:txBody>
          <a:bodyPr wrap="square" lIns="25400" tIns="25400" rIns="25400" bIns="25400" rtlCol="0" anchor="t">
            <a:normAutofit/>
          </a:bodyPr>
          <a:lstStyle/>
          <a:p>
            <a:pPr marL="0" indent="0" algn="l">
              <a:buNone/>
            </a:pPr>
            <a:r>
              <a:rPr lang="en-US" sz="2550" b="1" dirty="0">
                <a:solidFill>
                  <a:srgbClr val="003824"/>
                </a:solidFill>
                <a:latin typeface="Inter" pitchFamily="34" charset="0"/>
                <a:ea typeface="Inter" pitchFamily="34" charset="-122"/>
                <a:cs typeface="Inter" pitchFamily="34" charset="-120"/>
              </a:rPr>
              <a:t>Golden path onboarding</a:t>
            </a:r>
            <a:endParaRPr lang="en-US" sz="2550" dirty="0"/>
          </a:p>
        </p:txBody>
      </p:sp>
      <p:sp>
        <p:nvSpPr>
          <p:cNvPr id="26" name="Text 23"/>
          <p:cNvSpPr/>
          <p:nvPr/>
        </p:nvSpPr>
        <p:spPr>
          <a:xfrm>
            <a:off x="9258300" y="6673007"/>
            <a:ext cx="8123301" cy="838200"/>
          </a:xfrm>
          <a:prstGeom prst="rect">
            <a:avLst/>
          </a:prstGeom>
          <a:noFill/>
          <a:ln/>
        </p:spPr>
        <p:txBody>
          <a:bodyPr wrap="square" lIns="25400" tIns="25400" rIns="25400" bIns="25400" rtlCol="0" anchor="t">
            <a:normAutofit/>
          </a:bodyPr>
          <a:lstStyle/>
          <a:p>
            <a:pPr marL="0" indent="0" algn="l">
              <a:lnSpc>
                <a:spcPct val="116667"/>
              </a:lnSpc>
              <a:buNone/>
            </a:pPr>
            <a:r>
              <a:rPr lang="en-US" sz="2250" dirty="0">
                <a:solidFill>
                  <a:srgbClr val="3B4A44"/>
                </a:solidFill>
                <a:latin typeface="Inter" pitchFamily="34" charset="0"/>
                <a:ea typeface="Inter" pitchFamily="34" charset="-122"/>
                <a:cs typeface="Inter" pitchFamily="34" charset="-120"/>
              </a:rPr>
              <a:t>We help lab teams adopt the golden paths and keep up to date as new ones are released.</a:t>
            </a:r>
            <a:endParaRPr lang="en-US" sz="2250" dirty="0"/>
          </a:p>
        </p:txBody>
      </p:sp>
      <p:sp>
        <p:nvSpPr>
          <p:cNvPr id="27" name="Shape 24"/>
          <p:cNvSpPr/>
          <p:nvPr/>
        </p:nvSpPr>
        <p:spPr>
          <a:xfrm>
            <a:off x="1143000" y="8176320"/>
            <a:ext cx="16002000" cy="1158180"/>
          </a:xfrm>
          <a:prstGeom prst="roundRect">
            <a:avLst>
              <a:gd name="adj" fmla="val 13159"/>
            </a:avLst>
          </a:prstGeom>
          <a:solidFill>
            <a:srgbClr val="FBF3EA"/>
          </a:solidFill>
          <a:ln w="9525">
            <a:solidFill>
              <a:srgbClr val="EFDCC6"/>
            </a:solidFill>
            <a:prstDash val="solid"/>
          </a:ln>
        </p:spPr>
        <p:txBody>
          <a:bodyPr/>
          <a:lstStyle/>
          <a:p>
            <a:endParaRPr lang="en-US"/>
          </a:p>
        </p:txBody>
      </p:sp>
      <p:sp>
        <p:nvSpPr>
          <p:cNvPr id="28" name="Shape 25"/>
          <p:cNvSpPr/>
          <p:nvPr/>
        </p:nvSpPr>
        <p:spPr>
          <a:xfrm>
            <a:off x="1457325" y="8529191"/>
            <a:ext cx="2792016" cy="452438"/>
          </a:xfrm>
          <a:prstGeom prst="roundRect">
            <a:avLst>
              <a:gd name="adj" fmla="val 50000"/>
            </a:avLst>
          </a:prstGeom>
          <a:solidFill>
            <a:srgbClr val="F4E2CF"/>
          </a:solidFill>
          <a:ln/>
        </p:spPr>
        <p:txBody>
          <a:bodyPr/>
          <a:lstStyle/>
          <a:p>
            <a:endParaRPr lang="en-US"/>
          </a:p>
        </p:txBody>
      </p:sp>
      <p:sp>
        <p:nvSpPr>
          <p:cNvPr id="29" name="Text 26"/>
          <p:cNvSpPr/>
          <p:nvPr/>
        </p:nvSpPr>
        <p:spPr>
          <a:xfrm>
            <a:off x="1609725" y="8605391"/>
            <a:ext cx="2570976" cy="338138"/>
          </a:xfrm>
          <a:prstGeom prst="rect">
            <a:avLst/>
          </a:prstGeom>
          <a:noFill/>
          <a:ln/>
        </p:spPr>
        <p:txBody>
          <a:bodyPr wrap="none" lIns="25400" tIns="25400" rIns="25400" bIns="25400" rtlCol="0" anchor="t">
            <a:normAutofit/>
          </a:bodyPr>
          <a:lstStyle/>
          <a:p>
            <a:pPr marL="0" indent="0" algn="l">
              <a:buNone/>
            </a:pPr>
            <a:r>
              <a:rPr lang="en-US" sz="1800" kern="0" spc="144" dirty="0">
                <a:solidFill>
                  <a:srgbClr val="B5651D"/>
                </a:solidFill>
                <a:latin typeface="JetBrains Mono" pitchFamily="34" charset="0"/>
                <a:ea typeface="JetBrains Mono" pitchFamily="34" charset="-122"/>
                <a:cs typeface="JetBrains Mono" pitchFamily="34" charset="-120"/>
              </a:rPr>
              <a:t>WHAT WE DON'T DO</a:t>
            </a:r>
            <a:endParaRPr lang="en-US" sz="1800" dirty="0"/>
          </a:p>
        </p:txBody>
      </p:sp>
      <p:sp>
        <p:nvSpPr>
          <p:cNvPr id="30" name="Text 27"/>
          <p:cNvSpPr/>
          <p:nvPr/>
        </p:nvSpPr>
        <p:spPr>
          <a:xfrm>
            <a:off x="4458891" y="8395395"/>
            <a:ext cx="12742938" cy="758130"/>
          </a:xfrm>
          <a:prstGeom prst="rect">
            <a:avLst/>
          </a:prstGeom>
          <a:noFill/>
          <a:ln/>
        </p:spPr>
        <p:txBody>
          <a:bodyPr wrap="square" lIns="25400" tIns="25400" rIns="25400" bIns="25400" rtlCol="0" anchor="t">
            <a:normAutofit/>
          </a:bodyPr>
          <a:lstStyle/>
          <a:p>
            <a:pPr marL="0" indent="0" algn="l">
              <a:lnSpc>
                <a:spcPct val="111176"/>
              </a:lnSpc>
              <a:buNone/>
            </a:pPr>
            <a:r>
              <a:rPr lang="en-US" sz="2100" dirty="0">
                <a:solidFill>
                  <a:srgbClr val="14201B"/>
                </a:solidFill>
                <a:latin typeface="Inter" pitchFamily="34" charset="0"/>
                <a:ea typeface="Inter" pitchFamily="34" charset="-122"/>
                <a:cs typeface="Inter" pitchFamily="34" charset="-120"/>
              </a:rPr>
              <a:t>Create the golden paths (the central teams provide them) or own prototypes long term. Feature teams take them over.</a:t>
            </a:r>
            <a:endParaRPr lang="en-US" sz="2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3824"/>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3000" y="957263"/>
            <a:ext cx="342900" cy="342900"/>
          </a:xfrm>
          <a:prstGeom prst="rect">
            <a:avLst/>
          </a:prstGeom>
        </p:spPr>
      </p:pic>
      <p:sp>
        <p:nvSpPr>
          <p:cNvPr id="3" name="Text 0"/>
          <p:cNvSpPr/>
          <p:nvPr/>
        </p:nvSpPr>
        <p:spPr>
          <a:xfrm>
            <a:off x="1638300" y="952500"/>
            <a:ext cx="5351056" cy="390525"/>
          </a:xfrm>
          <a:prstGeom prst="rect">
            <a:avLst/>
          </a:prstGeom>
          <a:noFill/>
          <a:ln/>
        </p:spPr>
        <p:txBody>
          <a:bodyPr wrap="square" lIns="25400" tIns="25400" rIns="25400" bIns="25400" rtlCol="0" anchor="t">
            <a:normAutofit/>
          </a:bodyPr>
          <a:lstStyle/>
          <a:p>
            <a:pPr marL="0" indent="0" algn="l">
              <a:buNone/>
            </a:pPr>
            <a:r>
              <a:rPr lang="en-US" sz="2100" kern="0" spc="336" dirty="0">
                <a:solidFill>
                  <a:srgbClr val="9EC5B3"/>
                </a:solidFill>
                <a:latin typeface="JetBrains Mono" pitchFamily="34" charset="0"/>
                <a:ea typeface="JetBrains Mono" pitchFamily="34" charset="-122"/>
                <a:cs typeface="JetBrains Mono" pitchFamily="34" charset="-120"/>
              </a:rPr>
              <a:t>02 · PIPELINES &amp; QUALITY</a:t>
            </a:r>
            <a:endParaRPr lang="en-US" sz="2100" dirty="0"/>
          </a:p>
        </p:txBody>
      </p:sp>
      <p:sp>
        <p:nvSpPr>
          <p:cNvPr id="4" name="Shape 1"/>
          <p:cNvSpPr/>
          <p:nvPr/>
        </p:nvSpPr>
        <p:spPr>
          <a:xfrm>
            <a:off x="1143000" y="1533525"/>
            <a:ext cx="685800" cy="47625"/>
          </a:xfrm>
          <a:prstGeom prst="roundRect">
            <a:avLst>
              <a:gd name="adj" fmla="val 40000"/>
            </a:avLst>
          </a:prstGeom>
          <a:solidFill>
            <a:srgbClr val="9EC5B3"/>
          </a:solidFill>
          <a:ln/>
        </p:spPr>
        <p:txBody>
          <a:bodyPr/>
          <a:lstStyle/>
          <a:p>
            <a:endParaRPr lang="en-US"/>
          </a:p>
        </p:txBody>
      </p:sp>
      <p:sp>
        <p:nvSpPr>
          <p:cNvPr id="5" name="Text 2"/>
          <p:cNvSpPr/>
          <p:nvPr/>
        </p:nvSpPr>
        <p:spPr>
          <a:xfrm>
            <a:off x="1143000" y="2000250"/>
            <a:ext cx="17602200" cy="790947"/>
          </a:xfrm>
          <a:prstGeom prst="rect">
            <a:avLst/>
          </a:prstGeom>
          <a:noFill/>
          <a:ln/>
        </p:spPr>
        <p:txBody>
          <a:bodyPr wrap="square" lIns="25400" tIns="25400" rIns="25400" bIns="25400" rtlCol="0" anchor="t">
            <a:normAutofit/>
          </a:bodyPr>
          <a:lstStyle/>
          <a:p>
            <a:pPr marL="0" indent="0" algn="l">
              <a:lnSpc>
                <a:spcPct val="85913"/>
              </a:lnSpc>
              <a:buNone/>
            </a:pPr>
            <a:r>
              <a:rPr lang="en-US" sz="5700" b="1" kern="0" spc="-114" dirty="0">
                <a:solidFill>
                  <a:srgbClr val="FFFFFF"/>
                </a:solidFill>
                <a:latin typeface="Inter" pitchFamily="34" charset="0"/>
                <a:ea typeface="Inter" pitchFamily="34" charset="-122"/>
                <a:cs typeface="Inter" pitchFamily="34" charset="-120"/>
              </a:rPr>
              <a:t>We help teams move from Jenkins to Harness.</a:t>
            </a:r>
            <a:endParaRPr lang="en-US" sz="5700" dirty="0"/>
          </a:p>
        </p:txBody>
      </p:sp>
      <p:sp>
        <p:nvSpPr>
          <p:cNvPr id="6" name="Shape 3"/>
          <p:cNvSpPr/>
          <p:nvPr/>
        </p:nvSpPr>
        <p:spPr>
          <a:xfrm>
            <a:off x="1143000" y="3248397"/>
            <a:ext cx="7596634" cy="2505075"/>
          </a:xfrm>
          <a:prstGeom prst="roundRect">
            <a:avLst>
              <a:gd name="adj" fmla="val 7605"/>
            </a:avLst>
          </a:prstGeom>
          <a:solidFill>
            <a:srgbClr val="0A4A31"/>
          </a:solidFill>
          <a:ln/>
        </p:spPr>
        <p:txBody>
          <a:bodyPr/>
          <a:lstStyle/>
          <a:p>
            <a:endParaRPr lang="en-US"/>
          </a:p>
        </p:txBody>
      </p:sp>
      <p:sp>
        <p:nvSpPr>
          <p:cNvPr id="7" name="Text 4"/>
          <p:cNvSpPr/>
          <p:nvPr/>
        </p:nvSpPr>
        <p:spPr>
          <a:xfrm>
            <a:off x="1524000" y="3591297"/>
            <a:ext cx="7518097" cy="338138"/>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9EC5B3"/>
                </a:solidFill>
                <a:latin typeface="JetBrains Mono" pitchFamily="34" charset="0"/>
                <a:ea typeface="JetBrains Mono" pitchFamily="34" charset="-122"/>
                <a:cs typeface="JetBrains Mono" pitchFamily="34" charset="-120"/>
              </a:rPr>
              <a:t>JENKINS TODAY</a:t>
            </a:r>
            <a:endParaRPr lang="en-US" sz="1800" dirty="0"/>
          </a:p>
        </p:txBody>
      </p:sp>
      <p:sp>
        <p:nvSpPr>
          <p:cNvPr id="8" name="Text 5"/>
          <p:cNvSpPr/>
          <p:nvPr/>
        </p:nvSpPr>
        <p:spPr>
          <a:xfrm>
            <a:off x="1524000" y="4081835"/>
            <a:ext cx="7518097" cy="404813"/>
          </a:xfrm>
          <a:prstGeom prst="rect">
            <a:avLst/>
          </a:prstGeom>
          <a:noFill/>
          <a:ln/>
        </p:spPr>
        <p:txBody>
          <a:bodyPr wrap="square" lIns="25400" tIns="25400" rIns="25400" bIns="25400" rtlCol="0" anchor="t">
            <a:normAutofit/>
          </a:bodyPr>
          <a:lstStyle/>
          <a:p>
            <a:pPr marL="0" indent="0" algn="l">
              <a:buNone/>
            </a:pPr>
            <a:r>
              <a:rPr lang="en-US" sz="2400" dirty="0">
                <a:solidFill>
                  <a:srgbClr val="EAF4EF"/>
                </a:solidFill>
                <a:latin typeface="Inter" pitchFamily="34" charset="0"/>
                <a:ea typeface="Inter" pitchFamily="34" charset="-122"/>
                <a:cs typeface="Inter" pitchFamily="34" charset="-120"/>
              </a:rPr>
              <a:t>Bespoke Jenkinsfiles per repo</a:t>
            </a:r>
            <a:endParaRPr lang="en-US" sz="2400" dirty="0"/>
          </a:p>
        </p:txBody>
      </p:sp>
      <p:sp>
        <p:nvSpPr>
          <p:cNvPr id="9" name="Text 6"/>
          <p:cNvSpPr/>
          <p:nvPr/>
        </p:nvSpPr>
        <p:spPr>
          <a:xfrm>
            <a:off x="1524000" y="4562847"/>
            <a:ext cx="7518097" cy="404813"/>
          </a:xfrm>
          <a:prstGeom prst="rect">
            <a:avLst/>
          </a:prstGeom>
          <a:noFill/>
          <a:ln/>
        </p:spPr>
        <p:txBody>
          <a:bodyPr wrap="square" lIns="25400" tIns="25400" rIns="25400" bIns="25400" rtlCol="0" anchor="t">
            <a:normAutofit/>
          </a:bodyPr>
          <a:lstStyle/>
          <a:p>
            <a:pPr marL="0" indent="0" algn="l">
              <a:buNone/>
            </a:pPr>
            <a:r>
              <a:rPr lang="en-US" sz="2400" dirty="0">
                <a:solidFill>
                  <a:srgbClr val="EAF4EF"/>
                </a:solidFill>
                <a:latin typeface="Inter" pitchFamily="34" charset="0"/>
                <a:ea typeface="Inter" pitchFamily="34" charset="-122"/>
                <a:cs typeface="Inter" pitchFamily="34" charset="-120"/>
              </a:rPr>
              <a:t>Copy-pasted shared steps</a:t>
            </a:r>
            <a:endParaRPr lang="en-US" sz="2400" dirty="0"/>
          </a:p>
        </p:txBody>
      </p:sp>
      <p:sp>
        <p:nvSpPr>
          <p:cNvPr id="10" name="Text 7"/>
          <p:cNvSpPr/>
          <p:nvPr/>
        </p:nvSpPr>
        <p:spPr>
          <a:xfrm>
            <a:off x="1524000" y="5043860"/>
            <a:ext cx="7518097" cy="404813"/>
          </a:xfrm>
          <a:prstGeom prst="rect">
            <a:avLst/>
          </a:prstGeom>
          <a:noFill/>
          <a:ln/>
        </p:spPr>
        <p:txBody>
          <a:bodyPr wrap="square" lIns="25400" tIns="25400" rIns="25400" bIns="25400" rtlCol="0" anchor="t">
            <a:normAutofit/>
          </a:bodyPr>
          <a:lstStyle/>
          <a:p>
            <a:pPr marL="0" indent="0" algn="l">
              <a:buNone/>
            </a:pPr>
            <a:r>
              <a:rPr lang="en-US" sz="2400" dirty="0">
                <a:solidFill>
                  <a:srgbClr val="EAF4EF"/>
                </a:solidFill>
                <a:latin typeface="Inter" pitchFamily="34" charset="0"/>
                <a:ea typeface="Inter" pitchFamily="34" charset="-122"/>
                <a:cs typeface="Inter" pitchFamily="34" charset="-120"/>
              </a:rPr>
              <a:t>Plugin and agent upkeep</a:t>
            </a:r>
            <a:endParaRPr lang="en-US" sz="2400" dirty="0"/>
          </a:p>
        </p:txBody>
      </p:sp>
      <p:sp>
        <p:nvSpPr>
          <p:cNvPr id="11" name="Text 8"/>
          <p:cNvSpPr/>
          <p:nvPr/>
        </p:nvSpPr>
        <p:spPr>
          <a:xfrm>
            <a:off x="9006334" y="3248397"/>
            <a:ext cx="351458" cy="2543175"/>
          </a:xfrm>
          <a:prstGeom prst="rect">
            <a:avLst/>
          </a:prstGeom>
          <a:noFill/>
          <a:ln/>
        </p:spPr>
        <p:txBody>
          <a:bodyPr wrap="square" lIns="25400" tIns="25400" rIns="25400" bIns="25400" rtlCol="0" anchor="ctr">
            <a:normAutofit/>
          </a:bodyPr>
          <a:lstStyle/>
          <a:p>
            <a:pPr marL="0" indent="0" algn="l">
              <a:buNone/>
            </a:pPr>
            <a:r>
              <a:rPr lang="en-US" sz="3600" dirty="0">
                <a:solidFill>
                  <a:srgbClr val="9EC5B3"/>
                </a:solidFill>
                <a:latin typeface="JetBrains Mono" pitchFamily="34" charset="0"/>
                <a:ea typeface="JetBrains Mono" pitchFamily="34" charset="-122"/>
                <a:cs typeface="JetBrains Mono" pitchFamily="34" charset="-120"/>
              </a:rPr>
              <a:t>→</a:t>
            </a:r>
            <a:endParaRPr lang="en-US" sz="3600" dirty="0"/>
          </a:p>
        </p:txBody>
      </p:sp>
      <p:sp>
        <p:nvSpPr>
          <p:cNvPr id="12" name="Shape 9"/>
          <p:cNvSpPr/>
          <p:nvPr/>
        </p:nvSpPr>
        <p:spPr>
          <a:xfrm>
            <a:off x="9548292" y="3248397"/>
            <a:ext cx="7596708" cy="2505075"/>
          </a:xfrm>
          <a:prstGeom prst="roundRect">
            <a:avLst>
              <a:gd name="adj" fmla="val 7605"/>
            </a:avLst>
          </a:prstGeom>
          <a:solidFill>
            <a:srgbClr val="9EC5B3"/>
          </a:solidFill>
          <a:ln/>
        </p:spPr>
        <p:txBody>
          <a:bodyPr/>
          <a:lstStyle/>
          <a:p>
            <a:endParaRPr lang="en-US"/>
          </a:p>
        </p:txBody>
      </p:sp>
      <p:sp>
        <p:nvSpPr>
          <p:cNvPr id="13" name="Text 10"/>
          <p:cNvSpPr/>
          <p:nvPr/>
        </p:nvSpPr>
        <p:spPr>
          <a:xfrm>
            <a:off x="9929292" y="3591297"/>
            <a:ext cx="7518179" cy="338138"/>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0A4A31"/>
                </a:solidFill>
                <a:latin typeface="JetBrains Mono" pitchFamily="34" charset="0"/>
                <a:ea typeface="JetBrains Mono" pitchFamily="34" charset="-122"/>
                <a:cs typeface="JetBrains Mono" pitchFamily="34" charset="-120"/>
              </a:rPr>
              <a:t>HARNESS TARGET</a:t>
            </a:r>
            <a:endParaRPr lang="en-US" sz="1800" dirty="0"/>
          </a:p>
        </p:txBody>
      </p:sp>
      <p:sp>
        <p:nvSpPr>
          <p:cNvPr id="14" name="Text 11"/>
          <p:cNvSpPr/>
          <p:nvPr/>
        </p:nvSpPr>
        <p:spPr>
          <a:xfrm>
            <a:off x="9929292" y="4081835"/>
            <a:ext cx="7518179" cy="404813"/>
          </a:xfrm>
          <a:prstGeom prst="rect">
            <a:avLst/>
          </a:prstGeom>
          <a:noFill/>
          <a:ln/>
        </p:spPr>
        <p:txBody>
          <a:bodyPr wrap="square" lIns="25400" tIns="25400" rIns="25400" bIns="25400" rtlCol="0" anchor="t">
            <a:normAutofit/>
          </a:bodyPr>
          <a:lstStyle/>
          <a:p>
            <a:pPr marL="0" indent="0" algn="l">
              <a:buNone/>
            </a:pPr>
            <a:r>
              <a:rPr lang="en-US" sz="2400" dirty="0">
                <a:solidFill>
                  <a:srgbClr val="003824"/>
                </a:solidFill>
                <a:latin typeface="Inter" pitchFamily="34" charset="0"/>
                <a:ea typeface="Inter" pitchFamily="34" charset="-122"/>
                <a:cs typeface="Inter" pitchFamily="34" charset="-120"/>
              </a:rPr>
              <a:t>Shared pipeline templates</a:t>
            </a:r>
            <a:endParaRPr lang="en-US" sz="2400" dirty="0"/>
          </a:p>
        </p:txBody>
      </p:sp>
      <p:sp>
        <p:nvSpPr>
          <p:cNvPr id="15" name="Text 12"/>
          <p:cNvSpPr/>
          <p:nvPr/>
        </p:nvSpPr>
        <p:spPr>
          <a:xfrm>
            <a:off x="9929292" y="4562847"/>
            <a:ext cx="7518179" cy="404813"/>
          </a:xfrm>
          <a:prstGeom prst="rect">
            <a:avLst/>
          </a:prstGeom>
          <a:noFill/>
          <a:ln/>
        </p:spPr>
        <p:txBody>
          <a:bodyPr wrap="square" lIns="25400" tIns="25400" rIns="25400" bIns="25400" rtlCol="0" anchor="t">
            <a:normAutofit/>
          </a:bodyPr>
          <a:lstStyle/>
          <a:p>
            <a:pPr marL="0" indent="0" algn="l">
              <a:buNone/>
            </a:pPr>
            <a:r>
              <a:rPr lang="en-US" sz="2400" dirty="0">
                <a:solidFill>
                  <a:srgbClr val="003824"/>
                </a:solidFill>
                <a:latin typeface="Inter" pitchFamily="34" charset="0"/>
                <a:ea typeface="Inter" pitchFamily="34" charset="-122"/>
                <a:cs typeface="Inter" pitchFamily="34" charset="-120"/>
              </a:rPr>
              <a:t>Reusable steps and policies</a:t>
            </a:r>
            <a:endParaRPr lang="en-US" sz="2400" dirty="0"/>
          </a:p>
        </p:txBody>
      </p:sp>
      <p:sp>
        <p:nvSpPr>
          <p:cNvPr id="16" name="Text 13"/>
          <p:cNvSpPr/>
          <p:nvPr/>
        </p:nvSpPr>
        <p:spPr>
          <a:xfrm>
            <a:off x="9929292" y="5043860"/>
            <a:ext cx="7518179" cy="404813"/>
          </a:xfrm>
          <a:prstGeom prst="rect">
            <a:avLst/>
          </a:prstGeom>
          <a:noFill/>
          <a:ln/>
        </p:spPr>
        <p:txBody>
          <a:bodyPr wrap="square" lIns="25400" tIns="25400" rIns="25400" bIns="25400" rtlCol="0" anchor="t">
            <a:normAutofit/>
          </a:bodyPr>
          <a:lstStyle/>
          <a:p>
            <a:pPr marL="0" indent="0" algn="l">
              <a:buNone/>
            </a:pPr>
            <a:r>
              <a:rPr lang="en-US" sz="2400" dirty="0">
                <a:solidFill>
                  <a:srgbClr val="003824"/>
                </a:solidFill>
                <a:latin typeface="Inter" pitchFamily="34" charset="0"/>
                <a:ea typeface="Inter" pitchFamily="34" charset="-122"/>
                <a:cs typeface="Inter" pitchFamily="34" charset="-120"/>
              </a:rPr>
              <a:t>Built-in approvals and deploy strategies</a:t>
            </a:r>
            <a:endParaRPr lang="en-US" sz="2400" dirty="0"/>
          </a:p>
        </p:txBody>
      </p:sp>
      <p:sp>
        <p:nvSpPr>
          <p:cNvPr id="17" name="Shape 14"/>
          <p:cNvSpPr/>
          <p:nvPr/>
        </p:nvSpPr>
        <p:spPr>
          <a:xfrm>
            <a:off x="1143000" y="6134472"/>
            <a:ext cx="3857625" cy="19050"/>
          </a:xfrm>
          <a:prstGeom prst="rect">
            <a:avLst/>
          </a:prstGeom>
          <a:solidFill>
            <a:srgbClr val="9EC5B3"/>
          </a:solidFill>
          <a:ln/>
        </p:spPr>
        <p:txBody>
          <a:bodyPr/>
          <a:lstStyle/>
          <a:p>
            <a:endParaRPr lang="en-US"/>
          </a:p>
        </p:txBody>
      </p:sp>
      <p:sp>
        <p:nvSpPr>
          <p:cNvPr id="18" name="Text 15"/>
          <p:cNvSpPr/>
          <p:nvPr/>
        </p:nvSpPr>
        <p:spPr>
          <a:xfrm>
            <a:off x="1143000" y="6344022"/>
            <a:ext cx="4243388" cy="366713"/>
          </a:xfrm>
          <a:prstGeom prst="rect">
            <a:avLst/>
          </a:prstGeom>
          <a:noFill/>
          <a:ln/>
        </p:spPr>
        <p:txBody>
          <a:bodyPr wrap="square" lIns="25400" tIns="25400" rIns="25400" bIns="25400" rtlCol="0" anchor="t">
            <a:normAutofit/>
          </a:bodyPr>
          <a:lstStyle/>
          <a:p>
            <a:pPr marL="0" indent="0" algn="l">
              <a:buNone/>
            </a:pPr>
            <a:r>
              <a:rPr lang="en-US" sz="1950" dirty="0">
                <a:solidFill>
                  <a:srgbClr val="9EC5B3"/>
                </a:solidFill>
                <a:latin typeface="JetBrains Mono" pitchFamily="34" charset="0"/>
                <a:ea typeface="JetBrains Mono" pitchFamily="34" charset="-122"/>
                <a:cs typeface="JetBrains Mono" pitchFamily="34" charset="-120"/>
              </a:rPr>
              <a:t>1</a:t>
            </a:r>
            <a:endParaRPr lang="en-US" sz="1950" dirty="0"/>
          </a:p>
        </p:txBody>
      </p:sp>
      <p:sp>
        <p:nvSpPr>
          <p:cNvPr id="19" name="Text 16"/>
          <p:cNvSpPr/>
          <p:nvPr/>
        </p:nvSpPr>
        <p:spPr>
          <a:xfrm>
            <a:off x="1143000" y="6748835"/>
            <a:ext cx="4243388" cy="381000"/>
          </a:xfrm>
          <a:prstGeom prst="rect">
            <a:avLst/>
          </a:prstGeom>
          <a:noFill/>
          <a:ln/>
        </p:spPr>
        <p:txBody>
          <a:bodyPr wrap="square" lIns="25400" tIns="25400" rIns="25400" bIns="25400" rtlCol="0" anchor="t">
            <a:normAutofit/>
          </a:bodyPr>
          <a:lstStyle/>
          <a:p>
            <a:pPr marL="0" indent="0" algn="l">
              <a:buNone/>
            </a:pPr>
            <a:r>
              <a:rPr lang="en-US" sz="2250" b="1" dirty="0">
                <a:solidFill>
                  <a:srgbClr val="FFFFFF"/>
                </a:solidFill>
                <a:latin typeface="Inter" pitchFamily="34" charset="0"/>
                <a:ea typeface="Inter" pitchFamily="34" charset="-122"/>
                <a:cs typeface="Inter" pitchFamily="34" charset="-120"/>
              </a:rPr>
              <a:t>Assess current pipelines</a:t>
            </a:r>
            <a:endParaRPr lang="en-US" sz="2250" dirty="0"/>
          </a:p>
        </p:txBody>
      </p:sp>
      <p:sp>
        <p:nvSpPr>
          <p:cNvPr id="20" name="Shape 17"/>
          <p:cNvSpPr/>
          <p:nvPr/>
        </p:nvSpPr>
        <p:spPr>
          <a:xfrm>
            <a:off x="5191125" y="6134472"/>
            <a:ext cx="3857625" cy="19050"/>
          </a:xfrm>
          <a:prstGeom prst="rect">
            <a:avLst/>
          </a:prstGeom>
          <a:solidFill>
            <a:srgbClr val="9EC5B3"/>
          </a:solidFill>
          <a:ln/>
        </p:spPr>
        <p:txBody>
          <a:bodyPr/>
          <a:lstStyle/>
          <a:p>
            <a:endParaRPr lang="en-US"/>
          </a:p>
        </p:txBody>
      </p:sp>
      <p:sp>
        <p:nvSpPr>
          <p:cNvPr id="21" name="Text 18"/>
          <p:cNvSpPr/>
          <p:nvPr/>
        </p:nvSpPr>
        <p:spPr>
          <a:xfrm>
            <a:off x="5191125" y="6344022"/>
            <a:ext cx="4243388" cy="366713"/>
          </a:xfrm>
          <a:prstGeom prst="rect">
            <a:avLst/>
          </a:prstGeom>
          <a:noFill/>
          <a:ln/>
        </p:spPr>
        <p:txBody>
          <a:bodyPr wrap="square" lIns="25400" tIns="25400" rIns="25400" bIns="25400" rtlCol="0" anchor="t">
            <a:normAutofit/>
          </a:bodyPr>
          <a:lstStyle/>
          <a:p>
            <a:pPr marL="0" indent="0" algn="l">
              <a:buNone/>
            </a:pPr>
            <a:r>
              <a:rPr lang="en-US" sz="1950" dirty="0">
                <a:solidFill>
                  <a:srgbClr val="9EC5B3"/>
                </a:solidFill>
                <a:latin typeface="JetBrains Mono" pitchFamily="34" charset="0"/>
                <a:ea typeface="JetBrains Mono" pitchFamily="34" charset="-122"/>
                <a:cs typeface="JetBrains Mono" pitchFamily="34" charset="-120"/>
              </a:rPr>
              <a:t>2</a:t>
            </a:r>
            <a:endParaRPr lang="en-US" sz="1950" dirty="0"/>
          </a:p>
        </p:txBody>
      </p:sp>
      <p:sp>
        <p:nvSpPr>
          <p:cNvPr id="22" name="Text 19"/>
          <p:cNvSpPr/>
          <p:nvPr/>
        </p:nvSpPr>
        <p:spPr>
          <a:xfrm>
            <a:off x="5191125" y="6748835"/>
            <a:ext cx="4243388" cy="381000"/>
          </a:xfrm>
          <a:prstGeom prst="rect">
            <a:avLst/>
          </a:prstGeom>
          <a:noFill/>
          <a:ln/>
        </p:spPr>
        <p:txBody>
          <a:bodyPr wrap="square" lIns="25400" tIns="25400" rIns="25400" bIns="25400" rtlCol="0" anchor="t">
            <a:normAutofit/>
          </a:bodyPr>
          <a:lstStyle/>
          <a:p>
            <a:pPr marL="0" indent="0" algn="l">
              <a:buNone/>
            </a:pPr>
            <a:r>
              <a:rPr lang="en-US" sz="2250" b="1" dirty="0">
                <a:solidFill>
                  <a:srgbClr val="FFFFFF"/>
                </a:solidFill>
                <a:latin typeface="Inter" pitchFamily="34" charset="0"/>
                <a:ea typeface="Inter" pitchFamily="34" charset="-122"/>
                <a:cs typeface="Inter" pitchFamily="34" charset="-120"/>
              </a:rPr>
              <a:t>Map to Harness templates</a:t>
            </a:r>
            <a:endParaRPr lang="en-US" sz="2250" dirty="0"/>
          </a:p>
        </p:txBody>
      </p:sp>
      <p:sp>
        <p:nvSpPr>
          <p:cNvPr id="23" name="Shape 20"/>
          <p:cNvSpPr/>
          <p:nvPr/>
        </p:nvSpPr>
        <p:spPr>
          <a:xfrm>
            <a:off x="9239250" y="6134472"/>
            <a:ext cx="3857625" cy="19050"/>
          </a:xfrm>
          <a:prstGeom prst="rect">
            <a:avLst/>
          </a:prstGeom>
          <a:solidFill>
            <a:srgbClr val="9EC5B3"/>
          </a:solidFill>
          <a:ln/>
        </p:spPr>
        <p:txBody>
          <a:bodyPr/>
          <a:lstStyle/>
          <a:p>
            <a:endParaRPr lang="en-US"/>
          </a:p>
        </p:txBody>
      </p:sp>
      <p:sp>
        <p:nvSpPr>
          <p:cNvPr id="24" name="Text 21"/>
          <p:cNvSpPr/>
          <p:nvPr/>
        </p:nvSpPr>
        <p:spPr>
          <a:xfrm>
            <a:off x="9239250" y="6344022"/>
            <a:ext cx="4243388" cy="366713"/>
          </a:xfrm>
          <a:prstGeom prst="rect">
            <a:avLst/>
          </a:prstGeom>
          <a:noFill/>
          <a:ln/>
        </p:spPr>
        <p:txBody>
          <a:bodyPr wrap="square" lIns="25400" tIns="25400" rIns="25400" bIns="25400" rtlCol="0" anchor="t">
            <a:normAutofit/>
          </a:bodyPr>
          <a:lstStyle/>
          <a:p>
            <a:pPr marL="0" indent="0" algn="l">
              <a:buNone/>
            </a:pPr>
            <a:r>
              <a:rPr lang="en-US" sz="1950" dirty="0">
                <a:solidFill>
                  <a:srgbClr val="9EC5B3"/>
                </a:solidFill>
                <a:latin typeface="JetBrains Mono" pitchFamily="34" charset="0"/>
                <a:ea typeface="JetBrains Mono" pitchFamily="34" charset="-122"/>
                <a:cs typeface="JetBrains Mono" pitchFamily="34" charset="-120"/>
              </a:rPr>
              <a:t>3</a:t>
            </a:r>
            <a:endParaRPr lang="en-US" sz="1950" dirty="0"/>
          </a:p>
        </p:txBody>
      </p:sp>
      <p:sp>
        <p:nvSpPr>
          <p:cNvPr id="25" name="Text 22"/>
          <p:cNvSpPr/>
          <p:nvPr/>
        </p:nvSpPr>
        <p:spPr>
          <a:xfrm>
            <a:off x="9239250" y="6748835"/>
            <a:ext cx="4243388" cy="381000"/>
          </a:xfrm>
          <a:prstGeom prst="rect">
            <a:avLst/>
          </a:prstGeom>
          <a:noFill/>
          <a:ln/>
        </p:spPr>
        <p:txBody>
          <a:bodyPr wrap="square" lIns="25400" tIns="25400" rIns="25400" bIns="25400" rtlCol="0" anchor="t">
            <a:normAutofit/>
          </a:bodyPr>
          <a:lstStyle/>
          <a:p>
            <a:pPr marL="0" indent="0" algn="l">
              <a:buNone/>
            </a:pPr>
            <a:r>
              <a:rPr lang="en-US" sz="2250" b="1" dirty="0">
                <a:solidFill>
                  <a:srgbClr val="FFFFFF"/>
                </a:solidFill>
                <a:latin typeface="Inter" pitchFamily="34" charset="0"/>
                <a:ea typeface="Inter" pitchFamily="34" charset="-122"/>
                <a:cs typeface="Inter" pitchFamily="34" charset="-120"/>
              </a:rPr>
              <a:t>Migrate with your team</a:t>
            </a:r>
            <a:endParaRPr lang="en-US" sz="2250" dirty="0"/>
          </a:p>
        </p:txBody>
      </p:sp>
      <p:sp>
        <p:nvSpPr>
          <p:cNvPr id="26" name="Shape 23"/>
          <p:cNvSpPr/>
          <p:nvPr/>
        </p:nvSpPr>
        <p:spPr>
          <a:xfrm>
            <a:off x="13287375" y="6134472"/>
            <a:ext cx="3857625" cy="19050"/>
          </a:xfrm>
          <a:prstGeom prst="rect">
            <a:avLst/>
          </a:prstGeom>
          <a:solidFill>
            <a:srgbClr val="9EC5B3"/>
          </a:solidFill>
          <a:ln/>
        </p:spPr>
        <p:txBody>
          <a:bodyPr/>
          <a:lstStyle/>
          <a:p>
            <a:endParaRPr lang="en-US"/>
          </a:p>
        </p:txBody>
      </p:sp>
      <p:sp>
        <p:nvSpPr>
          <p:cNvPr id="27" name="Text 24"/>
          <p:cNvSpPr/>
          <p:nvPr/>
        </p:nvSpPr>
        <p:spPr>
          <a:xfrm>
            <a:off x="13287375" y="6344022"/>
            <a:ext cx="4243388" cy="366713"/>
          </a:xfrm>
          <a:prstGeom prst="rect">
            <a:avLst/>
          </a:prstGeom>
          <a:noFill/>
          <a:ln/>
        </p:spPr>
        <p:txBody>
          <a:bodyPr wrap="square" lIns="25400" tIns="25400" rIns="25400" bIns="25400" rtlCol="0" anchor="t">
            <a:normAutofit/>
          </a:bodyPr>
          <a:lstStyle/>
          <a:p>
            <a:pPr marL="0" indent="0" algn="l">
              <a:buNone/>
            </a:pPr>
            <a:r>
              <a:rPr lang="en-US" sz="1950" dirty="0">
                <a:solidFill>
                  <a:srgbClr val="9EC5B3"/>
                </a:solidFill>
                <a:latin typeface="JetBrains Mono" pitchFamily="34" charset="0"/>
                <a:ea typeface="JetBrains Mono" pitchFamily="34" charset="-122"/>
                <a:cs typeface="JetBrains Mono" pitchFamily="34" charset="-120"/>
              </a:rPr>
              <a:t>4</a:t>
            </a:r>
            <a:endParaRPr lang="en-US" sz="1950" dirty="0"/>
          </a:p>
        </p:txBody>
      </p:sp>
      <p:sp>
        <p:nvSpPr>
          <p:cNvPr id="28" name="Text 25"/>
          <p:cNvSpPr/>
          <p:nvPr/>
        </p:nvSpPr>
        <p:spPr>
          <a:xfrm>
            <a:off x="13287375" y="6748835"/>
            <a:ext cx="4243388" cy="381000"/>
          </a:xfrm>
          <a:prstGeom prst="rect">
            <a:avLst/>
          </a:prstGeom>
          <a:noFill/>
          <a:ln/>
        </p:spPr>
        <p:txBody>
          <a:bodyPr wrap="square" lIns="25400" tIns="25400" rIns="25400" bIns="25400" rtlCol="0" anchor="t">
            <a:normAutofit/>
          </a:bodyPr>
          <a:lstStyle/>
          <a:p>
            <a:pPr marL="0" indent="0" algn="l">
              <a:buNone/>
            </a:pPr>
            <a:r>
              <a:rPr lang="en-US" sz="2250" b="1" dirty="0">
                <a:solidFill>
                  <a:srgbClr val="FFFFFF"/>
                </a:solidFill>
                <a:latin typeface="Inter" pitchFamily="34" charset="0"/>
                <a:ea typeface="Inter" pitchFamily="34" charset="-122"/>
                <a:cs typeface="Inter" pitchFamily="34" charset="-120"/>
              </a:rPr>
              <a:t>Retire the Jenkins job</a:t>
            </a:r>
            <a:endParaRPr lang="en-US" sz="2250" dirty="0"/>
          </a:p>
        </p:txBody>
      </p:sp>
      <p:sp>
        <p:nvSpPr>
          <p:cNvPr id="29" name="Shape 26"/>
          <p:cNvSpPr/>
          <p:nvPr/>
        </p:nvSpPr>
        <p:spPr>
          <a:xfrm>
            <a:off x="1143000" y="8176320"/>
            <a:ext cx="16002000" cy="1158180"/>
          </a:xfrm>
          <a:prstGeom prst="roundRect">
            <a:avLst>
              <a:gd name="adj" fmla="val 13159"/>
            </a:avLst>
          </a:prstGeom>
          <a:solidFill>
            <a:srgbClr val="FBF3EA"/>
          </a:solidFill>
          <a:ln w="9525">
            <a:solidFill>
              <a:srgbClr val="EFDCC6"/>
            </a:solidFill>
            <a:prstDash val="solid"/>
          </a:ln>
        </p:spPr>
        <p:txBody>
          <a:bodyPr/>
          <a:lstStyle/>
          <a:p>
            <a:endParaRPr lang="en-US"/>
          </a:p>
        </p:txBody>
      </p:sp>
      <p:sp>
        <p:nvSpPr>
          <p:cNvPr id="30" name="Shape 27"/>
          <p:cNvSpPr/>
          <p:nvPr/>
        </p:nvSpPr>
        <p:spPr>
          <a:xfrm>
            <a:off x="1457325" y="8529191"/>
            <a:ext cx="2792016" cy="452438"/>
          </a:xfrm>
          <a:prstGeom prst="roundRect">
            <a:avLst>
              <a:gd name="adj" fmla="val 50000"/>
            </a:avLst>
          </a:prstGeom>
          <a:solidFill>
            <a:srgbClr val="F4E2CF"/>
          </a:solidFill>
          <a:ln/>
        </p:spPr>
        <p:txBody>
          <a:bodyPr/>
          <a:lstStyle/>
          <a:p>
            <a:endParaRPr lang="en-US"/>
          </a:p>
        </p:txBody>
      </p:sp>
      <p:sp>
        <p:nvSpPr>
          <p:cNvPr id="31" name="Text 28"/>
          <p:cNvSpPr/>
          <p:nvPr/>
        </p:nvSpPr>
        <p:spPr>
          <a:xfrm>
            <a:off x="1609725" y="8605391"/>
            <a:ext cx="2570976" cy="338138"/>
          </a:xfrm>
          <a:prstGeom prst="rect">
            <a:avLst/>
          </a:prstGeom>
          <a:noFill/>
          <a:ln/>
        </p:spPr>
        <p:txBody>
          <a:bodyPr wrap="none" lIns="25400" tIns="25400" rIns="25400" bIns="25400" rtlCol="0" anchor="t">
            <a:normAutofit/>
          </a:bodyPr>
          <a:lstStyle/>
          <a:p>
            <a:pPr marL="0" indent="0" algn="l">
              <a:buNone/>
            </a:pPr>
            <a:r>
              <a:rPr lang="en-US" sz="1800" kern="0" spc="144" dirty="0">
                <a:solidFill>
                  <a:srgbClr val="B5651D"/>
                </a:solidFill>
                <a:latin typeface="JetBrains Mono" pitchFamily="34" charset="0"/>
                <a:ea typeface="JetBrains Mono" pitchFamily="34" charset="-122"/>
                <a:cs typeface="JetBrains Mono" pitchFamily="34" charset="-120"/>
              </a:rPr>
              <a:t>WHAT WE DON'T DO</a:t>
            </a:r>
            <a:endParaRPr lang="en-US" sz="1800" dirty="0"/>
          </a:p>
        </p:txBody>
      </p:sp>
      <p:sp>
        <p:nvSpPr>
          <p:cNvPr id="32" name="Text 29"/>
          <p:cNvSpPr/>
          <p:nvPr/>
        </p:nvSpPr>
        <p:spPr>
          <a:xfrm>
            <a:off x="4458891" y="8563035"/>
            <a:ext cx="12742938" cy="452438"/>
          </a:xfrm>
          <a:prstGeom prst="rect">
            <a:avLst/>
          </a:prstGeom>
          <a:noFill/>
          <a:ln/>
        </p:spPr>
        <p:txBody>
          <a:bodyPr wrap="square" lIns="25400" tIns="25400" rIns="25400" bIns="25400" rtlCol="0" anchor="t">
            <a:normAutofit/>
          </a:bodyPr>
          <a:lstStyle/>
          <a:p>
            <a:pPr marL="0" indent="0" algn="l">
              <a:lnSpc>
                <a:spcPct val="111176"/>
              </a:lnSpc>
              <a:buNone/>
            </a:pPr>
            <a:r>
              <a:rPr lang="en-US" sz="2100" dirty="0">
                <a:solidFill>
                  <a:srgbClr val="14201B"/>
                </a:solidFill>
                <a:latin typeface="Inter" pitchFamily="34" charset="0"/>
                <a:ea typeface="Inter" pitchFamily="34" charset="-122"/>
                <a:cs typeface="Inter" pitchFamily="34" charset="-120"/>
              </a:rPr>
              <a:t>Migrate pipelines on your behalf or own them afterwards. We migrate alongside you; your team owns the pipeline.</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3000" y="957263"/>
            <a:ext cx="342900" cy="342900"/>
          </a:xfrm>
          <a:prstGeom prst="rect">
            <a:avLst/>
          </a:prstGeom>
        </p:spPr>
      </p:pic>
      <p:sp>
        <p:nvSpPr>
          <p:cNvPr id="3" name="Text 0"/>
          <p:cNvSpPr/>
          <p:nvPr/>
        </p:nvSpPr>
        <p:spPr>
          <a:xfrm>
            <a:off x="1638300" y="952500"/>
            <a:ext cx="5351056" cy="390525"/>
          </a:xfrm>
          <a:prstGeom prst="rect">
            <a:avLst/>
          </a:prstGeom>
          <a:noFill/>
          <a:ln/>
        </p:spPr>
        <p:txBody>
          <a:bodyPr wrap="square" lIns="25400" tIns="25400" rIns="25400" bIns="25400" rtlCol="0" anchor="t">
            <a:normAutofit/>
          </a:bodyPr>
          <a:lstStyle/>
          <a:p>
            <a:pPr marL="0" indent="0" algn="l">
              <a:buNone/>
            </a:pPr>
            <a:r>
              <a:rPr lang="en-US" sz="2100" kern="0" spc="336" dirty="0">
                <a:solidFill>
                  <a:srgbClr val="006A4D"/>
                </a:solidFill>
                <a:latin typeface="JetBrains Mono" pitchFamily="34" charset="0"/>
                <a:ea typeface="JetBrains Mono" pitchFamily="34" charset="-122"/>
                <a:cs typeface="JetBrains Mono" pitchFamily="34" charset="-120"/>
              </a:rPr>
              <a:t>02 · PIPELINES &amp; QUALITY</a:t>
            </a:r>
            <a:endParaRPr lang="en-US" sz="2100" dirty="0"/>
          </a:p>
        </p:txBody>
      </p:sp>
      <p:sp>
        <p:nvSpPr>
          <p:cNvPr id="4" name="Shape 1"/>
          <p:cNvSpPr/>
          <p:nvPr/>
        </p:nvSpPr>
        <p:spPr>
          <a:xfrm>
            <a:off x="1143000" y="1533525"/>
            <a:ext cx="685800" cy="47625"/>
          </a:xfrm>
          <a:prstGeom prst="roundRect">
            <a:avLst>
              <a:gd name="adj" fmla="val 40000"/>
            </a:avLst>
          </a:prstGeom>
          <a:solidFill>
            <a:srgbClr val="006A4D"/>
          </a:solidFill>
          <a:ln/>
        </p:spPr>
        <p:txBody>
          <a:bodyPr/>
          <a:lstStyle/>
          <a:p>
            <a:endParaRPr lang="en-US"/>
          </a:p>
        </p:txBody>
      </p:sp>
      <p:sp>
        <p:nvSpPr>
          <p:cNvPr id="5" name="Text 2"/>
          <p:cNvSpPr/>
          <p:nvPr/>
        </p:nvSpPr>
        <p:spPr>
          <a:xfrm>
            <a:off x="1143000" y="2000250"/>
            <a:ext cx="14073368" cy="1543794"/>
          </a:xfrm>
          <a:prstGeom prst="rect">
            <a:avLst/>
          </a:prstGeom>
          <a:noFill/>
          <a:ln/>
        </p:spPr>
        <p:txBody>
          <a:bodyPr wrap="square" lIns="25400" tIns="25400" rIns="25400" bIns="25400" rtlCol="0" anchor="t">
            <a:normAutofit/>
          </a:bodyPr>
          <a:lstStyle/>
          <a:p>
            <a:pPr marL="0" indent="0" algn="l">
              <a:lnSpc>
                <a:spcPct val="85913"/>
              </a:lnSpc>
              <a:buNone/>
            </a:pPr>
            <a:r>
              <a:rPr lang="en-US" sz="5700" b="1" kern="0" spc="-114" dirty="0">
                <a:solidFill>
                  <a:srgbClr val="003824"/>
                </a:solidFill>
                <a:latin typeface="Inter" pitchFamily="34" charset="0"/>
                <a:ea typeface="Inter" pitchFamily="34" charset="-122"/>
                <a:cs typeface="Inter" pitchFamily="34" charset="-120"/>
              </a:rPr>
              <a:t>We help improve CI/CD and automated testing.</a:t>
            </a:r>
            <a:endParaRPr lang="en-US" sz="5700" dirty="0"/>
          </a:p>
        </p:txBody>
      </p:sp>
      <p:sp>
        <p:nvSpPr>
          <p:cNvPr id="6" name="Shape 3"/>
          <p:cNvSpPr/>
          <p:nvPr/>
        </p:nvSpPr>
        <p:spPr>
          <a:xfrm>
            <a:off x="1143000" y="3620244"/>
            <a:ext cx="16002000" cy="923925"/>
          </a:xfrm>
          <a:prstGeom prst="roundRect">
            <a:avLst>
              <a:gd name="adj" fmla="val 18557"/>
            </a:avLst>
          </a:prstGeom>
          <a:solidFill>
            <a:srgbClr val="0A1F17"/>
          </a:solidFill>
          <a:ln/>
          <a:effectLst>
            <a:outerShdw blurRad="571500" dist="285750" dir="5400000" algn="bl" rotWithShape="0">
              <a:srgbClr val="000000">
                <a:alpha val="50000"/>
              </a:srgbClr>
            </a:outerShdw>
          </a:effectLst>
        </p:spPr>
        <p:txBody>
          <a:bodyPr/>
          <a:lstStyle/>
          <a:p>
            <a:endParaRPr lang="en-US"/>
          </a:p>
        </p:txBody>
      </p:sp>
      <p:sp>
        <p:nvSpPr>
          <p:cNvPr id="7" name="Text 4"/>
          <p:cNvSpPr/>
          <p:nvPr/>
        </p:nvSpPr>
        <p:spPr>
          <a:xfrm>
            <a:off x="1485900" y="3905994"/>
            <a:ext cx="1036365" cy="390525"/>
          </a:xfrm>
          <a:prstGeom prst="rect">
            <a:avLst/>
          </a:prstGeom>
          <a:noFill/>
          <a:ln/>
        </p:spPr>
        <p:txBody>
          <a:bodyPr wrap="square" lIns="25400" tIns="25400" rIns="25400" bIns="25400" rtlCol="0" anchor="t">
            <a:normAutofit/>
          </a:bodyPr>
          <a:lstStyle/>
          <a:p>
            <a:pPr marL="0" indent="0" algn="l">
              <a:buNone/>
            </a:pPr>
            <a:r>
              <a:rPr lang="en-US" sz="2100" dirty="0">
                <a:solidFill>
                  <a:srgbClr val="EAF4EF"/>
                </a:solidFill>
                <a:latin typeface="JetBrains Mono" pitchFamily="34" charset="0"/>
                <a:ea typeface="JetBrains Mono" pitchFamily="34" charset="-122"/>
                <a:cs typeface="JetBrains Mono" pitchFamily="34" charset="-120"/>
              </a:rPr>
              <a:t>commit</a:t>
            </a:r>
            <a:endParaRPr lang="en-US" sz="2100" dirty="0"/>
          </a:p>
        </p:txBody>
      </p:sp>
      <p:sp>
        <p:nvSpPr>
          <p:cNvPr id="8" name="Text 5"/>
          <p:cNvSpPr/>
          <p:nvPr/>
        </p:nvSpPr>
        <p:spPr>
          <a:xfrm>
            <a:off x="2922017" y="3905994"/>
            <a:ext cx="236786" cy="390525"/>
          </a:xfrm>
          <a:prstGeom prst="rect">
            <a:avLst/>
          </a:prstGeom>
          <a:noFill/>
          <a:ln/>
        </p:spPr>
        <p:txBody>
          <a:bodyPr wrap="square" lIns="25400" tIns="25400" rIns="25400" bIns="25400" rtlCol="0" anchor="t">
            <a:normAutofit/>
          </a:bodyPr>
          <a:lstStyle/>
          <a:p>
            <a:pPr marL="0" indent="0" algn="l">
              <a:buNone/>
            </a:pPr>
            <a:r>
              <a:rPr lang="en-US" sz="2100" dirty="0">
                <a:solidFill>
                  <a:srgbClr val="6F9684"/>
                </a:solidFill>
                <a:latin typeface="JetBrains Mono" pitchFamily="34" charset="0"/>
                <a:ea typeface="JetBrains Mono" pitchFamily="34" charset="-122"/>
                <a:cs typeface="JetBrains Mono" pitchFamily="34" charset="-120"/>
              </a:rPr>
              <a:t>→</a:t>
            </a:r>
            <a:endParaRPr lang="en-US" sz="2100" dirty="0"/>
          </a:p>
        </p:txBody>
      </p:sp>
      <p:sp>
        <p:nvSpPr>
          <p:cNvPr id="9" name="Text 6"/>
          <p:cNvSpPr/>
          <p:nvPr/>
        </p:nvSpPr>
        <p:spPr>
          <a:xfrm>
            <a:off x="3558555" y="3905994"/>
            <a:ext cx="876300" cy="390525"/>
          </a:xfrm>
          <a:prstGeom prst="rect">
            <a:avLst/>
          </a:prstGeom>
          <a:noFill/>
          <a:ln/>
        </p:spPr>
        <p:txBody>
          <a:bodyPr wrap="square" lIns="25400" tIns="25400" rIns="25400" bIns="25400" rtlCol="0" anchor="t">
            <a:normAutofit/>
          </a:bodyPr>
          <a:lstStyle/>
          <a:p>
            <a:pPr marL="0" indent="0" algn="l">
              <a:buNone/>
            </a:pPr>
            <a:r>
              <a:rPr lang="en-US" sz="2100" dirty="0">
                <a:solidFill>
                  <a:srgbClr val="EAF4EF"/>
                </a:solidFill>
                <a:latin typeface="JetBrains Mono" pitchFamily="34" charset="0"/>
                <a:ea typeface="JetBrains Mono" pitchFamily="34" charset="-122"/>
                <a:cs typeface="JetBrains Mono" pitchFamily="34" charset="-120"/>
              </a:rPr>
              <a:t>build</a:t>
            </a:r>
            <a:endParaRPr lang="en-US" sz="2100" dirty="0"/>
          </a:p>
        </p:txBody>
      </p:sp>
      <p:sp>
        <p:nvSpPr>
          <p:cNvPr id="10" name="Text 7"/>
          <p:cNvSpPr/>
          <p:nvPr/>
        </p:nvSpPr>
        <p:spPr>
          <a:xfrm>
            <a:off x="4834607" y="3905994"/>
            <a:ext cx="236786" cy="390525"/>
          </a:xfrm>
          <a:prstGeom prst="rect">
            <a:avLst/>
          </a:prstGeom>
          <a:noFill/>
          <a:ln/>
        </p:spPr>
        <p:txBody>
          <a:bodyPr wrap="square" lIns="25400" tIns="25400" rIns="25400" bIns="25400" rtlCol="0" anchor="t">
            <a:normAutofit/>
          </a:bodyPr>
          <a:lstStyle/>
          <a:p>
            <a:pPr marL="0" indent="0" algn="l">
              <a:buNone/>
            </a:pPr>
            <a:r>
              <a:rPr lang="en-US" sz="2100" dirty="0">
                <a:solidFill>
                  <a:srgbClr val="6F9684"/>
                </a:solidFill>
                <a:latin typeface="JetBrains Mono" pitchFamily="34" charset="0"/>
                <a:ea typeface="JetBrains Mono" pitchFamily="34" charset="-122"/>
                <a:cs typeface="JetBrains Mono" pitchFamily="34" charset="-120"/>
              </a:rPr>
              <a:t>→</a:t>
            </a:r>
            <a:endParaRPr lang="en-US" sz="2100" dirty="0"/>
          </a:p>
        </p:txBody>
      </p:sp>
      <p:sp>
        <p:nvSpPr>
          <p:cNvPr id="11" name="Text 8"/>
          <p:cNvSpPr/>
          <p:nvPr/>
        </p:nvSpPr>
        <p:spPr>
          <a:xfrm>
            <a:off x="5471145" y="3905994"/>
            <a:ext cx="1760220" cy="390525"/>
          </a:xfrm>
          <a:prstGeom prst="rect">
            <a:avLst/>
          </a:prstGeom>
          <a:noFill/>
          <a:ln/>
        </p:spPr>
        <p:txBody>
          <a:bodyPr wrap="square" lIns="25400" tIns="25400" rIns="25400" bIns="25400" rtlCol="0" anchor="t">
            <a:normAutofit/>
          </a:bodyPr>
          <a:lstStyle/>
          <a:p>
            <a:pPr marL="0" indent="0" algn="l">
              <a:buNone/>
            </a:pPr>
            <a:r>
              <a:rPr lang="en-US" sz="2100" dirty="0">
                <a:solidFill>
                  <a:srgbClr val="9EC5B3"/>
                </a:solidFill>
                <a:latin typeface="JetBrains Mono" pitchFamily="34" charset="0"/>
                <a:ea typeface="JetBrains Mono" pitchFamily="34" charset="-122"/>
                <a:cs typeface="JetBrains Mono" pitchFamily="34" charset="-120"/>
              </a:rPr>
              <a:t>unit tests</a:t>
            </a:r>
            <a:endParaRPr lang="en-US" sz="2100" dirty="0"/>
          </a:p>
        </p:txBody>
      </p:sp>
      <p:sp>
        <p:nvSpPr>
          <p:cNvPr id="12" name="Text 9"/>
          <p:cNvSpPr/>
          <p:nvPr/>
        </p:nvSpPr>
        <p:spPr>
          <a:xfrm>
            <a:off x="7547297" y="3905994"/>
            <a:ext cx="236786" cy="390525"/>
          </a:xfrm>
          <a:prstGeom prst="rect">
            <a:avLst/>
          </a:prstGeom>
          <a:noFill/>
          <a:ln/>
        </p:spPr>
        <p:txBody>
          <a:bodyPr wrap="square" lIns="25400" tIns="25400" rIns="25400" bIns="25400" rtlCol="0" anchor="t">
            <a:normAutofit/>
          </a:bodyPr>
          <a:lstStyle/>
          <a:p>
            <a:pPr marL="0" indent="0" algn="l">
              <a:buNone/>
            </a:pPr>
            <a:r>
              <a:rPr lang="en-US" sz="2100" dirty="0">
                <a:solidFill>
                  <a:srgbClr val="6F9684"/>
                </a:solidFill>
                <a:latin typeface="JetBrains Mono" pitchFamily="34" charset="0"/>
                <a:ea typeface="JetBrains Mono" pitchFamily="34" charset="-122"/>
                <a:cs typeface="JetBrains Mono" pitchFamily="34" charset="-120"/>
              </a:rPr>
              <a:t>→</a:t>
            </a:r>
            <a:endParaRPr lang="en-US" sz="2100" dirty="0"/>
          </a:p>
        </p:txBody>
      </p:sp>
      <p:sp>
        <p:nvSpPr>
          <p:cNvPr id="13" name="Text 10"/>
          <p:cNvSpPr/>
          <p:nvPr/>
        </p:nvSpPr>
        <p:spPr>
          <a:xfrm>
            <a:off x="8183835" y="3905994"/>
            <a:ext cx="716310" cy="390525"/>
          </a:xfrm>
          <a:prstGeom prst="rect">
            <a:avLst/>
          </a:prstGeom>
          <a:noFill/>
          <a:ln/>
        </p:spPr>
        <p:txBody>
          <a:bodyPr wrap="square" lIns="25400" tIns="25400" rIns="25400" bIns="25400" rtlCol="0" anchor="t">
            <a:normAutofit/>
          </a:bodyPr>
          <a:lstStyle/>
          <a:p>
            <a:pPr marL="0" indent="0" algn="l">
              <a:buNone/>
            </a:pPr>
            <a:r>
              <a:rPr lang="en-US" sz="2100" dirty="0">
                <a:solidFill>
                  <a:srgbClr val="E8B98A"/>
                </a:solidFill>
                <a:latin typeface="JetBrains Mono" pitchFamily="34" charset="0"/>
                <a:ea typeface="JetBrains Mono" pitchFamily="34" charset="-122"/>
                <a:cs typeface="JetBrains Mono" pitchFamily="34" charset="-120"/>
              </a:rPr>
              <a:t>scan</a:t>
            </a:r>
            <a:endParaRPr lang="en-US" sz="2100" dirty="0"/>
          </a:p>
        </p:txBody>
      </p:sp>
      <p:sp>
        <p:nvSpPr>
          <p:cNvPr id="14" name="Text 11"/>
          <p:cNvSpPr/>
          <p:nvPr/>
        </p:nvSpPr>
        <p:spPr>
          <a:xfrm>
            <a:off x="9299897" y="3905994"/>
            <a:ext cx="236786" cy="390525"/>
          </a:xfrm>
          <a:prstGeom prst="rect">
            <a:avLst/>
          </a:prstGeom>
          <a:noFill/>
          <a:ln/>
        </p:spPr>
        <p:txBody>
          <a:bodyPr wrap="square" lIns="25400" tIns="25400" rIns="25400" bIns="25400" rtlCol="0" anchor="t">
            <a:normAutofit/>
          </a:bodyPr>
          <a:lstStyle/>
          <a:p>
            <a:pPr marL="0" indent="0" algn="l">
              <a:buNone/>
            </a:pPr>
            <a:r>
              <a:rPr lang="en-US" sz="2100" dirty="0">
                <a:solidFill>
                  <a:srgbClr val="6F9684"/>
                </a:solidFill>
                <a:latin typeface="JetBrains Mono" pitchFamily="34" charset="0"/>
                <a:ea typeface="JetBrains Mono" pitchFamily="34" charset="-122"/>
                <a:cs typeface="JetBrains Mono" pitchFamily="34" charset="-120"/>
              </a:rPr>
              <a:t>→</a:t>
            </a:r>
            <a:endParaRPr lang="en-US" sz="2100" dirty="0"/>
          </a:p>
        </p:txBody>
      </p:sp>
      <p:sp>
        <p:nvSpPr>
          <p:cNvPr id="15" name="Text 12"/>
          <p:cNvSpPr/>
          <p:nvPr/>
        </p:nvSpPr>
        <p:spPr>
          <a:xfrm>
            <a:off x="9936435" y="3905994"/>
            <a:ext cx="2992390" cy="390525"/>
          </a:xfrm>
          <a:prstGeom prst="rect">
            <a:avLst/>
          </a:prstGeom>
          <a:noFill/>
          <a:ln/>
        </p:spPr>
        <p:txBody>
          <a:bodyPr wrap="square" lIns="25400" tIns="25400" rIns="25400" bIns="25400" rtlCol="0" anchor="t">
            <a:normAutofit/>
          </a:bodyPr>
          <a:lstStyle/>
          <a:p>
            <a:pPr marL="0" indent="0" algn="l">
              <a:buNone/>
            </a:pPr>
            <a:r>
              <a:rPr lang="en-US" sz="2100" dirty="0">
                <a:solidFill>
                  <a:srgbClr val="9EC5B3"/>
                </a:solidFill>
                <a:latin typeface="JetBrains Mono" pitchFamily="34" charset="0"/>
                <a:ea typeface="JetBrains Mono" pitchFamily="34" charset="-122"/>
                <a:cs typeface="JetBrains Mono" pitchFamily="34" charset="-120"/>
              </a:rPr>
              <a:t>integration tests</a:t>
            </a:r>
            <a:endParaRPr lang="en-US" sz="2100" dirty="0"/>
          </a:p>
        </p:txBody>
      </p:sp>
      <p:sp>
        <p:nvSpPr>
          <p:cNvPr id="16" name="Text 13"/>
          <p:cNvSpPr/>
          <p:nvPr/>
        </p:nvSpPr>
        <p:spPr>
          <a:xfrm>
            <a:off x="13132743" y="3905994"/>
            <a:ext cx="236786" cy="390525"/>
          </a:xfrm>
          <a:prstGeom prst="rect">
            <a:avLst/>
          </a:prstGeom>
          <a:noFill/>
          <a:ln/>
        </p:spPr>
        <p:txBody>
          <a:bodyPr wrap="square" lIns="25400" tIns="25400" rIns="25400" bIns="25400" rtlCol="0" anchor="t">
            <a:normAutofit/>
          </a:bodyPr>
          <a:lstStyle/>
          <a:p>
            <a:pPr marL="0" indent="0" algn="l">
              <a:buNone/>
            </a:pPr>
            <a:r>
              <a:rPr lang="en-US" sz="2100" dirty="0">
                <a:solidFill>
                  <a:srgbClr val="6F9684"/>
                </a:solidFill>
                <a:latin typeface="JetBrains Mono" pitchFamily="34" charset="0"/>
                <a:ea typeface="JetBrains Mono" pitchFamily="34" charset="-122"/>
                <a:cs typeface="JetBrains Mono" pitchFamily="34" charset="-120"/>
              </a:rPr>
              <a:t>→</a:t>
            </a:r>
            <a:endParaRPr lang="en-US" sz="2100" dirty="0"/>
          </a:p>
        </p:txBody>
      </p:sp>
      <p:sp>
        <p:nvSpPr>
          <p:cNvPr id="17" name="Text 14"/>
          <p:cNvSpPr/>
          <p:nvPr/>
        </p:nvSpPr>
        <p:spPr>
          <a:xfrm>
            <a:off x="13769280" y="3905994"/>
            <a:ext cx="1036365" cy="390525"/>
          </a:xfrm>
          <a:prstGeom prst="rect">
            <a:avLst/>
          </a:prstGeom>
          <a:noFill/>
          <a:ln/>
        </p:spPr>
        <p:txBody>
          <a:bodyPr wrap="square" lIns="25400" tIns="25400" rIns="25400" bIns="25400" rtlCol="0" anchor="t">
            <a:normAutofit/>
          </a:bodyPr>
          <a:lstStyle/>
          <a:p>
            <a:pPr marL="0" indent="0" algn="l">
              <a:buNone/>
            </a:pPr>
            <a:r>
              <a:rPr lang="en-US" sz="2100" dirty="0">
                <a:solidFill>
                  <a:srgbClr val="EAF4EF"/>
                </a:solidFill>
                <a:latin typeface="JetBrains Mono" pitchFamily="34" charset="0"/>
                <a:ea typeface="JetBrains Mono" pitchFamily="34" charset="-122"/>
                <a:cs typeface="JetBrains Mono" pitchFamily="34" charset="-120"/>
              </a:rPr>
              <a:t>deploy</a:t>
            </a:r>
            <a:endParaRPr lang="en-US" sz="2100" dirty="0"/>
          </a:p>
        </p:txBody>
      </p:sp>
      <p:sp>
        <p:nvSpPr>
          <p:cNvPr id="18" name="Text 15"/>
          <p:cNvSpPr/>
          <p:nvPr/>
        </p:nvSpPr>
        <p:spPr>
          <a:xfrm>
            <a:off x="15205397" y="3905994"/>
            <a:ext cx="236786" cy="390525"/>
          </a:xfrm>
          <a:prstGeom prst="rect">
            <a:avLst/>
          </a:prstGeom>
          <a:noFill/>
          <a:ln/>
        </p:spPr>
        <p:txBody>
          <a:bodyPr wrap="square" lIns="25400" tIns="25400" rIns="25400" bIns="25400" rtlCol="0" anchor="t">
            <a:normAutofit/>
          </a:bodyPr>
          <a:lstStyle/>
          <a:p>
            <a:pPr marL="0" indent="0" algn="l">
              <a:buNone/>
            </a:pPr>
            <a:r>
              <a:rPr lang="en-US" sz="2100" dirty="0">
                <a:solidFill>
                  <a:srgbClr val="6F9684"/>
                </a:solidFill>
                <a:latin typeface="JetBrains Mono" pitchFamily="34" charset="0"/>
                <a:ea typeface="JetBrains Mono" pitchFamily="34" charset="-122"/>
                <a:cs typeface="JetBrains Mono" pitchFamily="34" charset="-120"/>
              </a:rPr>
              <a:t>→</a:t>
            </a:r>
            <a:endParaRPr lang="en-US" sz="2100" dirty="0"/>
          </a:p>
        </p:txBody>
      </p:sp>
      <p:sp>
        <p:nvSpPr>
          <p:cNvPr id="19" name="Text 16"/>
          <p:cNvSpPr/>
          <p:nvPr/>
        </p:nvSpPr>
        <p:spPr>
          <a:xfrm>
            <a:off x="15841935" y="3905994"/>
            <a:ext cx="1036365" cy="390525"/>
          </a:xfrm>
          <a:prstGeom prst="rect">
            <a:avLst/>
          </a:prstGeom>
          <a:noFill/>
          <a:ln/>
        </p:spPr>
        <p:txBody>
          <a:bodyPr wrap="square" lIns="25400" tIns="25400" rIns="25400" bIns="25400" rtlCol="0" anchor="t">
            <a:normAutofit/>
          </a:bodyPr>
          <a:lstStyle/>
          <a:p>
            <a:pPr marL="0" indent="0" algn="l">
              <a:buNone/>
            </a:pPr>
            <a:r>
              <a:rPr lang="en-US" sz="2100" dirty="0">
                <a:solidFill>
                  <a:srgbClr val="EAF4EF"/>
                </a:solidFill>
                <a:latin typeface="JetBrains Mono" pitchFamily="34" charset="0"/>
                <a:ea typeface="JetBrains Mono" pitchFamily="34" charset="-122"/>
                <a:cs typeface="JetBrains Mono" pitchFamily="34" charset="-120"/>
              </a:rPr>
              <a:t>verify</a:t>
            </a:r>
            <a:endParaRPr lang="en-US" sz="2100" dirty="0"/>
          </a:p>
        </p:txBody>
      </p:sp>
      <p:sp>
        <p:nvSpPr>
          <p:cNvPr id="20" name="Shape 17"/>
          <p:cNvSpPr/>
          <p:nvPr/>
        </p:nvSpPr>
        <p:spPr>
          <a:xfrm>
            <a:off x="1143000" y="5268069"/>
            <a:ext cx="5181600" cy="2281238"/>
          </a:xfrm>
          <a:prstGeom prst="roundRect">
            <a:avLst>
              <a:gd name="adj" fmla="val 8351"/>
            </a:avLst>
          </a:prstGeom>
          <a:solidFill>
            <a:srgbClr val="F3F8F5"/>
          </a:solidFill>
          <a:ln w="9525">
            <a:solidFill>
              <a:srgbClr val="E6F1EC"/>
            </a:solidFill>
            <a:prstDash val="solid"/>
          </a:ln>
        </p:spPr>
        <p:txBody>
          <a:bodyPr/>
          <a:lstStyle/>
          <a:p>
            <a:endParaRPr lang="en-US"/>
          </a:p>
        </p:txBody>
      </p:sp>
      <p:sp>
        <p:nvSpPr>
          <p:cNvPr id="21" name="Text 18"/>
          <p:cNvSpPr/>
          <p:nvPr/>
        </p:nvSpPr>
        <p:spPr>
          <a:xfrm>
            <a:off x="1495425" y="5620494"/>
            <a:ext cx="4924425" cy="338138"/>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006A4D"/>
                </a:solidFill>
                <a:latin typeface="JetBrains Mono" pitchFamily="34" charset="0"/>
                <a:ea typeface="JetBrains Mono" pitchFamily="34" charset="-122"/>
                <a:cs typeface="JetBrains Mono" pitchFamily="34" charset="-120"/>
              </a:rPr>
              <a:t>FASTER FEEDBACK</a:t>
            </a:r>
            <a:endParaRPr lang="en-US" sz="1800" dirty="0"/>
          </a:p>
        </p:txBody>
      </p:sp>
      <p:sp>
        <p:nvSpPr>
          <p:cNvPr id="22" name="Text 19"/>
          <p:cNvSpPr/>
          <p:nvPr/>
        </p:nvSpPr>
        <p:spPr>
          <a:xfrm>
            <a:off x="1495425" y="6053882"/>
            <a:ext cx="4611052" cy="800100"/>
          </a:xfrm>
          <a:prstGeom prst="rect">
            <a:avLst/>
          </a:prstGeom>
          <a:noFill/>
          <a:ln/>
        </p:spPr>
        <p:txBody>
          <a:bodyPr wrap="square" lIns="25400" tIns="25400" rIns="25400" bIns="25400" rtlCol="0" anchor="t">
            <a:normAutofit/>
          </a:bodyPr>
          <a:lstStyle/>
          <a:p>
            <a:pPr marL="0" indent="0" algn="l">
              <a:lnSpc>
                <a:spcPct val="103896"/>
              </a:lnSpc>
              <a:buNone/>
            </a:pPr>
            <a:r>
              <a:rPr lang="en-US" sz="2400" b="1" dirty="0">
                <a:solidFill>
                  <a:srgbClr val="14201B"/>
                </a:solidFill>
                <a:latin typeface="Inter" pitchFamily="34" charset="0"/>
                <a:ea typeface="Inter" pitchFamily="34" charset="-122"/>
                <a:cs typeface="Inter" pitchFamily="34" charset="-120"/>
              </a:rPr>
              <a:t>Caching, parallel stages and failing fast.</a:t>
            </a:r>
            <a:endParaRPr lang="en-US" sz="2400" dirty="0"/>
          </a:p>
        </p:txBody>
      </p:sp>
      <p:sp>
        <p:nvSpPr>
          <p:cNvPr id="23" name="Shape 20"/>
          <p:cNvSpPr/>
          <p:nvPr/>
        </p:nvSpPr>
        <p:spPr>
          <a:xfrm>
            <a:off x="6553200" y="5268069"/>
            <a:ext cx="5181600" cy="2281238"/>
          </a:xfrm>
          <a:prstGeom prst="roundRect">
            <a:avLst>
              <a:gd name="adj" fmla="val 8351"/>
            </a:avLst>
          </a:prstGeom>
          <a:solidFill>
            <a:srgbClr val="F3F8F5"/>
          </a:solidFill>
          <a:ln w="9525">
            <a:solidFill>
              <a:srgbClr val="E6F1EC"/>
            </a:solidFill>
            <a:prstDash val="solid"/>
          </a:ln>
        </p:spPr>
        <p:txBody>
          <a:bodyPr/>
          <a:lstStyle/>
          <a:p>
            <a:endParaRPr lang="en-US"/>
          </a:p>
        </p:txBody>
      </p:sp>
      <p:sp>
        <p:nvSpPr>
          <p:cNvPr id="24" name="Text 21"/>
          <p:cNvSpPr/>
          <p:nvPr/>
        </p:nvSpPr>
        <p:spPr>
          <a:xfrm>
            <a:off x="6905625" y="5620494"/>
            <a:ext cx="4924425" cy="338138"/>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006A4D"/>
                </a:solidFill>
                <a:latin typeface="JetBrains Mono" pitchFamily="34" charset="0"/>
                <a:ea typeface="JetBrains Mono" pitchFamily="34" charset="-122"/>
                <a:cs typeface="JetBrains Mono" pitchFamily="34" charset="-120"/>
              </a:rPr>
              <a:t>TEST AUTOMATION</a:t>
            </a:r>
            <a:endParaRPr lang="en-US" sz="1800" dirty="0"/>
          </a:p>
        </p:txBody>
      </p:sp>
      <p:sp>
        <p:nvSpPr>
          <p:cNvPr id="25" name="Text 22"/>
          <p:cNvSpPr/>
          <p:nvPr/>
        </p:nvSpPr>
        <p:spPr>
          <a:xfrm>
            <a:off x="6905625" y="6053882"/>
            <a:ext cx="4611052" cy="1181100"/>
          </a:xfrm>
          <a:prstGeom prst="rect">
            <a:avLst/>
          </a:prstGeom>
          <a:noFill/>
          <a:ln/>
        </p:spPr>
        <p:txBody>
          <a:bodyPr wrap="square" lIns="25400" tIns="25400" rIns="25400" bIns="25400" rtlCol="0" anchor="t">
            <a:normAutofit/>
          </a:bodyPr>
          <a:lstStyle/>
          <a:p>
            <a:pPr marL="0" indent="0" algn="l">
              <a:lnSpc>
                <a:spcPct val="103896"/>
              </a:lnSpc>
              <a:buNone/>
            </a:pPr>
            <a:r>
              <a:rPr lang="en-US" sz="2400" b="1" dirty="0">
                <a:solidFill>
                  <a:srgbClr val="14201B"/>
                </a:solidFill>
                <a:latin typeface="Inter" pitchFamily="34" charset="0"/>
                <a:ea typeface="Inter" pitchFamily="34" charset="-122"/>
                <a:cs typeface="Inter" pitchFamily="34" charset="-120"/>
              </a:rPr>
              <a:t>Raise automation levels and advise on restructuring your tests.</a:t>
            </a:r>
            <a:endParaRPr lang="en-US" sz="2400" dirty="0"/>
          </a:p>
        </p:txBody>
      </p:sp>
      <p:sp>
        <p:nvSpPr>
          <p:cNvPr id="26" name="Shape 23"/>
          <p:cNvSpPr/>
          <p:nvPr/>
        </p:nvSpPr>
        <p:spPr>
          <a:xfrm>
            <a:off x="11963400" y="5268069"/>
            <a:ext cx="5181600" cy="2281238"/>
          </a:xfrm>
          <a:prstGeom prst="roundRect">
            <a:avLst>
              <a:gd name="adj" fmla="val 8351"/>
            </a:avLst>
          </a:prstGeom>
          <a:solidFill>
            <a:srgbClr val="FBF3EA"/>
          </a:solidFill>
          <a:ln w="9525">
            <a:solidFill>
              <a:srgbClr val="EFDCC6"/>
            </a:solidFill>
            <a:prstDash val="solid"/>
          </a:ln>
        </p:spPr>
        <p:txBody>
          <a:bodyPr/>
          <a:lstStyle/>
          <a:p>
            <a:endParaRPr lang="en-US"/>
          </a:p>
        </p:txBody>
      </p:sp>
      <p:sp>
        <p:nvSpPr>
          <p:cNvPr id="27" name="Text 24"/>
          <p:cNvSpPr/>
          <p:nvPr/>
        </p:nvSpPr>
        <p:spPr>
          <a:xfrm>
            <a:off x="12315825" y="5620494"/>
            <a:ext cx="4924425" cy="338138"/>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B5651D"/>
                </a:solidFill>
                <a:latin typeface="JetBrains Mono" pitchFamily="34" charset="0"/>
                <a:ea typeface="JetBrains Mono" pitchFamily="34" charset="-122"/>
                <a:cs typeface="JetBrains Mono" pitchFamily="34" charset="-120"/>
              </a:rPr>
              <a:t>SHIFT-LEFT CHECKS</a:t>
            </a:r>
            <a:endParaRPr lang="en-US" sz="1800" dirty="0"/>
          </a:p>
        </p:txBody>
      </p:sp>
      <p:sp>
        <p:nvSpPr>
          <p:cNvPr id="28" name="Text 25"/>
          <p:cNvSpPr/>
          <p:nvPr/>
        </p:nvSpPr>
        <p:spPr>
          <a:xfrm>
            <a:off x="12315825" y="6053882"/>
            <a:ext cx="4611052" cy="1181100"/>
          </a:xfrm>
          <a:prstGeom prst="rect">
            <a:avLst/>
          </a:prstGeom>
          <a:noFill/>
          <a:ln/>
        </p:spPr>
        <p:txBody>
          <a:bodyPr wrap="square" lIns="25400" tIns="25400" rIns="25400" bIns="25400" rtlCol="0" anchor="t">
            <a:normAutofit/>
          </a:bodyPr>
          <a:lstStyle/>
          <a:p>
            <a:pPr marL="0" indent="0" algn="l">
              <a:lnSpc>
                <a:spcPct val="103896"/>
              </a:lnSpc>
              <a:buNone/>
            </a:pPr>
            <a:r>
              <a:rPr lang="en-US" sz="2400" b="1" dirty="0">
                <a:solidFill>
                  <a:srgbClr val="14201B"/>
                </a:solidFill>
                <a:latin typeface="Inter" pitchFamily="34" charset="0"/>
                <a:ea typeface="Inter" pitchFamily="34" charset="-122"/>
                <a:cs typeface="Inter" pitchFamily="34" charset="-120"/>
              </a:rPr>
              <a:t>Static analysis, dependency and secret scanning in the pipeline.</a:t>
            </a:r>
            <a:endParaRPr lang="en-US" sz="2400" dirty="0"/>
          </a:p>
        </p:txBody>
      </p:sp>
      <p:sp>
        <p:nvSpPr>
          <p:cNvPr id="29" name="Shape 26"/>
          <p:cNvSpPr/>
          <p:nvPr/>
        </p:nvSpPr>
        <p:spPr>
          <a:xfrm>
            <a:off x="1143000" y="8443913"/>
            <a:ext cx="16002000" cy="890588"/>
          </a:xfrm>
          <a:prstGeom prst="roundRect">
            <a:avLst>
              <a:gd name="adj" fmla="val 17112"/>
            </a:avLst>
          </a:prstGeom>
          <a:solidFill>
            <a:srgbClr val="FBF3EA"/>
          </a:solidFill>
          <a:ln w="9525">
            <a:solidFill>
              <a:srgbClr val="EFDCC6"/>
            </a:solidFill>
            <a:prstDash val="solid"/>
          </a:ln>
        </p:spPr>
        <p:txBody>
          <a:bodyPr/>
          <a:lstStyle/>
          <a:p>
            <a:endParaRPr lang="en-US"/>
          </a:p>
        </p:txBody>
      </p:sp>
      <p:sp>
        <p:nvSpPr>
          <p:cNvPr id="30" name="Shape 27"/>
          <p:cNvSpPr/>
          <p:nvPr/>
        </p:nvSpPr>
        <p:spPr>
          <a:xfrm>
            <a:off x="1457325" y="8662988"/>
            <a:ext cx="2792016" cy="452438"/>
          </a:xfrm>
          <a:prstGeom prst="roundRect">
            <a:avLst>
              <a:gd name="adj" fmla="val 50000"/>
            </a:avLst>
          </a:prstGeom>
          <a:solidFill>
            <a:srgbClr val="F4E2CF"/>
          </a:solidFill>
          <a:ln/>
        </p:spPr>
        <p:txBody>
          <a:bodyPr/>
          <a:lstStyle/>
          <a:p>
            <a:endParaRPr lang="en-US"/>
          </a:p>
        </p:txBody>
      </p:sp>
      <p:sp>
        <p:nvSpPr>
          <p:cNvPr id="31" name="Text 28"/>
          <p:cNvSpPr/>
          <p:nvPr/>
        </p:nvSpPr>
        <p:spPr>
          <a:xfrm>
            <a:off x="1609725" y="8739188"/>
            <a:ext cx="2570976" cy="338138"/>
          </a:xfrm>
          <a:prstGeom prst="rect">
            <a:avLst/>
          </a:prstGeom>
          <a:noFill/>
          <a:ln/>
        </p:spPr>
        <p:txBody>
          <a:bodyPr wrap="none" lIns="25400" tIns="25400" rIns="25400" bIns="25400" rtlCol="0" anchor="t">
            <a:normAutofit/>
          </a:bodyPr>
          <a:lstStyle/>
          <a:p>
            <a:pPr marL="0" indent="0" algn="l">
              <a:buNone/>
            </a:pPr>
            <a:r>
              <a:rPr lang="en-US" sz="1800" kern="0" spc="144" dirty="0">
                <a:solidFill>
                  <a:srgbClr val="B5651D"/>
                </a:solidFill>
                <a:latin typeface="JetBrains Mono" pitchFamily="34" charset="0"/>
                <a:ea typeface="JetBrains Mono" pitchFamily="34" charset="-122"/>
                <a:cs typeface="JetBrains Mono" pitchFamily="34" charset="-120"/>
              </a:rPr>
              <a:t>WHAT WE DON'T DO</a:t>
            </a:r>
            <a:endParaRPr lang="en-US" sz="1800" dirty="0"/>
          </a:p>
        </p:txBody>
      </p:sp>
      <p:sp>
        <p:nvSpPr>
          <p:cNvPr id="32" name="Text 29"/>
          <p:cNvSpPr/>
          <p:nvPr/>
        </p:nvSpPr>
        <p:spPr>
          <a:xfrm>
            <a:off x="4458891" y="8709199"/>
            <a:ext cx="12140803" cy="398115"/>
          </a:xfrm>
          <a:prstGeom prst="rect">
            <a:avLst/>
          </a:prstGeom>
          <a:noFill/>
          <a:ln/>
        </p:spPr>
        <p:txBody>
          <a:bodyPr wrap="square" lIns="25400" tIns="25400" rIns="25400" bIns="25400" rtlCol="0" anchor="t">
            <a:normAutofit/>
          </a:bodyPr>
          <a:lstStyle/>
          <a:p>
            <a:pPr marL="0" indent="0" algn="l">
              <a:lnSpc>
                <a:spcPct val="111176"/>
              </a:lnSpc>
              <a:buNone/>
            </a:pPr>
            <a:r>
              <a:rPr lang="en-US" sz="2100" dirty="0">
                <a:solidFill>
                  <a:srgbClr val="14201B"/>
                </a:solidFill>
                <a:latin typeface="Inter" pitchFamily="34" charset="0"/>
                <a:ea typeface="Inter" pitchFamily="34" charset="-122"/>
                <a:cs typeface="Inter" pitchFamily="34" charset="-120"/>
              </a:rPr>
              <a:t>Write your tests. Feature teams own their tests; we help automate and restructure them.</a:t>
            </a:r>
            <a:endParaRPr lang="en-US" sz="2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3000" y="957263"/>
            <a:ext cx="342900" cy="342900"/>
          </a:xfrm>
          <a:prstGeom prst="rect">
            <a:avLst/>
          </a:prstGeom>
        </p:spPr>
      </p:pic>
      <p:sp>
        <p:nvSpPr>
          <p:cNvPr id="3" name="Text 0"/>
          <p:cNvSpPr/>
          <p:nvPr/>
        </p:nvSpPr>
        <p:spPr>
          <a:xfrm>
            <a:off x="1638300" y="952500"/>
            <a:ext cx="2229661" cy="390525"/>
          </a:xfrm>
          <a:prstGeom prst="rect">
            <a:avLst/>
          </a:prstGeom>
          <a:noFill/>
          <a:ln/>
        </p:spPr>
        <p:txBody>
          <a:bodyPr wrap="square" lIns="25400" tIns="25400" rIns="25400" bIns="25400" rtlCol="0" anchor="t">
            <a:normAutofit/>
          </a:bodyPr>
          <a:lstStyle/>
          <a:p>
            <a:pPr marL="0" indent="0" algn="l">
              <a:buNone/>
            </a:pPr>
            <a:r>
              <a:rPr lang="en-US" sz="2100" kern="0" spc="336" dirty="0">
                <a:solidFill>
                  <a:srgbClr val="006A4D"/>
                </a:solidFill>
                <a:latin typeface="JetBrains Mono" pitchFamily="34" charset="0"/>
                <a:ea typeface="JetBrains Mono" pitchFamily="34" charset="-122"/>
                <a:cs typeface="JetBrains Mono" pitchFamily="34" charset="-120"/>
              </a:rPr>
              <a:t>03 · CLOUD</a:t>
            </a:r>
            <a:endParaRPr lang="en-US" sz="2100" dirty="0"/>
          </a:p>
        </p:txBody>
      </p:sp>
      <p:sp>
        <p:nvSpPr>
          <p:cNvPr id="4" name="Shape 1"/>
          <p:cNvSpPr/>
          <p:nvPr/>
        </p:nvSpPr>
        <p:spPr>
          <a:xfrm>
            <a:off x="1143000" y="1533525"/>
            <a:ext cx="685800" cy="47625"/>
          </a:xfrm>
          <a:prstGeom prst="roundRect">
            <a:avLst>
              <a:gd name="adj" fmla="val 40000"/>
            </a:avLst>
          </a:prstGeom>
          <a:solidFill>
            <a:srgbClr val="006A4D"/>
          </a:solidFill>
          <a:ln/>
        </p:spPr>
        <p:txBody>
          <a:bodyPr/>
          <a:lstStyle/>
          <a:p>
            <a:endParaRPr lang="en-US"/>
          </a:p>
        </p:txBody>
      </p:sp>
      <p:sp>
        <p:nvSpPr>
          <p:cNvPr id="5" name="Text 2"/>
          <p:cNvSpPr/>
          <p:nvPr/>
        </p:nvSpPr>
        <p:spPr>
          <a:xfrm>
            <a:off x="1143000" y="2000250"/>
            <a:ext cx="14073368" cy="1543794"/>
          </a:xfrm>
          <a:prstGeom prst="rect">
            <a:avLst/>
          </a:prstGeom>
          <a:noFill/>
          <a:ln/>
        </p:spPr>
        <p:txBody>
          <a:bodyPr wrap="square" lIns="25400" tIns="25400" rIns="25400" bIns="25400" rtlCol="0" anchor="t">
            <a:normAutofit/>
          </a:bodyPr>
          <a:lstStyle/>
          <a:p>
            <a:pPr marL="0" indent="0" algn="l">
              <a:lnSpc>
                <a:spcPct val="85913"/>
              </a:lnSpc>
              <a:buNone/>
            </a:pPr>
            <a:r>
              <a:rPr lang="en-US" sz="5700" b="1" kern="0" spc="-114" dirty="0">
                <a:solidFill>
                  <a:srgbClr val="003824"/>
                </a:solidFill>
                <a:latin typeface="Inter" pitchFamily="34" charset="0"/>
                <a:ea typeface="Inter" pitchFamily="34" charset="-122"/>
                <a:cs typeface="Inter" pitchFamily="34" charset="-120"/>
              </a:rPr>
              <a:t>We help design and migrate cloud deployments.</a:t>
            </a:r>
            <a:endParaRPr lang="en-US" sz="5700" dirty="0"/>
          </a:p>
        </p:txBody>
      </p:sp>
      <p:sp>
        <p:nvSpPr>
          <p:cNvPr id="6" name="Shape 3"/>
          <p:cNvSpPr/>
          <p:nvPr/>
        </p:nvSpPr>
        <p:spPr>
          <a:xfrm>
            <a:off x="1143000" y="4001244"/>
            <a:ext cx="5181600" cy="3081338"/>
          </a:xfrm>
          <a:prstGeom prst="roundRect">
            <a:avLst>
              <a:gd name="adj" fmla="val 6182"/>
            </a:avLst>
          </a:prstGeom>
          <a:solidFill>
            <a:srgbClr val="F3F8F5"/>
          </a:solidFill>
          <a:ln w="9525">
            <a:solidFill>
              <a:srgbClr val="E6F1EC"/>
            </a:solidFill>
            <a:prstDash val="solid"/>
          </a:ln>
        </p:spPr>
        <p:txBody>
          <a:bodyPr/>
          <a:lstStyle/>
          <a:p>
            <a:endParaRPr lang="en-US"/>
          </a:p>
        </p:txBody>
      </p:sp>
      <p:sp>
        <p:nvSpPr>
          <p:cNvPr id="7" name="Text 4"/>
          <p:cNvSpPr/>
          <p:nvPr/>
        </p:nvSpPr>
        <p:spPr>
          <a:xfrm>
            <a:off x="1514475" y="4391769"/>
            <a:ext cx="4882515" cy="338138"/>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006A4D"/>
                </a:solidFill>
                <a:latin typeface="JetBrains Mono" pitchFamily="34" charset="0"/>
                <a:ea typeface="JetBrains Mono" pitchFamily="34" charset="-122"/>
                <a:cs typeface="JetBrains Mono" pitchFamily="34" charset="-120"/>
              </a:rPr>
              <a:t>MIGRATE</a:t>
            </a:r>
            <a:endParaRPr lang="en-US" sz="1800" dirty="0"/>
          </a:p>
        </p:txBody>
      </p:sp>
      <p:sp>
        <p:nvSpPr>
          <p:cNvPr id="8" name="Text 5"/>
          <p:cNvSpPr/>
          <p:nvPr/>
        </p:nvSpPr>
        <p:spPr>
          <a:xfrm>
            <a:off x="1514475" y="4825157"/>
            <a:ext cx="4882515" cy="476250"/>
          </a:xfrm>
          <a:prstGeom prst="rect">
            <a:avLst/>
          </a:prstGeom>
          <a:noFill/>
          <a:ln/>
        </p:spPr>
        <p:txBody>
          <a:bodyPr wrap="square" lIns="25400" tIns="25400" rIns="25400" bIns="25400" rtlCol="0" anchor="t">
            <a:normAutofit/>
          </a:bodyPr>
          <a:lstStyle/>
          <a:p>
            <a:pPr marL="0" indent="0" algn="l">
              <a:buNone/>
            </a:pPr>
            <a:r>
              <a:rPr lang="en-US" sz="2850" b="1" dirty="0">
                <a:solidFill>
                  <a:srgbClr val="003824"/>
                </a:solidFill>
                <a:latin typeface="Inter" pitchFamily="34" charset="0"/>
                <a:ea typeface="Inter" pitchFamily="34" charset="-122"/>
                <a:cs typeface="Inter" pitchFamily="34" charset="-120"/>
              </a:rPr>
              <a:t>On-prem → cloud</a:t>
            </a:r>
            <a:endParaRPr lang="en-US" sz="2850" dirty="0"/>
          </a:p>
        </p:txBody>
      </p:sp>
      <p:sp>
        <p:nvSpPr>
          <p:cNvPr id="9" name="Text 6"/>
          <p:cNvSpPr/>
          <p:nvPr/>
        </p:nvSpPr>
        <p:spPr>
          <a:xfrm>
            <a:off x="1514475" y="5453807"/>
            <a:ext cx="4882515" cy="361950"/>
          </a:xfrm>
          <a:prstGeom prst="rect">
            <a:avLst/>
          </a:prstGeom>
          <a:noFill/>
          <a:ln/>
        </p:spPr>
        <p:txBody>
          <a:bodyPr wrap="square" lIns="25400" tIns="25400" rIns="25400" bIns="25400" rtlCol="0" anchor="t">
            <a:normAutofit/>
          </a:bodyPr>
          <a:lstStyle/>
          <a:p>
            <a:pPr marL="0" indent="0" algn="l">
              <a:buNone/>
            </a:pPr>
            <a:r>
              <a:rPr lang="en-US" sz="2100" dirty="0">
                <a:solidFill>
                  <a:srgbClr val="3B4A44"/>
                </a:solidFill>
                <a:latin typeface="Inter" pitchFamily="34" charset="0"/>
                <a:ea typeface="Inter" pitchFamily="34" charset="-122"/>
                <a:cs typeface="Inter" pitchFamily="34" charset="-120"/>
              </a:rPr>
              <a:t>Assess the workload</a:t>
            </a:r>
            <a:endParaRPr lang="en-US" sz="2100" dirty="0"/>
          </a:p>
        </p:txBody>
      </p:sp>
      <p:sp>
        <p:nvSpPr>
          <p:cNvPr id="10" name="Text 7"/>
          <p:cNvSpPr/>
          <p:nvPr/>
        </p:nvSpPr>
        <p:spPr>
          <a:xfrm>
            <a:off x="1514475" y="5911007"/>
            <a:ext cx="4882515" cy="361950"/>
          </a:xfrm>
          <a:prstGeom prst="rect">
            <a:avLst/>
          </a:prstGeom>
          <a:noFill/>
          <a:ln/>
        </p:spPr>
        <p:txBody>
          <a:bodyPr wrap="square" lIns="25400" tIns="25400" rIns="25400" bIns="25400" rtlCol="0" anchor="t">
            <a:normAutofit/>
          </a:bodyPr>
          <a:lstStyle/>
          <a:p>
            <a:pPr marL="0" indent="0" algn="l">
              <a:buNone/>
            </a:pPr>
            <a:r>
              <a:rPr lang="en-US" sz="2100" dirty="0">
                <a:solidFill>
                  <a:srgbClr val="3B4A44"/>
                </a:solidFill>
                <a:latin typeface="Inter" pitchFamily="34" charset="0"/>
                <a:ea typeface="Inter" pitchFamily="34" charset="-122"/>
                <a:cs typeface="Inter" pitchFamily="34" charset="-120"/>
              </a:rPr>
              <a:t>Re-host or re-platform</a:t>
            </a:r>
            <a:endParaRPr lang="en-US" sz="2100" dirty="0"/>
          </a:p>
        </p:txBody>
      </p:sp>
      <p:sp>
        <p:nvSpPr>
          <p:cNvPr id="11" name="Text 8"/>
          <p:cNvSpPr/>
          <p:nvPr/>
        </p:nvSpPr>
        <p:spPr>
          <a:xfrm>
            <a:off x="1514475" y="6368207"/>
            <a:ext cx="4882515" cy="361950"/>
          </a:xfrm>
          <a:prstGeom prst="rect">
            <a:avLst/>
          </a:prstGeom>
          <a:noFill/>
          <a:ln/>
        </p:spPr>
        <p:txBody>
          <a:bodyPr wrap="square" lIns="25400" tIns="25400" rIns="25400" bIns="25400" rtlCol="0" anchor="t">
            <a:normAutofit/>
          </a:bodyPr>
          <a:lstStyle/>
          <a:p>
            <a:pPr marL="0" indent="0" algn="l">
              <a:buNone/>
            </a:pPr>
            <a:r>
              <a:rPr lang="en-US" sz="2100" dirty="0">
                <a:solidFill>
                  <a:srgbClr val="3B4A44"/>
                </a:solidFill>
                <a:latin typeface="Inter" pitchFamily="34" charset="0"/>
                <a:ea typeface="Inter" pitchFamily="34" charset="-122"/>
                <a:cs typeface="Inter" pitchFamily="34" charset="-120"/>
              </a:rPr>
              <a:t>Plan the cutover</a:t>
            </a:r>
            <a:endParaRPr lang="en-US" sz="2100" dirty="0"/>
          </a:p>
        </p:txBody>
      </p:sp>
      <p:sp>
        <p:nvSpPr>
          <p:cNvPr id="12" name="Shape 9"/>
          <p:cNvSpPr/>
          <p:nvPr/>
        </p:nvSpPr>
        <p:spPr>
          <a:xfrm>
            <a:off x="6553200" y="4001244"/>
            <a:ext cx="5181600" cy="3081338"/>
          </a:xfrm>
          <a:prstGeom prst="roundRect">
            <a:avLst>
              <a:gd name="adj" fmla="val 6182"/>
            </a:avLst>
          </a:prstGeom>
          <a:solidFill>
            <a:srgbClr val="F3F8F5"/>
          </a:solidFill>
          <a:ln w="9525">
            <a:solidFill>
              <a:srgbClr val="E6F1EC"/>
            </a:solidFill>
            <a:prstDash val="solid"/>
          </a:ln>
        </p:spPr>
        <p:txBody>
          <a:bodyPr/>
          <a:lstStyle/>
          <a:p>
            <a:endParaRPr lang="en-US"/>
          </a:p>
        </p:txBody>
      </p:sp>
      <p:sp>
        <p:nvSpPr>
          <p:cNvPr id="13" name="Text 10"/>
          <p:cNvSpPr/>
          <p:nvPr/>
        </p:nvSpPr>
        <p:spPr>
          <a:xfrm>
            <a:off x="6924675" y="4391769"/>
            <a:ext cx="4882515" cy="338138"/>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006A4D"/>
                </a:solidFill>
                <a:latin typeface="JetBrains Mono" pitchFamily="34" charset="0"/>
                <a:ea typeface="JetBrains Mono" pitchFamily="34" charset="-122"/>
                <a:cs typeface="JetBrains Mono" pitchFamily="34" charset="-120"/>
              </a:rPr>
              <a:t>DESIGN</a:t>
            </a:r>
            <a:endParaRPr lang="en-US" sz="1800" dirty="0"/>
          </a:p>
        </p:txBody>
      </p:sp>
      <p:sp>
        <p:nvSpPr>
          <p:cNvPr id="14" name="Text 11"/>
          <p:cNvSpPr/>
          <p:nvPr/>
        </p:nvSpPr>
        <p:spPr>
          <a:xfrm>
            <a:off x="6924675" y="4825157"/>
            <a:ext cx="4882515" cy="476250"/>
          </a:xfrm>
          <a:prstGeom prst="rect">
            <a:avLst/>
          </a:prstGeom>
          <a:noFill/>
          <a:ln/>
        </p:spPr>
        <p:txBody>
          <a:bodyPr wrap="square" lIns="25400" tIns="25400" rIns="25400" bIns="25400" rtlCol="0" anchor="t">
            <a:normAutofit/>
          </a:bodyPr>
          <a:lstStyle/>
          <a:p>
            <a:pPr marL="0" indent="0" algn="l">
              <a:buNone/>
            </a:pPr>
            <a:r>
              <a:rPr lang="en-US" sz="2850" b="1" dirty="0">
                <a:solidFill>
                  <a:srgbClr val="003824"/>
                </a:solidFill>
                <a:latin typeface="Inter" pitchFamily="34" charset="0"/>
                <a:ea typeface="Inter" pitchFamily="34" charset="-122"/>
                <a:cs typeface="Inter" pitchFamily="34" charset="-120"/>
              </a:rPr>
              <a:t>FinOps from day one</a:t>
            </a:r>
            <a:endParaRPr lang="en-US" sz="2850" dirty="0"/>
          </a:p>
        </p:txBody>
      </p:sp>
      <p:sp>
        <p:nvSpPr>
          <p:cNvPr id="15" name="Text 12"/>
          <p:cNvSpPr/>
          <p:nvPr/>
        </p:nvSpPr>
        <p:spPr>
          <a:xfrm>
            <a:off x="6924675" y="5453807"/>
            <a:ext cx="4882515" cy="361950"/>
          </a:xfrm>
          <a:prstGeom prst="rect">
            <a:avLst/>
          </a:prstGeom>
          <a:noFill/>
          <a:ln/>
        </p:spPr>
        <p:txBody>
          <a:bodyPr wrap="square" lIns="25400" tIns="25400" rIns="25400" bIns="25400" rtlCol="0" anchor="t">
            <a:normAutofit/>
          </a:bodyPr>
          <a:lstStyle/>
          <a:p>
            <a:pPr marL="0" indent="0" algn="l">
              <a:buNone/>
            </a:pPr>
            <a:r>
              <a:rPr lang="en-US" sz="2100" dirty="0">
                <a:solidFill>
                  <a:srgbClr val="3B4A44"/>
                </a:solidFill>
                <a:latin typeface="Inter" pitchFamily="34" charset="0"/>
                <a:ea typeface="Inter" pitchFamily="34" charset="-122"/>
                <a:cs typeface="Inter" pitchFamily="34" charset="-120"/>
              </a:rPr>
              <a:t>Right-sizing and autoscaling</a:t>
            </a:r>
            <a:endParaRPr lang="en-US" sz="2100" dirty="0"/>
          </a:p>
        </p:txBody>
      </p:sp>
      <p:sp>
        <p:nvSpPr>
          <p:cNvPr id="16" name="Text 13"/>
          <p:cNvSpPr/>
          <p:nvPr/>
        </p:nvSpPr>
        <p:spPr>
          <a:xfrm>
            <a:off x="6924675" y="5911007"/>
            <a:ext cx="4882515" cy="361950"/>
          </a:xfrm>
          <a:prstGeom prst="rect">
            <a:avLst/>
          </a:prstGeom>
          <a:noFill/>
          <a:ln/>
        </p:spPr>
        <p:txBody>
          <a:bodyPr wrap="square" lIns="25400" tIns="25400" rIns="25400" bIns="25400" rtlCol="0" anchor="t">
            <a:normAutofit/>
          </a:bodyPr>
          <a:lstStyle/>
          <a:p>
            <a:pPr marL="0" indent="0" algn="l">
              <a:buNone/>
            </a:pPr>
            <a:r>
              <a:rPr lang="en-US" sz="2100" dirty="0">
                <a:solidFill>
                  <a:srgbClr val="3B4A44"/>
                </a:solidFill>
                <a:latin typeface="Inter" pitchFamily="34" charset="0"/>
                <a:ea typeface="Inter" pitchFamily="34" charset="-122"/>
                <a:cs typeface="Inter" pitchFamily="34" charset="-120"/>
              </a:rPr>
              <a:t>Tagging for cost visibility</a:t>
            </a:r>
            <a:endParaRPr lang="en-US" sz="2100" dirty="0"/>
          </a:p>
        </p:txBody>
      </p:sp>
      <p:sp>
        <p:nvSpPr>
          <p:cNvPr id="17" name="Text 14"/>
          <p:cNvSpPr/>
          <p:nvPr/>
        </p:nvSpPr>
        <p:spPr>
          <a:xfrm>
            <a:off x="6924675" y="6368207"/>
            <a:ext cx="4882515" cy="361950"/>
          </a:xfrm>
          <a:prstGeom prst="rect">
            <a:avLst/>
          </a:prstGeom>
          <a:noFill/>
          <a:ln/>
        </p:spPr>
        <p:txBody>
          <a:bodyPr wrap="square" lIns="25400" tIns="25400" rIns="25400" bIns="25400" rtlCol="0" anchor="t">
            <a:normAutofit/>
          </a:bodyPr>
          <a:lstStyle/>
          <a:p>
            <a:pPr marL="0" indent="0" algn="l">
              <a:buNone/>
            </a:pPr>
            <a:r>
              <a:rPr lang="en-US" sz="2100" dirty="0">
                <a:solidFill>
                  <a:srgbClr val="3B4A44"/>
                </a:solidFill>
                <a:latin typeface="Inter" pitchFamily="34" charset="0"/>
                <a:ea typeface="Inter" pitchFamily="34" charset="-122"/>
                <a:cs typeface="Inter" pitchFamily="34" charset="-120"/>
              </a:rPr>
              <a:t>Budgets before go-live</a:t>
            </a:r>
            <a:endParaRPr lang="en-US" sz="2100" dirty="0"/>
          </a:p>
        </p:txBody>
      </p:sp>
      <p:sp>
        <p:nvSpPr>
          <p:cNvPr id="18" name="Shape 15"/>
          <p:cNvSpPr/>
          <p:nvPr/>
        </p:nvSpPr>
        <p:spPr>
          <a:xfrm>
            <a:off x="11963400" y="4001244"/>
            <a:ext cx="5181600" cy="3081338"/>
          </a:xfrm>
          <a:prstGeom prst="roundRect">
            <a:avLst>
              <a:gd name="adj" fmla="val 6182"/>
            </a:avLst>
          </a:prstGeom>
          <a:solidFill>
            <a:srgbClr val="F3F8F5"/>
          </a:solidFill>
          <a:ln w="9525">
            <a:solidFill>
              <a:srgbClr val="E6F1EC"/>
            </a:solidFill>
            <a:prstDash val="solid"/>
          </a:ln>
        </p:spPr>
        <p:txBody>
          <a:bodyPr/>
          <a:lstStyle/>
          <a:p>
            <a:endParaRPr lang="en-US"/>
          </a:p>
        </p:txBody>
      </p:sp>
      <p:sp>
        <p:nvSpPr>
          <p:cNvPr id="19" name="Text 16"/>
          <p:cNvSpPr/>
          <p:nvPr/>
        </p:nvSpPr>
        <p:spPr>
          <a:xfrm>
            <a:off x="12334875" y="4391769"/>
            <a:ext cx="4882515" cy="338138"/>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006A4D"/>
                </a:solidFill>
                <a:latin typeface="JetBrains Mono" pitchFamily="34" charset="0"/>
                <a:ea typeface="JetBrains Mono" pitchFamily="34" charset="-122"/>
                <a:cs typeface="JetBrains Mono" pitchFamily="34" charset="-120"/>
              </a:rPr>
              <a:t>ADVISE</a:t>
            </a:r>
            <a:endParaRPr lang="en-US" sz="1800" dirty="0"/>
          </a:p>
        </p:txBody>
      </p:sp>
      <p:sp>
        <p:nvSpPr>
          <p:cNvPr id="20" name="Text 17"/>
          <p:cNvSpPr/>
          <p:nvPr/>
        </p:nvSpPr>
        <p:spPr>
          <a:xfrm>
            <a:off x="12334875" y="4825157"/>
            <a:ext cx="4882515" cy="476250"/>
          </a:xfrm>
          <a:prstGeom prst="rect">
            <a:avLst/>
          </a:prstGeom>
          <a:noFill/>
          <a:ln/>
        </p:spPr>
        <p:txBody>
          <a:bodyPr wrap="square" lIns="25400" tIns="25400" rIns="25400" bIns="25400" rtlCol="0" anchor="t">
            <a:normAutofit/>
          </a:bodyPr>
          <a:lstStyle/>
          <a:p>
            <a:pPr marL="0" indent="0" algn="l">
              <a:buNone/>
            </a:pPr>
            <a:r>
              <a:rPr lang="en-US" sz="2850" b="1" dirty="0">
                <a:solidFill>
                  <a:srgbClr val="003824"/>
                </a:solidFill>
                <a:latin typeface="Inter" pitchFamily="34" charset="0"/>
                <a:ea typeface="Inter" pitchFamily="34" charset="-122"/>
                <a:cs typeface="Inter" pitchFamily="34" charset="-120"/>
              </a:rPr>
              <a:t>Troubleshooting help</a:t>
            </a:r>
            <a:endParaRPr lang="en-US" sz="2850" dirty="0"/>
          </a:p>
        </p:txBody>
      </p:sp>
      <p:sp>
        <p:nvSpPr>
          <p:cNvPr id="21" name="Text 18"/>
          <p:cNvSpPr/>
          <p:nvPr/>
        </p:nvSpPr>
        <p:spPr>
          <a:xfrm>
            <a:off x="12334875" y="5453807"/>
            <a:ext cx="4882515" cy="361950"/>
          </a:xfrm>
          <a:prstGeom prst="rect">
            <a:avLst/>
          </a:prstGeom>
          <a:noFill/>
          <a:ln/>
        </p:spPr>
        <p:txBody>
          <a:bodyPr wrap="square" lIns="25400" tIns="25400" rIns="25400" bIns="25400" rtlCol="0" anchor="t">
            <a:normAutofit/>
          </a:bodyPr>
          <a:lstStyle/>
          <a:p>
            <a:pPr marL="0" indent="0" algn="l">
              <a:buNone/>
            </a:pPr>
            <a:r>
              <a:rPr lang="en-US" sz="2100" dirty="0">
                <a:solidFill>
                  <a:srgbClr val="3B4A44"/>
                </a:solidFill>
                <a:latin typeface="Inter" pitchFamily="34" charset="0"/>
                <a:ea typeface="Inter" pitchFamily="34" charset="-122"/>
                <a:cs typeface="Inter" pitchFamily="34" charset="-120"/>
              </a:rPr>
              <a:t>Help diagnosing issues</a:t>
            </a:r>
            <a:endParaRPr lang="en-US" sz="2100" dirty="0"/>
          </a:p>
        </p:txBody>
      </p:sp>
      <p:sp>
        <p:nvSpPr>
          <p:cNvPr id="22" name="Text 19"/>
          <p:cNvSpPr/>
          <p:nvPr/>
        </p:nvSpPr>
        <p:spPr>
          <a:xfrm>
            <a:off x="12334875" y="5911007"/>
            <a:ext cx="4882515" cy="361950"/>
          </a:xfrm>
          <a:prstGeom prst="rect">
            <a:avLst/>
          </a:prstGeom>
          <a:noFill/>
          <a:ln/>
        </p:spPr>
        <p:txBody>
          <a:bodyPr wrap="square" lIns="25400" tIns="25400" rIns="25400" bIns="25400" rtlCol="0" anchor="t">
            <a:normAutofit/>
          </a:bodyPr>
          <a:lstStyle/>
          <a:p>
            <a:pPr marL="0" indent="0" algn="l">
              <a:buNone/>
            </a:pPr>
            <a:r>
              <a:rPr lang="en-US" sz="2100" dirty="0">
                <a:solidFill>
                  <a:srgbClr val="3B4A44"/>
                </a:solidFill>
                <a:latin typeface="Inter" pitchFamily="34" charset="0"/>
                <a:ea typeface="Inter" pitchFamily="34" charset="-122"/>
                <a:cs typeface="Inter" pitchFamily="34" charset="-120"/>
              </a:rPr>
              <a:t>Advice on next steps</a:t>
            </a:r>
            <a:endParaRPr lang="en-US" sz="2100" dirty="0"/>
          </a:p>
        </p:txBody>
      </p:sp>
      <p:sp>
        <p:nvSpPr>
          <p:cNvPr id="23" name="Text 20"/>
          <p:cNvSpPr/>
          <p:nvPr/>
        </p:nvSpPr>
        <p:spPr>
          <a:xfrm>
            <a:off x="12334875" y="6368207"/>
            <a:ext cx="4882515" cy="361950"/>
          </a:xfrm>
          <a:prstGeom prst="rect">
            <a:avLst/>
          </a:prstGeom>
          <a:noFill/>
          <a:ln/>
        </p:spPr>
        <p:txBody>
          <a:bodyPr wrap="square" lIns="25400" tIns="25400" rIns="25400" bIns="25400" rtlCol="0" anchor="t">
            <a:normAutofit/>
          </a:bodyPr>
          <a:lstStyle/>
          <a:p>
            <a:pPr marL="0" indent="0" algn="l">
              <a:buNone/>
            </a:pPr>
            <a:r>
              <a:rPr lang="en-US" sz="2100" dirty="0">
                <a:solidFill>
                  <a:srgbClr val="3B4A44"/>
                </a:solidFill>
                <a:latin typeface="Inter" pitchFamily="34" charset="0"/>
                <a:ea typeface="Inter" pitchFamily="34" charset="-122"/>
                <a:cs typeface="Inter" pitchFamily="34" charset="-120"/>
              </a:rPr>
              <a:t>The right support route</a:t>
            </a:r>
            <a:endParaRPr lang="en-US" sz="2100" dirty="0"/>
          </a:p>
        </p:txBody>
      </p:sp>
      <p:sp>
        <p:nvSpPr>
          <p:cNvPr id="24" name="Shape 21"/>
          <p:cNvSpPr/>
          <p:nvPr/>
        </p:nvSpPr>
        <p:spPr>
          <a:xfrm>
            <a:off x="1143000" y="8443913"/>
            <a:ext cx="16002000" cy="890588"/>
          </a:xfrm>
          <a:prstGeom prst="roundRect">
            <a:avLst>
              <a:gd name="adj" fmla="val 17112"/>
            </a:avLst>
          </a:prstGeom>
          <a:solidFill>
            <a:srgbClr val="FBF3EA"/>
          </a:solidFill>
          <a:ln w="9525">
            <a:solidFill>
              <a:srgbClr val="EFDCC6"/>
            </a:solidFill>
            <a:prstDash val="solid"/>
          </a:ln>
        </p:spPr>
        <p:txBody>
          <a:bodyPr/>
          <a:lstStyle/>
          <a:p>
            <a:endParaRPr lang="en-US"/>
          </a:p>
        </p:txBody>
      </p:sp>
      <p:sp>
        <p:nvSpPr>
          <p:cNvPr id="25" name="Shape 22"/>
          <p:cNvSpPr/>
          <p:nvPr/>
        </p:nvSpPr>
        <p:spPr>
          <a:xfrm>
            <a:off x="1457325" y="8662988"/>
            <a:ext cx="2792016" cy="452438"/>
          </a:xfrm>
          <a:prstGeom prst="roundRect">
            <a:avLst>
              <a:gd name="adj" fmla="val 50000"/>
            </a:avLst>
          </a:prstGeom>
          <a:solidFill>
            <a:srgbClr val="F4E2CF"/>
          </a:solidFill>
          <a:ln/>
        </p:spPr>
        <p:txBody>
          <a:bodyPr/>
          <a:lstStyle/>
          <a:p>
            <a:endParaRPr lang="en-US"/>
          </a:p>
        </p:txBody>
      </p:sp>
      <p:sp>
        <p:nvSpPr>
          <p:cNvPr id="26" name="Text 23"/>
          <p:cNvSpPr/>
          <p:nvPr/>
        </p:nvSpPr>
        <p:spPr>
          <a:xfrm>
            <a:off x="1609725" y="8739188"/>
            <a:ext cx="2570976" cy="338138"/>
          </a:xfrm>
          <a:prstGeom prst="rect">
            <a:avLst/>
          </a:prstGeom>
          <a:noFill/>
          <a:ln/>
        </p:spPr>
        <p:txBody>
          <a:bodyPr wrap="none" lIns="25400" tIns="25400" rIns="25400" bIns="25400" rtlCol="0" anchor="t">
            <a:normAutofit/>
          </a:bodyPr>
          <a:lstStyle/>
          <a:p>
            <a:pPr marL="0" indent="0" algn="l">
              <a:buNone/>
            </a:pPr>
            <a:r>
              <a:rPr lang="en-US" sz="1800" kern="0" spc="144" dirty="0">
                <a:solidFill>
                  <a:srgbClr val="B5651D"/>
                </a:solidFill>
                <a:latin typeface="JetBrains Mono" pitchFamily="34" charset="0"/>
                <a:ea typeface="JetBrains Mono" pitchFamily="34" charset="-122"/>
                <a:cs typeface="JetBrains Mono" pitchFamily="34" charset="-120"/>
              </a:rPr>
              <a:t>WHAT WE DON'T DO</a:t>
            </a:r>
            <a:endParaRPr lang="en-US" sz="1800" dirty="0"/>
          </a:p>
        </p:txBody>
      </p:sp>
      <p:sp>
        <p:nvSpPr>
          <p:cNvPr id="27" name="Text 24"/>
          <p:cNvSpPr/>
          <p:nvPr/>
        </p:nvSpPr>
        <p:spPr>
          <a:xfrm>
            <a:off x="4458891" y="8709199"/>
            <a:ext cx="13033110" cy="398115"/>
          </a:xfrm>
          <a:prstGeom prst="rect">
            <a:avLst/>
          </a:prstGeom>
          <a:noFill/>
          <a:ln/>
        </p:spPr>
        <p:txBody>
          <a:bodyPr wrap="square" lIns="25400" tIns="25400" rIns="25400" bIns="25400" rtlCol="0" anchor="t">
            <a:normAutofit/>
          </a:bodyPr>
          <a:lstStyle/>
          <a:p>
            <a:pPr marL="0" indent="0" algn="l">
              <a:lnSpc>
                <a:spcPct val="111176"/>
              </a:lnSpc>
              <a:buNone/>
            </a:pPr>
            <a:r>
              <a:rPr lang="en-US" sz="2100" dirty="0">
                <a:solidFill>
                  <a:srgbClr val="14201B"/>
                </a:solidFill>
                <a:latin typeface="Inter" pitchFamily="34" charset="0"/>
                <a:ea typeface="Inter" pitchFamily="34" charset="-122"/>
                <a:cs typeface="Inter" pitchFamily="34" charset="-120"/>
              </a:rPr>
              <a:t>Own support or incidents. Feature teams still raise their own support tickets, e.g. with Kyndryl.</a:t>
            </a:r>
            <a:endParaRPr lang="en-US" sz="2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3000" y="957263"/>
            <a:ext cx="342900" cy="342900"/>
          </a:xfrm>
          <a:prstGeom prst="rect">
            <a:avLst/>
          </a:prstGeom>
        </p:spPr>
      </p:pic>
      <p:sp>
        <p:nvSpPr>
          <p:cNvPr id="3" name="Text 0"/>
          <p:cNvSpPr/>
          <p:nvPr/>
        </p:nvSpPr>
        <p:spPr>
          <a:xfrm>
            <a:off x="1638300" y="952500"/>
            <a:ext cx="6242871" cy="390525"/>
          </a:xfrm>
          <a:prstGeom prst="rect">
            <a:avLst/>
          </a:prstGeom>
          <a:noFill/>
          <a:ln/>
        </p:spPr>
        <p:txBody>
          <a:bodyPr wrap="square" lIns="25400" tIns="25400" rIns="25400" bIns="25400" rtlCol="0" anchor="t">
            <a:normAutofit/>
          </a:bodyPr>
          <a:lstStyle/>
          <a:p>
            <a:pPr marL="0" indent="0" algn="l">
              <a:buNone/>
            </a:pPr>
            <a:r>
              <a:rPr lang="en-US" sz="2100" kern="0" spc="336" dirty="0">
                <a:solidFill>
                  <a:srgbClr val="006A4D"/>
                </a:solidFill>
                <a:latin typeface="JetBrains Mono" pitchFamily="34" charset="0"/>
                <a:ea typeface="JetBrains Mono" pitchFamily="34" charset="-122"/>
                <a:cs typeface="JetBrains Mono" pitchFamily="34" charset="-120"/>
              </a:rPr>
              <a:t>04 · AI-ASSISTED ENGINEERING</a:t>
            </a:r>
            <a:endParaRPr lang="en-US" sz="2100" dirty="0"/>
          </a:p>
        </p:txBody>
      </p:sp>
      <p:sp>
        <p:nvSpPr>
          <p:cNvPr id="4" name="Shape 1"/>
          <p:cNvSpPr/>
          <p:nvPr/>
        </p:nvSpPr>
        <p:spPr>
          <a:xfrm>
            <a:off x="1143000" y="1533525"/>
            <a:ext cx="685800" cy="47625"/>
          </a:xfrm>
          <a:prstGeom prst="roundRect">
            <a:avLst>
              <a:gd name="adj" fmla="val 40000"/>
            </a:avLst>
          </a:prstGeom>
          <a:solidFill>
            <a:srgbClr val="006A4D"/>
          </a:solidFill>
          <a:ln/>
        </p:spPr>
        <p:txBody>
          <a:bodyPr/>
          <a:lstStyle/>
          <a:p>
            <a:endParaRPr lang="en-US"/>
          </a:p>
        </p:txBody>
      </p:sp>
      <p:sp>
        <p:nvSpPr>
          <p:cNvPr id="5" name="Text 2"/>
          <p:cNvSpPr/>
          <p:nvPr/>
        </p:nvSpPr>
        <p:spPr>
          <a:xfrm>
            <a:off x="1143000" y="2000250"/>
            <a:ext cx="17602200" cy="790947"/>
          </a:xfrm>
          <a:prstGeom prst="rect">
            <a:avLst/>
          </a:prstGeom>
          <a:noFill/>
          <a:ln/>
        </p:spPr>
        <p:txBody>
          <a:bodyPr wrap="square" lIns="25400" tIns="25400" rIns="25400" bIns="25400" rtlCol="0" anchor="t">
            <a:normAutofit/>
          </a:bodyPr>
          <a:lstStyle/>
          <a:p>
            <a:pPr marL="0" indent="0" algn="l">
              <a:lnSpc>
                <a:spcPct val="85913"/>
              </a:lnSpc>
              <a:buNone/>
            </a:pPr>
            <a:r>
              <a:rPr lang="en-US" sz="5700" b="1" kern="0" spc="-114" dirty="0">
                <a:solidFill>
                  <a:srgbClr val="003824"/>
                </a:solidFill>
                <a:latin typeface="Inter" pitchFamily="34" charset="0"/>
                <a:ea typeface="Inter" pitchFamily="34" charset="-122"/>
                <a:cs typeface="Inter" pitchFamily="34" charset="-120"/>
              </a:rPr>
              <a:t>We prime repos for AI assistants.</a:t>
            </a:r>
            <a:endParaRPr lang="en-US" sz="5700" dirty="0"/>
          </a:p>
        </p:txBody>
      </p:sp>
      <p:sp>
        <p:nvSpPr>
          <p:cNvPr id="6" name="Shape 3"/>
          <p:cNvSpPr/>
          <p:nvPr/>
        </p:nvSpPr>
        <p:spPr>
          <a:xfrm>
            <a:off x="1143000" y="3019797"/>
            <a:ext cx="8612460" cy="3510558"/>
          </a:xfrm>
          <a:prstGeom prst="roundRect">
            <a:avLst>
              <a:gd name="adj" fmla="val 4884"/>
            </a:avLst>
          </a:prstGeom>
          <a:solidFill>
            <a:srgbClr val="0A1F17"/>
          </a:solidFill>
          <a:ln/>
          <a:effectLst>
            <a:outerShdw blurRad="571500" dist="285750" dir="5400000" algn="bl" rotWithShape="0">
              <a:srgbClr val="000000">
                <a:alpha val="50000"/>
              </a:srgbClr>
            </a:outerShdw>
          </a:effectLst>
        </p:spPr>
        <p:txBody>
          <a:bodyPr/>
          <a:lstStyle/>
          <a:p>
            <a:endParaRPr lang="en-US"/>
          </a:p>
        </p:txBody>
      </p:sp>
      <p:sp>
        <p:nvSpPr>
          <p:cNvPr id="7" name="Shape 4"/>
          <p:cNvSpPr/>
          <p:nvPr/>
        </p:nvSpPr>
        <p:spPr>
          <a:xfrm>
            <a:off x="1524000" y="3441278"/>
            <a:ext cx="104775" cy="104775"/>
          </a:xfrm>
          <a:prstGeom prst="ellipse">
            <a:avLst/>
          </a:prstGeom>
          <a:solidFill>
            <a:srgbClr val="9EC5B3"/>
          </a:solidFill>
          <a:ln/>
        </p:spPr>
        <p:txBody>
          <a:bodyPr/>
          <a:lstStyle/>
          <a:p>
            <a:endParaRPr lang="en-US"/>
          </a:p>
        </p:txBody>
      </p:sp>
      <p:sp>
        <p:nvSpPr>
          <p:cNvPr id="8" name="Text 5"/>
          <p:cNvSpPr/>
          <p:nvPr/>
        </p:nvSpPr>
        <p:spPr>
          <a:xfrm>
            <a:off x="1724025" y="3343647"/>
            <a:ext cx="2124886" cy="338138"/>
          </a:xfrm>
          <a:prstGeom prst="rect">
            <a:avLst/>
          </a:prstGeom>
          <a:noFill/>
          <a:ln/>
        </p:spPr>
        <p:txBody>
          <a:bodyPr wrap="square" lIns="25400" tIns="25400" rIns="25400" bIns="25400" rtlCol="0" anchor="t">
            <a:normAutofit/>
          </a:bodyPr>
          <a:lstStyle/>
          <a:p>
            <a:pPr marL="0" indent="0" algn="l">
              <a:buNone/>
            </a:pPr>
            <a:r>
              <a:rPr lang="en-US" sz="1800" kern="0" spc="90" dirty="0">
                <a:solidFill>
                  <a:srgbClr val="9EC5B3"/>
                </a:solidFill>
                <a:latin typeface="JetBrains Mono" pitchFamily="34" charset="0"/>
                <a:ea typeface="JetBrains Mono" pitchFamily="34" charset="-122"/>
                <a:cs typeface="JetBrains Mono" pitchFamily="34" charset="-120"/>
              </a:rPr>
              <a:t>your-service/</a:t>
            </a:r>
            <a:endParaRPr lang="en-US" sz="1800" dirty="0"/>
          </a:p>
        </p:txBody>
      </p:sp>
      <p:sp>
        <p:nvSpPr>
          <p:cNvPr id="9" name="Text 6"/>
          <p:cNvSpPr/>
          <p:nvPr/>
        </p:nvSpPr>
        <p:spPr>
          <a:xfrm>
            <a:off x="1524000" y="3815135"/>
            <a:ext cx="8085974" cy="436662"/>
          </a:xfrm>
          <a:prstGeom prst="rect">
            <a:avLst/>
          </a:prstGeom>
          <a:noFill/>
          <a:ln/>
        </p:spPr>
        <p:txBody>
          <a:bodyPr wrap="none" lIns="25400" tIns="25400" rIns="25400" bIns="25400" rtlCol="0" anchor="t">
            <a:normAutofit/>
          </a:bodyPr>
          <a:lstStyle/>
          <a:p>
            <a:pPr marL="0" indent="0" algn="l">
              <a:lnSpc>
                <a:spcPct val="117887"/>
              </a:lnSpc>
              <a:buNone/>
            </a:pPr>
            <a:r>
              <a:rPr lang="en-US" sz="2025" dirty="0">
                <a:solidFill>
                  <a:srgbClr val="EAF4EF"/>
                </a:solidFill>
                <a:latin typeface="JetBrains Mono" pitchFamily="34" charset="0"/>
                <a:ea typeface="JetBrains Mono" pitchFamily="34" charset="-122"/>
                <a:cs typeface="JetBrains Mono" pitchFamily="34" charset="-120"/>
              </a:rPr>
              <a:t>├── </a:t>
            </a:r>
            <a:r>
              <a:rPr lang="en-US" sz="2025" dirty="0">
                <a:solidFill>
                  <a:srgbClr val="E8B98A"/>
                </a:solidFill>
                <a:latin typeface="JetBrains Mono" pitchFamily="34" charset="0"/>
                <a:ea typeface="JetBrains Mono" pitchFamily="34" charset="-122"/>
                <a:cs typeface="JetBrains Mono" pitchFamily="34" charset="-120"/>
              </a:rPr>
              <a:t>AGENTS.md</a:t>
            </a:r>
            <a:r>
              <a:rPr lang="en-US" sz="2025" dirty="0">
                <a:solidFill>
                  <a:srgbClr val="EAF4EF"/>
                </a:solidFill>
                <a:latin typeface="JetBrains Mono" pitchFamily="34" charset="0"/>
                <a:ea typeface="JetBrains Mono" pitchFamily="34" charset="-122"/>
                <a:cs typeface="JetBrains Mono" pitchFamily="34" charset="-120"/>
              </a:rPr>
              <a:t>                </a:t>
            </a:r>
            <a:r>
              <a:rPr lang="en-US" sz="2025" dirty="0">
                <a:solidFill>
                  <a:srgbClr val="6F9684"/>
                </a:solidFill>
                <a:latin typeface="JetBrains Mono" pitchFamily="34" charset="0"/>
                <a:ea typeface="JetBrains Mono" pitchFamily="34" charset="-122"/>
                <a:cs typeface="JetBrains Mono" pitchFamily="34" charset="-120"/>
              </a:rPr>
              <a:t># build, test, layout</a:t>
            </a:r>
            <a:endParaRPr lang="en-US" sz="2025" dirty="0"/>
          </a:p>
        </p:txBody>
      </p:sp>
      <p:sp>
        <p:nvSpPr>
          <p:cNvPr id="10" name="Text 7"/>
          <p:cNvSpPr/>
          <p:nvPr/>
        </p:nvSpPr>
        <p:spPr>
          <a:xfrm>
            <a:off x="1524000" y="4213696"/>
            <a:ext cx="8085974" cy="436662"/>
          </a:xfrm>
          <a:prstGeom prst="rect">
            <a:avLst/>
          </a:prstGeom>
          <a:noFill/>
          <a:ln/>
        </p:spPr>
        <p:txBody>
          <a:bodyPr wrap="none" lIns="25400" tIns="25400" rIns="25400" bIns="25400" rtlCol="0" anchor="t">
            <a:normAutofit/>
          </a:bodyPr>
          <a:lstStyle/>
          <a:p>
            <a:pPr marL="0" indent="0" algn="l">
              <a:lnSpc>
                <a:spcPct val="117887"/>
              </a:lnSpc>
              <a:buNone/>
            </a:pPr>
            <a:r>
              <a:rPr lang="en-US" sz="2025" dirty="0">
                <a:solidFill>
                  <a:srgbClr val="EAF4EF"/>
                </a:solidFill>
                <a:latin typeface="JetBrains Mono" pitchFamily="34" charset="0"/>
                <a:ea typeface="JetBrains Mono" pitchFamily="34" charset="-122"/>
                <a:cs typeface="JetBrains Mono" pitchFamily="34" charset="-120"/>
              </a:rPr>
              <a:t>├── .github/</a:t>
            </a:r>
            <a:endParaRPr lang="en-US" sz="2025" dirty="0"/>
          </a:p>
        </p:txBody>
      </p:sp>
      <p:sp>
        <p:nvSpPr>
          <p:cNvPr id="11" name="Text 8"/>
          <p:cNvSpPr/>
          <p:nvPr/>
        </p:nvSpPr>
        <p:spPr>
          <a:xfrm>
            <a:off x="1524000" y="4612258"/>
            <a:ext cx="8085974" cy="436662"/>
          </a:xfrm>
          <a:prstGeom prst="rect">
            <a:avLst/>
          </a:prstGeom>
          <a:noFill/>
          <a:ln/>
        </p:spPr>
        <p:txBody>
          <a:bodyPr wrap="none" lIns="25400" tIns="25400" rIns="25400" bIns="25400" rtlCol="0" anchor="t">
            <a:normAutofit/>
          </a:bodyPr>
          <a:lstStyle/>
          <a:p>
            <a:pPr marL="0" indent="0" algn="l">
              <a:lnSpc>
                <a:spcPct val="117887"/>
              </a:lnSpc>
              <a:buNone/>
            </a:pPr>
            <a:r>
              <a:rPr lang="en-US" sz="2025" dirty="0">
                <a:solidFill>
                  <a:srgbClr val="EAF4EF"/>
                </a:solidFill>
                <a:latin typeface="JetBrains Mono" pitchFamily="34" charset="0"/>
                <a:ea typeface="JetBrains Mono" pitchFamily="34" charset="-122"/>
                <a:cs typeface="JetBrains Mono" pitchFamily="34" charset="-120"/>
              </a:rPr>
              <a:t>│   └── </a:t>
            </a:r>
            <a:r>
              <a:rPr lang="en-US" sz="2025" dirty="0">
                <a:solidFill>
                  <a:srgbClr val="E8B98A"/>
                </a:solidFill>
                <a:latin typeface="JetBrains Mono" pitchFamily="34" charset="0"/>
                <a:ea typeface="JetBrains Mono" pitchFamily="34" charset="-122"/>
                <a:cs typeface="JetBrains Mono" pitchFamily="34" charset="-120"/>
              </a:rPr>
              <a:t>copilot-instructions.md</a:t>
            </a:r>
            <a:r>
              <a:rPr lang="en-US" sz="2025" dirty="0">
                <a:solidFill>
                  <a:srgbClr val="EAF4EF"/>
                </a:solidFill>
                <a:latin typeface="JetBrains Mono" pitchFamily="34" charset="0"/>
                <a:ea typeface="JetBrains Mono" pitchFamily="34" charset="-122"/>
                <a:cs typeface="JetBrains Mono" pitchFamily="34" charset="-120"/>
              </a:rPr>
              <a:t> </a:t>
            </a:r>
            <a:r>
              <a:rPr lang="en-US" sz="2025" dirty="0">
                <a:solidFill>
                  <a:srgbClr val="6F9684"/>
                </a:solidFill>
                <a:latin typeface="JetBrains Mono" pitchFamily="34" charset="0"/>
                <a:ea typeface="JetBrains Mono" pitchFamily="34" charset="-122"/>
                <a:cs typeface="JetBrains Mono" pitchFamily="34" charset="-120"/>
              </a:rPr>
              <a:t># conventions</a:t>
            </a:r>
            <a:endParaRPr lang="en-US" sz="2025" dirty="0"/>
          </a:p>
        </p:txBody>
      </p:sp>
      <p:sp>
        <p:nvSpPr>
          <p:cNvPr id="12" name="Text 9"/>
          <p:cNvSpPr/>
          <p:nvPr/>
        </p:nvSpPr>
        <p:spPr>
          <a:xfrm>
            <a:off x="1524000" y="5010820"/>
            <a:ext cx="8085974" cy="436662"/>
          </a:xfrm>
          <a:prstGeom prst="rect">
            <a:avLst/>
          </a:prstGeom>
          <a:noFill/>
          <a:ln/>
        </p:spPr>
        <p:txBody>
          <a:bodyPr wrap="none" lIns="25400" tIns="25400" rIns="25400" bIns="25400" rtlCol="0" anchor="t">
            <a:normAutofit/>
          </a:bodyPr>
          <a:lstStyle/>
          <a:p>
            <a:pPr marL="0" indent="0" algn="l">
              <a:lnSpc>
                <a:spcPct val="117887"/>
              </a:lnSpc>
              <a:buNone/>
            </a:pPr>
            <a:r>
              <a:rPr lang="en-US" sz="2025" dirty="0">
                <a:solidFill>
                  <a:srgbClr val="EAF4EF"/>
                </a:solidFill>
                <a:latin typeface="JetBrains Mono" pitchFamily="34" charset="0"/>
                <a:ea typeface="JetBrains Mono" pitchFamily="34" charset="-122"/>
                <a:cs typeface="JetBrains Mono" pitchFamily="34" charset="-120"/>
              </a:rPr>
              <a:t>├── docs/</a:t>
            </a:r>
            <a:endParaRPr lang="en-US" sz="2025" dirty="0"/>
          </a:p>
        </p:txBody>
      </p:sp>
      <p:sp>
        <p:nvSpPr>
          <p:cNvPr id="13" name="Text 10"/>
          <p:cNvSpPr/>
          <p:nvPr/>
        </p:nvSpPr>
        <p:spPr>
          <a:xfrm>
            <a:off x="1524000" y="5409381"/>
            <a:ext cx="8085974" cy="436662"/>
          </a:xfrm>
          <a:prstGeom prst="rect">
            <a:avLst/>
          </a:prstGeom>
          <a:noFill/>
          <a:ln/>
        </p:spPr>
        <p:txBody>
          <a:bodyPr wrap="none" lIns="25400" tIns="25400" rIns="25400" bIns="25400" rtlCol="0" anchor="t">
            <a:normAutofit/>
          </a:bodyPr>
          <a:lstStyle/>
          <a:p>
            <a:pPr marL="0" indent="0" algn="l">
              <a:lnSpc>
                <a:spcPct val="117887"/>
              </a:lnSpc>
              <a:buNone/>
            </a:pPr>
            <a:r>
              <a:rPr lang="en-US" sz="2025" dirty="0">
                <a:solidFill>
                  <a:srgbClr val="EAF4EF"/>
                </a:solidFill>
                <a:latin typeface="JetBrains Mono" pitchFamily="34" charset="0"/>
                <a:ea typeface="JetBrains Mono" pitchFamily="34" charset="-122"/>
                <a:cs typeface="JetBrains Mono" pitchFamily="34" charset="-120"/>
              </a:rPr>
              <a:t>│   └── </a:t>
            </a:r>
            <a:r>
              <a:rPr lang="en-US" sz="2025" dirty="0">
                <a:solidFill>
                  <a:srgbClr val="E8B98A"/>
                </a:solidFill>
                <a:latin typeface="JetBrains Mono" pitchFamily="34" charset="0"/>
                <a:ea typeface="JetBrains Mono" pitchFamily="34" charset="-122"/>
                <a:cs typeface="JetBrains Mono" pitchFamily="34" charset="-120"/>
              </a:rPr>
              <a:t>onboarding.md</a:t>
            </a:r>
            <a:r>
              <a:rPr lang="en-US" sz="2025" dirty="0">
                <a:solidFill>
                  <a:srgbClr val="EAF4EF"/>
                </a:solidFill>
                <a:latin typeface="JetBrains Mono" pitchFamily="34" charset="0"/>
                <a:ea typeface="JetBrains Mono" pitchFamily="34" charset="-122"/>
                <a:cs typeface="JetBrains Mono" pitchFamily="34" charset="-120"/>
              </a:rPr>
              <a:t>        </a:t>
            </a:r>
            <a:r>
              <a:rPr lang="en-US" sz="2025" dirty="0">
                <a:solidFill>
                  <a:srgbClr val="6F9684"/>
                </a:solidFill>
                <a:latin typeface="JetBrains Mono" pitchFamily="34" charset="0"/>
                <a:ea typeface="JetBrains Mono" pitchFamily="34" charset="-122"/>
                <a:cs typeface="JetBrains Mono" pitchFamily="34" charset="-120"/>
              </a:rPr>
              <a:t># day-one guide</a:t>
            </a:r>
            <a:endParaRPr lang="en-US" sz="2025" dirty="0"/>
          </a:p>
        </p:txBody>
      </p:sp>
      <p:sp>
        <p:nvSpPr>
          <p:cNvPr id="14" name="Text 11"/>
          <p:cNvSpPr/>
          <p:nvPr/>
        </p:nvSpPr>
        <p:spPr>
          <a:xfrm>
            <a:off x="1524000" y="5807943"/>
            <a:ext cx="8085974" cy="436662"/>
          </a:xfrm>
          <a:prstGeom prst="rect">
            <a:avLst/>
          </a:prstGeom>
          <a:noFill/>
          <a:ln/>
        </p:spPr>
        <p:txBody>
          <a:bodyPr wrap="none" lIns="25400" tIns="25400" rIns="25400" bIns="25400" rtlCol="0" anchor="t">
            <a:normAutofit/>
          </a:bodyPr>
          <a:lstStyle/>
          <a:p>
            <a:pPr marL="0" indent="0" algn="l">
              <a:lnSpc>
                <a:spcPct val="117887"/>
              </a:lnSpc>
              <a:buNone/>
            </a:pPr>
            <a:r>
              <a:rPr lang="en-US" sz="2025" dirty="0">
                <a:solidFill>
                  <a:srgbClr val="EAF4EF"/>
                </a:solidFill>
                <a:latin typeface="JetBrains Mono" pitchFamily="34" charset="0"/>
                <a:ea typeface="JetBrains Mono" pitchFamily="34" charset="-122"/>
                <a:cs typeface="JetBrains Mono" pitchFamily="34" charset="-120"/>
              </a:rPr>
              <a:t>└── src/</a:t>
            </a:r>
            <a:endParaRPr lang="en-US" sz="2025" dirty="0"/>
          </a:p>
        </p:txBody>
      </p:sp>
      <p:sp>
        <p:nvSpPr>
          <p:cNvPr id="15" name="Shape 12"/>
          <p:cNvSpPr/>
          <p:nvPr/>
        </p:nvSpPr>
        <p:spPr>
          <a:xfrm>
            <a:off x="10098360" y="3019797"/>
            <a:ext cx="7046640" cy="1579215"/>
          </a:xfrm>
          <a:prstGeom prst="roundRect">
            <a:avLst>
              <a:gd name="adj" fmla="val 9650"/>
            </a:avLst>
          </a:prstGeom>
          <a:solidFill>
            <a:srgbClr val="F3F8F5"/>
          </a:solidFill>
          <a:ln w="9525">
            <a:solidFill>
              <a:srgbClr val="E6F1EC"/>
            </a:solidFill>
            <a:prstDash val="solid"/>
          </a:ln>
        </p:spPr>
        <p:txBody>
          <a:bodyPr/>
          <a:lstStyle/>
          <a:p>
            <a:endParaRPr lang="en-US"/>
          </a:p>
        </p:txBody>
      </p:sp>
      <p:sp>
        <p:nvSpPr>
          <p:cNvPr id="16" name="Text 13"/>
          <p:cNvSpPr/>
          <p:nvPr/>
        </p:nvSpPr>
        <p:spPr>
          <a:xfrm>
            <a:off x="10412685" y="3238872"/>
            <a:ext cx="7059789" cy="338138"/>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006A4D"/>
                </a:solidFill>
                <a:latin typeface="JetBrains Mono" pitchFamily="34" charset="0"/>
                <a:ea typeface="JetBrains Mono" pitchFamily="34" charset="-122"/>
                <a:cs typeface="JetBrains Mono" pitchFamily="34" charset="-120"/>
              </a:rPr>
              <a:t>CONTEXT FILES</a:t>
            </a:r>
            <a:endParaRPr lang="en-US" sz="1800" dirty="0"/>
          </a:p>
        </p:txBody>
      </p:sp>
      <p:sp>
        <p:nvSpPr>
          <p:cNvPr id="17" name="Text 14"/>
          <p:cNvSpPr/>
          <p:nvPr/>
        </p:nvSpPr>
        <p:spPr>
          <a:xfrm>
            <a:off x="10412685" y="3634160"/>
            <a:ext cx="6610529" cy="783878"/>
          </a:xfrm>
          <a:prstGeom prst="rect">
            <a:avLst/>
          </a:prstGeom>
          <a:noFill/>
          <a:ln/>
        </p:spPr>
        <p:txBody>
          <a:bodyPr wrap="square" lIns="25400" tIns="25400" rIns="25400" bIns="25400" rtlCol="0" anchor="t">
            <a:normAutofit/>
          </a:bodyPr>
          <a:lstStyle/>
          <a:p>
            <a:pPr marL="0" indent="0" algn="l">
              <a:lnSpc>
                <a:spcPct val="111857"/>
              </a:lnSpc>
              <a:buNone/>
            </a:pPr>
            <a:r>
              <a:rPr lang="en-US" sz="2175" dirty="0">
                <a:solidFill>
                  <a:srgbClr val="14201B"/>
                </a:solidFill>
                <a:latin typeface="Inter" pitchFamily="34" charset="0"/>
                <a:ea typeface="Inter" pitchFamily="34" charset="-122"/>
                <a:cs typeface="Inter" pitchFamily="34" charset="-120"/>
              </a:rPr>
              <a:t>Tells the assistant how the repo works and its conventions.</a:t>
            </a:r>
            <a:endParaRPr lang="en-US" sz="2175" dirty="0"/>
          </a:p>
        </p:txBody>
      </p:sp>
      <p:sp>
        <p:nvSpPr>
          <p:cNvPr id="18" name="Shape 15"/>
          <p:cNvSpPr/>
          <p:nvPr/>
        </p:nvSpPr>
        <p:spPr>
          <a:xfrm>
            <a:off x="10098360" y="4751412"/>
            <a:ext cx="7046640" cy="1579215"/>
          </a:xfrm>
          <a:prstGeom prst="roundRect">
            <a:avLst>
              <a:gd name="adj" fmla="val 9650"/>
            </a:avLst>
          </a:prstGeom>
          <a:solidFill>
            <a:srgbClr val="F3F8F5"/>
          </a:solidFill>
          <a:ln w="9525">
            <a:solidFill>
              <a:srgbClr val="E6F1EC"/>
            </a:solidFill>
            <a:prstDash val="solid"/>
          </a:ln>
        </p:spPr>
        <p:txBody>
          <a:bodyPr/>
          <a:lstStyle/>
          <a:p>
            <a:endParaRPr lang="en-US"/>
          </a:p>
        </p:txBody>
      </p:sp>
      <p:sp>
        <p:nvSpPr>
          <p:cNvPr id="19" name="Text 16"/>
          <p:cNvSpPr/>
          <p:nvPr/>
        </p:nvSpPr>
        <p:spPr>
          <a:xfrm>
            <a:off x="10412685" y="4970487"/>
            <a:ext cx="7059789" cy="338138"/>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006A4D"/>
                </a:solidFill>
                <a:latin typeface="JetBrains Mono" pitchFamily="34" charset="0"/>
                <a:ea typeface="JetBrains Mono" pitchFamily="34" charset="-122"/>
                <a:cs typeface="JetBrains Mono" pitchFamily="34" charset="-120"/>
              </a:rPr>
              <a:t>SKILLS · PER DEVELOPER</a:t>
            </a:r>
            <a:endParaRPr lang="en-US" sz="1800" dirty="0"/>
          </a:p>
        </p:txBody>
      </p:sp>
      <p:sp>
        <p:nvSpPr>
          <p:cNvPr id="20" name="Text 17"/>
          <p:cNvSpPr/>
          <p:nvPr/>
        </p:nvSpPr>
        <p:spPr>
          <a:xfrm>
            <a:off x="10412685" y="5365775"/>
            <a:ext cx="6610529" cy="783878"/>
          </a:xfrm>
          <a:prstGeom prst="rect">
            <a:avLst/>
          </a:prstGeom>
          <a:noFill/>
          <a:ln/>
        </p:spPr>
        <p:txBody>
          <a:bodyPr wrap="square" lIns="25400" tIns="25400" rIns="25400" bIns="25400" rtlCol="0" anchor="t">
            <a:normAutofit/>
          </a:bodyPr>
          <a:lstStyle/>
          <a:p>
            <a:pPr marL="0" indent="0" algn="l">
              <a:lnSpc>
                <a:spcPct val="111857"/>
              </a:lnSpc>
              <a:buNone/>
            </a:pPr>
            <a:r>
              <a:rPr lang="en-US" sz="2175" dirty="0">
                <a:solidFill>
                  <a:srgbClr val="14201B"/>
                </a:solidFill>
                <a:latin typeface="Inter" pitchFamily="34" charset="0"/>
                <a:ea typeface="Inter" pitchFamily="34" charset="-122"/>
                <a:cs typeface="Inter" pitchFamily="34" charset="-120"/>
              </a:rPr>
              <a:t>Superpowers and similar plugins, installed per user.</a:t>
            </a:r>
            <a:endParaRPr lang="en-US" sz="2175" dirty="0"/>
          </a:p>
        </p:txBody>
      </p:sp>
      <p:sp>
        <p:nvSpPr>
          <p:cNvPr id="21" name="Shape 18"/>
          <p:cNvSpPr/>
          <p:nvPr/>
        </p:nvSpPr>
        <p:spPr>
          <a:xfrm>
            <a:off x="10098360" y="6483028"/>
            <a:ext cx="7046640" cy="1560165"/>
          </a:xfrm>
          <a:prstGeom prst="roundRect">
            <a:avLst>
              <a:gd name="adj" fmla="val 9768"/>
            </a:avLst>
          </a:prstGeom>
          <a:solidFill>
            <a:srgbClr val="003824"/>
          </a:solidFill>
          <a:ln/>
        </p:spPr>
        <p:txBody>
          <a:bodyPr/>
          <a:lstStyle/>
          <a:p>
            <a:endParaRPr lang="en-US"/>
          </a:p>
        </p:txBody>
      </p:sp>
      <p:sp>
        <p:nvSpPr>
          <p:cNvPr id="22" name="Text 19"/>
          <p:cNvSpPr/>
          <p:nvPr/>
        </p:nvSpPr>
        <p:spPr>
          <a:xfrm>
            <a:off x="10403160" y="6692578"/>
            <a:ext cx="7080744" cy="338138"/>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9EC5B3"/>
                </a:solidFill>
                <a:latin typeface="JetBrains Mono" pitchFamily="34" charset="0"/>
                <a:ea typeface="JetBrains Mono" pitchFamily="34" charset="-122"/>
                <a:cs typeface="JetBrains Mono" pitchFamily="34" charset="-120"/>
              </a:rPr>
              <a:t>ONBOARDING GUIDES</a:t>
            </a:r>
            <a:endParaRPr lang="en-US" sz="1800" dirty="0"/>
          </a:p>
        </p:txBody>
      </p:sp>
      <p:sp>
        <p:nvSpPr>
          <p:cNvPr id="23" name="Text 20"/>
          <p:cNvSpPr/>
          <p:nvPr/>
        </p:nvSpPr>
        <p:spPr>
          <a:xfrm>
            <a:off x="10403160" y="7087865"/>
            <a:ext cx="6630151" cy="783878"/>
          </a:xfrm>
          <a:prstGeom prst="rect">
            <a:avLst/>
          </a:prstGeom>
          <a:noFill/>
          <a:ln/>
        </p:spPr>
        <p:txBody>
          <a:bodyPr wrap="square" lIns="25400" tIns="25400" rIns="25400" bIns="25400" rtlCol="0" anchor="t">
            <a:normAutofit/>
          </a:bodyPr>
          <a:lstStyle/>
          <a:p>
            <a:pPr marL="0" indent="0" algn="l">
              <a:lnSpc>
                <a:spcPct val="111857"/>
              </a:lnSpc>
              <a:buNone/>
            </a:pPr>
            <a:r>
              <a:rPr lang="en-US" sz="2175" dirty="0">
                <a:solidFill>
                  <a:srgbClr val="FFFFFF"/>
                </a:solidFill>
                <a:latin typeface="Inter" pitchFamily="34" charset="0"/>
                <a:ea typeface="Inter" pitchFamily="34" charset="-122"/>
                <a:cs typeface="Inter" pitchFamily="34" charset="-120"/>
              </a:rPr>
              <a:t>Get new developers productive with AI tooling on day one.</a:t>
            </a:r>
            <a:endParaRPr lang="en-US" sz="2175" dirty="0"/>
          </a:p>
        </p:txBody>
      </p:sp>
      <p:sp>
        <p:nvSpPr>
          <p:cNvPr id="24" name="Shape 21"/>
          <p:cNvSpPr/>
          <p:nvPr/>
        </p:nvSpPr>
        <p:spPr>
          <a:xfrm>
            <a:off x="1143000" y="8443913"/>
            <a:ext cx="16002000" cy="890588"/>
          </a:xfrm>
          <a:prstGeom prst="roundRect">
            <a:avLst>
              <a:gd name="adj" fmla="val 17112"/>
            </a:avLst>
          </a:prstGeom>
          <a:solidFill>
            <a:srgbClr val="FBF3EA"/>
          </a:solidFill>
          <a:ln w="9525">
            <a:solidFill>
              <a:srgbClr val="EFDCC6"/>
            </a:solidFill>
            <a:prstDash val="solid"/>
          </a:ln>
        </p:spPr>
        <p:txBody>
          <a:bodyPr/>
          <a:lstStyle/>
          <a:p>
            <a:endParaRPr lang="en-US"/>
          </a:p>
        </p:txBody>
      </p:sp>
      <p:sp>
        <p:nvSpPr>
          <p:cNvPr id="25" name="Shape 22"/>
          <p:cNvSpPr/>
          <p:nvPr/>
        </p:nvSpPr>
        <p:spPr>
          <a:xfrm>
            <a:off x="1457325" y="8662988"/>
            <a:ext cx="2792016" cy="452438"/>
          </a:xfrm>
          <a:prstGeom prst="roundRect">
            <a:avLst>
              <a:gd name="adj" fmla="val 50000"/>
            </a:avLst>
          </a:prstGeom>
          <a:solidFill>
            <a:srgbClr val="F4E2CF"/>
          </a:solidFill>
          <a:ln/>
        </p:spPr>
        <p:txBody>
          <a:bodyPr/>
          <a:lstStyle/>
          <a:p>
            <a:endParaRPr lang="en-US"/>
          </a:p>
        </p:txBody>
      </p:sp>
      <p:sp>
        <p:nvSpPr>
          <p:cNvPr id="26" name="Text 23"/>
          <p:cNvSpPr/>
          <p:nvPr/>
        </p:nvSpPr>
        <p:spPr>
          <a:xfrm>
            <a:off x="1609725" y="8739188"/>
            <a:ext cx="2570976" cy="338138"/>
          </a:xfrm>
          <a:prstGeom prst="rect">
            <a:avLst/>
          </a:prstGeom>
          <a:noFill/>
          <a:ln/>
        </p:spPr>
        <p:txBody>
          <a:bodyPr wrap="none" lIns="25400" tIns="25400" rIns="25400" bIns="25400" rtlCol="0" anchor="t">
            <a:normAutofit/>
          </a:bodyPr>
          <a:lstStyle/>
          <a:p>
            <a:pPr marL="0" indent="0" algn="l">
              <a:buNone/>
            </a:pPr>
            <a:r>
              <a:rPr lang="en-US" sz="1800" kern="0" spc="144" dirty="0">
                <a:solidFill>
                  <a:srgbClr val="B5651D"/>
                </a:solidFill>
                <a:latin typeface="JetBrains Mono" pitchFamily="34" charset="0"/>
                <a:ea typeface="JetBrains Mono" pitchFamily="34" charset="-122"/>
                <a:cs typeface="JetBrains Mono" pitchFamily="34" charset="-120"/>
              </a:rPr>
              <a:t>WHAT WE DON'T DO</a:t>
            </a:r>
            <a:endParaRPr lang="en-US" sz="1800" dirty="0"/>
          </a:p>
        </p:txBody>
      </p:sp>
      <p:sp>
        <p:nvSpPr>
          <p:cNvPr id="27" name="Text 24"/>
          <p:cNvSpPr/>
          <p:nvPr/>
        </p:nvSpPr>
        <p:spPr>
          <a:xfrm>
            <a:off x="4458891" y="8709199"/>
            <a:ext cx="12257365" cy="398115"/>
          </a:xfrm>
          <a:prstGeom prst="rect">
            <a:avLst/>
          </a:prstGeom>
          <a:noFill/>
          <a:ln/>
        </p:spPr>
        <p:txBody>
          <a:bodyPr wrap="square" lIns="25400" tIns="25400" rIns="25400" bIns="25400" rtlCol="0" anchor="t">
            <a:normAutofit/>
          </a:bodyPr>
          <a:lstStyle/>
          <a:p>
            <a:pPr marL="0" indent="0" algn="l">
              <a:lnSpc>
                <a:spcPct val="111176"/>
              </a:lnSpc>
              <a:buNone/>
            </a:pPr>
            <a:r>
              <a:rPr lang="en-US" sz="2100" dirty="0">
                <a:solidFill>
                  <a:srgbClr val="14201B"/>
                </a:solidFill>
                <a:latin typeface="Inter" pitchFamily="34" charset="0"/>
                <a:ea typeface="Inter" pitchFamily="34" charset="-122"/>
                <a:cs typeface="Inter" pitchFamily="34" charset="-120"/>
              </a:rPr>
              <a:t>Maintain your AGENTS.md and instruction files. Keeping them current is your team's job.</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3824"/>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3000" y="957263"/>
            <a:ext cx="342900" cy="342900"/>
          </a:xfrm>
          <a:prstGeom prst="rect">
            <a:avLst/>
          </a:prstGeom>
        </p:spPr>
      </p:pic>
      <p:sp>
        <p:nvSpPr>
          <p:cNvPr id="3" name="Text 0"/>
          <p:cNvSpPr/>
          <p:nvPr/>
        </p:nvSpPr>
        <p:spPr>
          <a:xfrm>
            <a:off x="1638300" y="952500"/>
            <a:ext cx="6242871" cy="390525"/>
          </a:xfrm>
          <a:prstGeom prst="rect">
            <a:avLst/>
          </a:prstGeom>
          <a:noFill/>
          <a:ln/>
        </p:spPr>
        <p:txBody>
          <a:bodyPr wrap="square" lIns="25400" tIns="25400" rIns="25400" bIns="25400" rtlCol="0" anchor="t">
            <a:normAutofit/>
          </a:bodyPr>
          <a:lstStyle/>
          <a:p>
            <a:pPr marL="0" indent="0" algn="l">
              <a:buNone/>
            </a:pPr>
            <a:r>
              <a:rPr lang="en-US" sz="2100" kern="0" spc="336" dirty="0">
                <a:solidFill>
                  <a:srgbClr val="9EC5B3"/>
                </a:solidFill>
                <a:latin typeface="JetBrains Mono" pitchFamily="34" charset="0"/>
                <a:ea typeface="JetBrains Mono" pitchFamily="34" charset="-122"/>
                <a:cs typeface="JetBrains Mono" pitchFamily="34" charset="-120"/>
              </a:rPr>
              <a:t>04 · AI-ASSISTED ENGINEERING</a:t>
            </a:r>
            <a:endParaRPr lang="en-US" sz="2100" dirty="0"/>
          </a:p>
        </p:txBody>
      </p:sp>
      <p:sp>
        <p:nvSpPr>
          <p:cNvPr id="4" name="Shape 1"/>
          <p:cNvSpPr/>
          <p:nvPr/>
        </p:nvSpPr>
        <p:spPr>
          <a:xfrm>
            <a:off x="1143000" y="1533525"/>
            <a:ext cx="685800" cy="47625"/>
          </a:xfrm>
          <a:prstGeom prst="roundRect">
            <a:avLst>
              <a:gd name="adj" fmla="val 40000"/>
            </a:avLst>
          </a:prstGeom>
          <a:solidFill>
            <a:srgbClr val="9EC5B3"/>
          </a:solidFill>
          <a:ln/>
        </p:spPr>
        <p:txBody>
          <a:bodyPr/>
          <a:lstStyle/>
          <a:p>
            <a:endParaRPr lang="en-US"/>
          </a:p>
        </p:txBody>
      </p:sp>
      <p:sp>
        <p:nvSpPr>
          <p:cNvPr id="5" name="Text 2"/>
          <p:cNvSpPr/>
          <p:nvPr/>
        </p:nvSpPr>
        <p:spPr>
          <a:xfrm>
            <a:off x="1143000" y="2000250"/>
            <a:ext cx="13068072" cy="1543794"/>
          </a:xfrm>
          <a:prstGeom prst="rect">
            <a:avLst/>
          </a:prstGeom>
          <a:noFill/>
          <a:ln/>
        </p:spPr>
        <p:txBody>
          <a:bodyPr wrap="square" lIns="25400" tIns="25400" rIns="25400" bIns="25400" rtlCol="0" anchor="t">
            <a:normAutofit/>
          </a:bodyPr>
          <a:lstStyle/>
          <a:p>
            <a:pPr marL="0" indent="0" algn="l">
              <a:lnSpc>
                <a:spcPct val="85913"/>
              </a:lnSpc>
              <a:buNone/>
            </a:pPr>
            <a:r>
              <a:rPr lang="en-US" sz="5700" b="1" kern="0" spc="-114" dirty="0">
                <a:solidFill>
                  <a:srgbClr val="FFFFFF"/>
                </a:solidFill>
                <a:latin typeface="Inter" pitchFamily="34" charset="0"/>
                <a:ea typeface="Inter" pitchFamily="34" charset="-122"/>
                <a:cs typeface="Inter" pitchFamily="34" charset="-120"/>
              </a:rPr>
              <a:t>We onboard new AI solutions available in the organisation.</a:t>
            </a:r>
            <a:endParaRPr lang="en-US" sz="5700" dirty="0"/>
          </a:p>
        </p:txBody>
      </p:sp>
      <p:sp>
        <p:nvSpPr>
          <p:cNvPr id="6" name="Shape 3"/>
          <p:cNvSpPr/>
          <p:nvPr/>
        </p:nvSpPr>
        <p:spPr>
          <a:xfrm>
            <a:off x="1143000" y="4001244"/>
            <a:ext cx="5181600" cy="1624013"/>
          </a:xfrm>
          <a:prstGeom prst="roundRect">
            <a:avLst>
              <a:gd name="adj" fmla="val 11730"/>
            </a:avLst>
          </a:prstGeom>
          <a:solidFill>
            <a:srgbClr val="0A4A31"/>
          </a:solidFill>
          <a:ln/>
        </p:spPr>
        <p:txBody>
          <a:bodyPr/>
          <a:lstStyle/>
          <a:p>
            <a:endParaRPr lang="en-US"/>
          </a:p>
        </p:txBody>
      </p:sp>
      <p:sp>
        <p:nvSpPr>
          <p:cNvPr id="7" name="Text 4"/>
          <p:cNvSpPr/>
          <p:nvPr/>
        </p:nvSpPr>
        <p:spPr>
          <a:xfrm>
            <a:off x="1524000" y="4344144"/>
            <a:ext cx="4861560" cy="338138"/>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9EC5B3"/>
                </a:solidFill>
                <a:latin typeface="JetBrains Mono" pitchFamily="34" charset="0"/>
                <a:ea typeface="JetBrains Mono" pitchFamily="34" charset="-122"/>
                <a:cs typeface="JetBrains Mono" pitchFamily="34" charset="-120"/>
              </a:rPr>
              <a:t>AGENT FRAMEWORK</a:t>
            </a:r>
            <a:endParaRPr lang="en-US" sz="1800" dirty="0"/>
          </a:p>
        </p:txBody>
      </p:sp>
      <p:sp>
        <p:nvSpPr>
          <p:cNvPr id="8" name="Text 5"/>
          <p:cNvSpPr/>
          <p:nvPr/>
        </p:nvSpPr>
        <p:spPr>
          <a:xfrm>
            <a:off x="1524000" y="4777532"/>
            <a:ext cx="4861560" cy="542925"/>
          </a:xfrm>
          <a:prstGeom prst="rect">
            <a:avLst/>
          </a:prstGeom>
          <a:noFill/>
          <a:ln/>
        </p:spPr>
        <p:txBody>
          <a:bodyPr wrap="square" lIns="25400" tIns="25400" rIns="25400" bIns="25400" rtlCol="0" anchor="t">
            <a:normAutofit/>
          </a:bodyPr>
          <a:lstStyle/>
          <a:p>
            <a:pPr marL="0" indent="0" algn="l">
              <a:buNone/>
            </a:pPr>
            <a:r>
              <a:rPr lang="en-US" sz="3300" b="1" dirty="0">
                <a:solidFill>
                  <a:srgbClr val="FFFFFF"/>
                </a:solidFill>
                <a:latin typeface="Inter" pitchFamily="34" charset="0"/>
                <a:ea typeface="Inter" pitchFamily="34" charset="-122"/>
                <a:cs typeface="Inter" pitchFamily="34" charset="-120"/>
              </a:rPr>
              <a:t>Envoy</a:t>
            </a:r>
            <a:endParaRPr lang="en-US" sz="3300" dirty="0"/>
          </a:p>
        </p:txBody>
      </p:sp>
      <p:sp>
        <p:nvSpPr>
          <p:cNvPr id="9" name="Shape 6"/>
          <p:cNvSpPr/>
          <p:nvPr/>
        </p:nvSpPr>
        <p:spPr>
          <a:xfrm>
            <a:off x="6553200" y="4001244"/>
            <a:ext cx="5181600" cy="1624013"/>
          </a:xfrm>
          <a:prstGeom prst="roundRect">
            <a:avLst>
              <a:gd name="adj" fmla="val 11730"/>
            </a:avLst>
          </a:prstGeom>
          <a:solidFill>
            <a:srgbClr val="0A4A31"/>
          </a:solidFill>
          <a:ln/>
        </p:spPr>
        <p:txBody>
          <a:bodyPr/>
          <a:lstStyle/>
          <a:p>
            <a:endParaRPr lang="en-US"/>
          </a:p>
        </p:txBody>
      </p:sp>
      <p:sp>
        <p:nvSpPr>
          <p:cNvPr id="10" name="Text 7"/>
          <p:cNvSpPr/>
          <p:nvPr/>
        </p:nvSpPr>
        <p:spPr>
          <a:xfrm>
            <a:off x="6934200" y="4344144"/>
            <a:ext cx="4861560" cy="338138"/>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9EC5B3"/>
                </a:solidFill>
                <a:latin typeface="JetBrains Mono" pitchFamily="34" charset="0"/>
                <a:ea typeface="JetBrains Mono" pitchFamily="34" charset="-122"/>
                <a:cs typeface="JetBrains Mono" pitchFamily="34" charset="-120"/>
              </a:rPr>
              <a:t>AI API</a:t>
            </a:r>
            <a:endParaRPr lang="en-US" sz="1800" dirty="0"/>
          </a:p>
        </p:txBody>
      </p:sp>
      <p:sp>
        <p:nvSpPr>
          <p:cNvPr id="11" name="Text 8"/>
          <p:cNvSpPr/>
          <p:nvPr/>
        </p:nvSpPr>
        <p:spPr>
          <a:xfrm>
            <a:off x="6934200" y="4777532"/>
            <a:ext cx="4861560" cy="542925"/>
          </a:xfrm>
          <a:prstGeom prst="rect">
            <a:avLst/>
          </a:prstGeom>
          <a:noFill/>
          <a:ln/>
        </p:spPr>
        <p:txBody>
          <a:bodyPr wrap="square" lIns="25400" tIns="25400" rIns="25400" bIns="25400" rtlCol="0" anchor="t">
            <a:normAutofit/>
          </a:bodyPr>
          <a:lstStyle/>
          <a:p>
            <a:pPr marL="0" indent="0" algn="l">
              <a:buNone/>
            </a:pPr>
            <a:r>
              <a:rPr lang="en-US" sz="3300" b="1" dirty="0">
                <a:solidFill>
                  <a:srgbClr val="FFFFFF"/>
                </a:solidFill>
                <a:latin typeface="Inter" pitchFamily="34" charset="0"/>
                <a:ea typeface="Inter" pitchFamily="34" charset="-122"/>
                <a:cs typeface="Inter" pitchFamily="34" charset="-120"/>
              </a:rPr>
              <a:t>Cortex API</a:t>
            </a:r>
            <a:endParaRPr lang="en-US" sz="3300" dirty="0"/>
          </a:p>
        </p:txBody>
      </p:sp>
      <p:sp>
        <p:nvSpPr>
          <p:cNvPr id="12" name="Shape 9"/>
          <p:cNvSpPr/>
          <p:nvPr/>
        </p:nvSpPr>
        <p:spPr>
          <a:xfrm>
            <a:off x="11963400" y="4001244"/>
            <a:ext cx="5181600" cy="1624013"/>
          </a:xfrm>
          <a:prstGeom prst="roundRect">
            <a:avLst>
              <a:gd name="adj" fmla="val 11730"/>
            </a:avLst>
          </a:prstGeom>
          <a:solidFill>
            <a:srgbClr val="0A4A31"/>
          </a:solidFill>
          <a:ln/>
        </p:spPr>
        <p:txBody>
          <a:bodyPr/>
          <a:lstStyle/>
          <a:p>
            <a:endParaRPr lang="en-US"/>
          </a:p>
        </p:txBody>
      </p:sp>
      <p:sp>
        <p:nvSpPr>
          <p:cNvPr id="13" name="Text 10"/>
          <p:cNvSpPr/>
          <p:nvPr/>
        </p:nvSpPr>
        <p:spPr>
          <a:xfrm>
            <a:off x="12344400" y="4344144"/>
            <a:ext cx="4861560" cy="338138"/>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9EC5B3"/>
                </a:solidFill>
                <a:latin typeface="JetBrains Mono" pitchFamily="34" charset="0"/>
                <a:ea typeface="JetBrains Mono" pitchFamily="34" charset="-122"/>
                <a:cs typeface="JetBrains Mono" pitchFamily="34" charset="-120"/>
              </a:rPr>
              <a:t>LOW-CODE AGENTS</a:t>
            </a:r>
            <a:endParaRPr lang="en-US" sz="1800" dirty="0"/>
          </a:p>
        </p:txBody>
      </p:sp>
      <p:sp>
        <p:nvSpPr>
          <p:cNvPr id="14" name="Text 11"/>
          <p:cNvSpPr/>
          <p:nvPr/>
        </p:nvSpPr>
        <p:spPr>
          <a:xfrm>
            <a:off x="12344400" y="4777532"/>
            <a:ext cx="4861560" cy="542925"/>
          </a:xfrm>
          <a:prstGeom prst="rect">
            <a:avLst/>
          </a:prstGeom>
          <a:noFill/>
          <a:ln/>
        </p:spPr>
        <p:txBody>
          <a:bodyPr wrap="square" lIns="25400" tIns="25400" rIns="25400" bIns="25400" rtlCol="0" anchor="t">
            <a:normAutofit/>
          </a:bodyPr>
          <a:lstStyle/>
          <a:p>
            <a:pPr marL="0" indent="0" algn="l">
              <a:buNone/>
            </a:pPr>
            <a:r>
              <a:rPr lang="en-US" sz="3300" b="1" dirty="0">
                <a:solidFill>
                  <a:srgbClr val="FFFFFF"/>
                </a:solidFill>
                <a:latin typeface="Inter" pitchFamily="34" charset="0"/>
                <a:ea typeface="Inter" pitchFamily="34" charset="-122"/>
                <a:cs typeface="Inter" pitchFamily="34" charset="-120"/>
              </a:rPr>
              <a:t>Copilot Studio</a:t>
            </a:r>
            <a:endParaRPr lang="en-US" sz="3300" dirty="0"/>
          </a:p>
        </p:txBody>
      </p:sp>
      <p:sp>
        <p:nvSpPr>
          <p:cNvPr id="15" name="Text 12"/>
          <p:cNvSpPr/>
          <p:nvPr/>
        </p:nvSpPr>
        <p:spPr>
          <a:xfrm>
            <a:off x="1143000" y="6044357"/>
            <a:ext cx="17602200" cy="338138"/>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9EC5B3"/>
                </a:solidFill>
                <a:latin typeface="JetBrains Mono" pitchFamily="34" charset="0"/>
                <a:ea typeface="JetBrains Mono" pitchFamily="34" charset="-122"/>
                <a:cs typeface="JetBrains Mono" pitchFamily="34" charset="-120"/>
              </a:rPr>
              <a:t>FOR EACH NEW SOLUTION WE</a:t>
            </a:r>
            <a:endParaRPr lang="en-US" sz="1800" dirty="0"/>
          </a:p>
        </p:txBody>
      </p:sp>
      <p:sp>
        <p:nvSpPr>
          <p:cNvPr id="16" name="Shape 13"/>
          <p:cNvSpPr/>
          <p:nvPr/>
        </p:nvSpPr>
        <p:spPr>
          <a:xfrm>
            <a:off x="1143000" y="6534894"/>
            <a:ext cx="3857625" cy="1209675"/>
          </a:xfrm>
          <a:prstGeom prst="roundRect">
            <a:avLst>
              <a:gd name="adj" fmla="val 12598"/>
            </a:avLst>
          </a:prstGeom>
          <a:solidFill>
            <a:srgbClr val="9EC5B3"/>
          </a:solidFill>
          <a:ln/>
        </p:spPr>
        <p:txBody>
          <a:bodyPr/>
          <a:lstStyle/>
          <a:p>
            <a:endParaRPr lang="en-US"/>
          </a:p>
        </p:txBody>
      </p:sp>
      <p:sp>
        <p:nvSpPr>
          <p:cNvPr id="17" name="Text 14"/>
          <p:cNvSpPr/>
          <p:nvPr/>
        </p:nvSpPr>
        <p:spPr>
          <a:xfrm>
            <a:off x="1428750" y="6782544"/>
            <a:ext cx="3401854" cy="752475"/>
          </a:xfrm>
          <a:prstGeom prst="rect">
            <a:avLst/>
          </a:prstGeom>
          <a:noFill/>
          <a:ln/>
        </p:spPr>
        <p:txBody>
          <a:bodyPr wrap="square" lIns="25400" tIns="25400" rIns="25400" bIns="25400" rtlCol="0" anchor="t">
            <a:normAutofit/>
          </a:bodyPr>
          <a:lstStyle/>
          <a:p>
            <a:pPr marL="0" indent="0" algn="l">
              <a:lnSpc>
                <a:spcPct val="104167"/>
              </a:lnSpc>
              <a:buNone/>
            </a:pPr>
            <a:r>
              <a:rPr lang="en-US" sz="2250" b="1" dirty="0">
                <a:solidFill>
                  <a:srgbClr val="003824"/>
                </a:solidFill>
                <a:latin typeface="Inter" pitchFamily="34" charset="0"/>
                <a:ea typeface="Inter" pitchFamily="34" charset="-122"/>
                <a:cs typeface="Inter" pitchFamily="34" charset="-120"/>
              </a:rPr>
              <a:t>Test it on lab use cases</a:t>
            </a:r>
            <a:endParaRPr lang="en-US" sz="2250" dirty="0"/>
          </a:p>
        </p:txBody>
      </p:sp>
      <p:sp>
        <p:nvSpPr>
          <p:cNvPr id="18" name="Shape 15"/>
          <p:cNvSpPr/>
          <p:nvPr/>
        </p:nvSpPr>
        <p:spPr>
          <a:xfrm>
            <a:off x="5191125" y="6534894"/>
            <a:ext cx="3857625" cy="1209675"/>
          </a:xfrm>
          <a:prstGeom prst="roundRect">
            <a:avLst>
              <a:gd name="adj" fmla="val 12598"/>
            </a:avLst>
          </a:prstGeom>
          <a:solidFill>
            <a:srgbClr val="9EC5B3"/>
          </a:solidFill>
          <a:ln/>
        </p:spPr>
        <p:txBody>
          <a:bodyPr/>
          <a:lstStyle/>
          <a:p>
            <a:endParaRPr lang="en-US"/>
          </a:p>
        </p:txBody>
      </p:sp>
      <p:sp>
        <p:nvSpPr>
          <p:cNvPr id="19" name="Text 16"/>
          <p:cNvSpPr/>
          <p:nvPr/>
        </p:nvSpPr>
        <p:spPr>
          <a:xfrm>
            <a:off x="5476875" y="6782544"/>
            <a:ext cx="3401854" cy="752475"/>
          </a:xfrm>
          <a:prstGeom prst="rect">
            <a:avLst/>
          </a:prstGeom>
          <a:noFill/>
          <a:ln/>
        </p:spPr>
        <p:txBody>
          <a:bodyPr wrap="square" lIns="25400" tIns="25400" rIns="25400" bIns="25400" rtlCol="0" anchor="t">
            <a:normAutofit/>
          </a:bodyPr>
          <a:lstStyle/>
          <a:p>
            <a:pPr marL="0" indent="0" algn="l">
              <a:lnSpc>
                <a:spcPct val="104167"/>
              </a:lnSpc>
              <a:buNone/>
            </a:pPr>
            <a:r>
              <a:rPr lang="en-US" sz="2250" b="1" dirty="0">
                <a:solidFill>
                  <a:srgbClr val="003824"/>
                </a:solidFill>
                <a:latin typeface="Inter" pitchFamily="34" charset="0"/>
                <a:ea typeface="Inter" pitchFamily="34" charset="-122"/>
                <a:cs typeface="Inter" pitchFamily="34" charset="-120"/>
              </a:rPr>
              <a:t>Build a reference example</a:t>
            </a:r>
            <a:endParaRPr lang="en-US" sz="2250" dirty="0"/>
          </a:p>
        </p:txBody>
      </p:sp>
      <p:sp>
        <p:nvSpPr>
          <p:cNvPr id="20" name="Shape 17"/>
          <p:cNvSpPr/>
          <p:nvPr/>
        </p:nvSpPr>
        <p:spPr>
          <a:xfrm>
            <a:off x="9239250" y="6534894"/>
            <a:ext cx="3857625" cy="1209675"/>
          </a:xfrm>
          <a:prstGeom prst="roundRect">
            <a:avLst>
              <a:gd name="adj" fmla="val 12598"/>
            </a:avLst>
          </a:prstGeom>
          <a:solidFill>
            <a:srgbClr val="9EC5B3"/>
          </a:solidFill>
          <a:ln/>
        </p:spPr>
        <p:txBody>
          <a:bodyPr/>
          <a:lstStyle/>
          <a:p>
            <a:endParaRPr lang="en-US"/>
          </a:p>
        </p:txBody>
      </p:sp>
      <p:sp>
        <p:nvSpPr>
          <p:cNvPr id="21" name="Text 18"/>
          <p:cNvSpPr/>
          <p:nvPr/>
        </p:nvSpPr>
        <p:spPr>
          <a:xfrm>
            <a:off x="9525000" y="6782544"/>
            <a:ext cx="3401854" cy="752475"/>
          </a:xfrm>
          <a:prstGeom prst="rect">
            <a:avLst/>
          </a:prstGeom>
          <a:noFill/>
          <a:ln/>
        </p:spPr>
        <p:txBody>
          <a:bodyPr wrap="square" lIns="25400" tIns="25400" rIns="25400" bIns="25400" rtlCol="0" anchor="t">
            <a:normAutofit/>
          </a:bodyPr>
          <a:lstStyle/>
          <a:p>
            <a:pPr marL="0" indent="0" algn="l">
              <a:lnSpc>
                <a:spcPct val="104167"/>
              </a:lnSpc>
              <a:buNone/>
            </a:pPr>
            <a:r>
              <a:rPr lang="en-US" sz="2250" b="1" dirty="0">
                <a:solidFill>
                  <a:srgbClr val="003824"/>
                </a:solidFill>
                <a:latin typeface="Inter" pitchFamily="34" charset="0"/>
                <a:ea typeface="Inter" pitchFamily="34" charset="-122"/>
                <a:cs typeface="Inter" pitchFamily="34" charset="-120"/>
              </a:rPr>
              <a:t>Document the pattern</a:t>
            </a:r>
            <a:endParaRPr lang="en-US" sz="2250" dirty="0"/>
          </a:p>
        </p:txBody>
      </p:sp>
      <p:sp>
        <p:nvSpPr>
          <p:cNvPr id="22" name="Shape 19"/>
          <p:cNvSpPr/>
          <p:nvPr/>
        </p:nvSpPr>
        <p:spPr>
          <a:xfrm>
            <a:off x="13287375" y="6534894"/>
            <a:ext cx="3857625" cy="1209675"/>
          </a:xfrm>
          <a:prstGeom prst="roundRect">
            <a:avLst>
              <a:gd name="adj" fmla="val 12598"/>
            </a:avLst>
          </a:prstGeom>
          <a:solidFill>
            <a:srgbClr val="9EC5B3"/>
          </a:solidFill>
          <a:ln/>
        </p:spPr>
        <p:txBody>
          <a:bodyPr/>
          <a:lstStyle/>
          <a:p>
            <a:endParaRPr lang="en-US"/>
          </a:p>
        </p:txBody>
      </p:sp>
      <p:sp>
        <p:nvSpPr>
          <p:cNvPr id="23" name="Text 20"/>
          <p:cNvSpPr/>
          <p:nvPr/>
        </p:nvSpPr>
        <p:spPr>
          <a:xfrm>
            <a:off x="13573125" y="6782544"/>
            <a:ext cx="3401854" cy="752475"/>
          </a:xfrm>
          <a:prstGeom prst="rect">
            <a:avLst/>
          </a:prstGeom>
          <a:noFill/>
          <a:ln/>
        </p:spPr>
        <p:txBody>
          <a:bodyPr wrap="square" lIns="25400" tIns="25400" rIns="25400" bIns="25400" rtlCol="0" anchor="t">
            <a:normAutofit/>
          </a:bodyPr>
          <a:lstStyle/>
          <a:p>
            <a:pPr marL="0" indent="0" algn="l">
              <a:lnSpc>
                <a:spcPct val="104167"/>
              </a:lnSpc>
              <a:buNone/>
            </a:pPr>
            <a:r>
              <a:rPr lang="en-US" sz="2250" b="1" dirty="0">
                <a:solidFill>
                  <a:srgbClr val="003824"/>
                </a:solidFill>
                <a:latin typeface="Inter" pitchFamily="34" charset="0"/>
                <a:ea typeface="Inter" pitchFamily="34" charset="-122"/>
                <a:cs typeface="Inter" pitchFamily="34" charset="-120"/>
              </a:rPr>
              <a:t>Support the first adopters</a:t>
            </a:r>
            <a:endParaRPr lang="en-US" sz="2250" dirty="0"/>
          </a:p>
        </p:txBody>
      </p:sp>
      <p:sp>
        <p:nvSpPr>
          <p:cNvPr id="24" name="Shape 21"/>
          <p:cNvSpPr/>
          <p:nvPr/>
        </p:nvSpPr>
        <p:spPr>
          <a:xfrm>
            <a:off x="1143000" y="8176320"/>
            <a:ext cx="16002000" cy="1158180"/>
          </a:xfrm>
          <a:prstGeom prst="roundRect">
            <a:avLst>
              <a:gd name="adj" fmla="val 13159"/>
            </a:avLst>
          </a:prstGeom>
          <a:solidFill>
            <a:srgbClr val="FBF3EA"/>
          </a:solidFill>
          <a:ln w="9525">
            <a:solidFill>
              <a:srgbClr val="EFDCC6"/>
            </a:solidFill>
            <a:prstDash val="solid"/>
          </a:ln>
        </p:spPr>
        <p:txBody>
          <a:bodyPr/>
          <a:lstStyle/>
          <a:p>
            <a:endParaRPr lang="en-US"/>
          </a:p>
        </p:txBody>
      </p:sp>
      <p:sp>
        <p:nvSpPr>
          <p:cNvPr id="25" name="Shape 22"/>
          <p:cNvSpPr/>
          <p:nvPr/>
        </p:nvSpPr>
        <p:spPr>
          <a:xfrm>
            <a:off x="1457325" y="8529191"/>
            <a:ext cx="2792016" cy="452438"/>
          </a:xfrm>
          <a:prstGeom prst="roundRect">
            <a:avLst>
              <a:gd name="adj" fmla="val 50000"/>
            </a:avLst>
          </a:prstGeom>
          <a:solidFill>
            <a:srgbClr val="F4E2CF"/>
          </a:solidFill>
          <a:ln/>
        </p:spPr>
        <p:txBody>
          <a:bodyPr/>
          <a:lstStyle/>
          <a:p>
            <a:endParaRPr lang="en-US"/>
          </a:p>
        </p:txBody>
      </p:sp>
      <p:sp>
        <p:nvSpPr>
          <p:cNvPr id="26" name="Text 23"/>
          <p:cNvSpPr/>
          <p:nvPr/>
        </p:nvSpPr>
        <p:spPr>
          <a:xfrm>
            <a:off x="1609725" y="8605391"/>
            <a:ext cx="2570976" cy="338138"/>
          </a:xfrm>
          <a:prstGeom prst="rect">
            <a:avLst/>
          </a:prstGeom>
          <a:noFill/>
          <a:ln/>
        </p:spPr>
        <p:txBody>
          <a:bodyPr wrap="none" lIns="25400" tIns="25400" rIns="25400" bIns="25400" rtlCol="0" anchor="t">
            <a:normAutofit/>
          </a:bodyPr>
          <a:lstStyle/>
          <a:p>
            <a:pPr marL="0" indent="0" algn="l">
              <a:buNone/>
            </a:pPr>
            <a:r>
              <a:rPr lang="en-US" sz="1800" kern="0" spc="144" dirty="0">
                <a:solidFill>
                  <a:srgbClr val="B5651D"/>
                </a:solidFill>
                <a:latin typeface="JetBrains Mono" pitchFamily="34" charset="0"/>
                <a:ea typeface="JetBrains Mono" pitchFamily="34" charset="-122"/>
                <a:cs typeface="JetBrains Mono" pitchFamily="34" charset="-120"/>
              </a:rPr>
              <a:t>WHAT WE DON'T DO</a:t>
            </a:r>
            <a:endParaRPr lang="en-US" sz="1800" dirty="0"/>
          </a:p>
        </p:txBody>
      </p:sp>
      <p:sp>
        <p:nvSpPr>
          <p:cNvPr id="27" name="Text 24"/>
          <p:cNvSpPr/>
          <p:nvPr/>
        </p:nvSpPr>
        <p:spPr>
          <a:xfrm>
            <a:off x="4458891" y="8563035"/>
            <a:ext cx="12742938" cy="487413"/>
          </a:xfrm>
          <a:prstGeom prst="rect">
            <a:avLst/>
          </a:prstGeom>
          <a:noFill/>
          <a:ln/>
        </p:spPr>
        <p:txBody>
          <a:bodyPr wrap="square" lIns="25400" tIns="25400" rIns="25400" bIns="25400" rtlCol="0" anchor="t">
            <a:normAutofit/>
          </a:bodyPr>
          <a:lstStyle/>
          <a:p>
            <a:pPr marL="0" indent="0" algn="l">
              <a:lnSpc>
                <a:spcPct val="111176"/>
              </a:lnSpc>
              <a:buNone/>
            </a:pPr>
            <a:r>
              <a:rPr lang="en-US" sz="2100" dirty="0">
                <a:solidFill>
                  <a:srgbClr val="14201B"/>
                </a:solidFill>
                <a:latin typeface="Inter" pitchFamily="34" charset="0"/>
                <a:ea typeface="Inter" pitchFamily="34" charset="-122"/>
                <a:cs typeface="Inter" pitchFamily="34" charset="-120"/>
              </a:rPr>
              <a:t>Run or support Envoy, Cortex or Copilot Studio, or grant access to them. The central AI team owns those platforms.</a:t>
            </a:r>
            <a:endParaRPr lang="en-US" sz="2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3000" y="957263"/>
            <a:ext cx="342900" cy="342900"/>
          </a:xfrm>
          <a:prstGeom prst="rect">
            <a:avLst/>
          </a:prstGeom>
        </p:spPr>
      </p:pic>
      <p:sp>
        <p:nvSpPr>
          <p:cNvPr id="3" name="Text 0"/>
          <p:cNvSpPr/>
          <p:nvPr/>
        </p:nvSpPr>
        <p:spPr>
          <a:xfrm>
            <a:off x="1638300" y="952500"/>
            <a:ext cx="6242871" cy="390525"/>
          </a:xfrm>
          <a:prstGeom prst="rect">
            <a:avLst/>
          </a:prstGeom>
          <a:noFill/>
          <a:ln/>
        </p:spPr>
        <p:txBody>
          <a:bodyPr wrap="square" lIns="25400" tIns="25400" rIns="25400" bIns="25400" rtlCol="0" anchor="t">
            <a:normAutofit/>
          </a:bodyPr>
          <a:lstStyle/>
          <a:p>
            <a:pPr marL="0" indent="0" algn="l">
              <a:buNone/>
            </a:pPr>
            <a:r>
              <a:rPr lang="en-US" sz="2100" kern="0" spc="336" dirty="0">
                <a:solidFill>
                  <a:srgbClr val="006A4D"/>
                </a:solidFill>
                <a:latin typeface="JetBrains Mono" pitchFamily="34" charset="0"/>
                <a:ea typeface="JetBrains Mono" pitchFamily="34" charset="-122"/>
                <a:cs typeface="JetBrains Mono" pitchFamily="34" charset="-120"/>
              </a:rPr>
              <a:t>04 · AI-ASSISTED ENGINEERING</a:t>
            </a:r>
            <a:endParaRPr lang="en-US" sz="2100" dirty="0"/>
          </a:p>
        </p:txBody>
      </p:sp>
      <p:sp>
        <p:nvSpPr>
          <p:cNvPr id="4" name="Shape 1"/>
          <p:cNvSpPr/>
          <p:nvPr/>
        </p:nvSpPr>
        <p:spPr>
          <a:xfrm>
            <a:off x="1143000" y="1533525"/>
            <a:ext cx="685800" cy="47625"/>
          </a:xfrm>
          <a:prstGeom prst="roundRect">
            <a:avLst>
              <a:gd name="adj" fmla="val 40000"/>
            </a:avLst>
          </a:prstGeom>
          <a:solidFill>
            <a:srgbClr val="006A4D"/>
          </a:solidFill>
          <a:ln/>
        </p:spPr>
        <p:txBody>
          <a:bodyPr/>
          <a:lstStyle/>
          <a:p>
            <a:endParaRPr lang="en-US"/>
          </a:p>
        </p:txBody>
      </p:sp>
      <p:sp>
        <p:nvSpPr>
          <p:cNvPr id="5" name="Text 2"/>
          <p:cNvSpPr/>
          <p:nvPr/>
        </p:nvSpPr>
        <p:spPr>
          <a:xfrm>
            <a:off x="1143000" y="2000250"/>
            <a:ext cx="14073368" cy="1543794"/>
          </a:xfrm>
          <a:prstGeom prst="rect">
            <a:avLst/>
          </a:prstGeom>
          <a:noFill/>
          <a:ln/>
        </p:spPr>
        <p:txBody>
          <a:bodyPr wrap="square" lIns="25400" tIns="25400" rIns="25400" bIns="25400" rtlCol="0" anchor="t">
            <a:normAutofit/>
          </a:bodyPr>
          <a:lstStyle/>
          <a:p>
            <a:pPr marL="0" indent="0" algn="l">
              <a:lnSpc>
                <a:spcPct val="85913"/>
              </a:lnSpc>
              <a:buNone/>
            </a:pPr>
            <a:r>
              <a:rPr lang="en-US" sz="5700" b="1" kern="0" spc="-114" dirty="0">
                <a:solidFill>
                  <a:srgbClr val="003824"/>
                </a:solidFill>
                <a:latin typeface="Inter" pitchFamily="34" charset="0"/>
                <a:ea typeface="Inter" pitchFamily="34" charset="-122"/>
                <a:cs typeface="Inter" pitchFamily="34" charset="-120"/>
              </a:rPr>
              <a:t>We work with the business to find AI opportunities in the labs.</a:t>
            </a:r>
            <a:endParaRPr lang="en-US" sz="5700" dirty="0"/>
          </a:p>
        </p:txBody>
      </p:sp>
      <p:sp>
        <p:nvSpPr>
          <p:cNvPr id="6" name="Shape 3"/>
          <p:cNvSpPr/>
          <p:nvPr/>
        </p:nvSpPr>
        <p:spPr>
          <a:xfrm>
            <a:off x="1143000" y="4877544"/>
            <a:ext cx="8960123" cy="9525"/>
          </a:xfrm>
          <a:prstGeom prst="rect">
            <a:avLst/>
          </a:prstGeom>
          <a:solidFill>
            <a:srgbClr val="E6F1EC"/>
          </a:solidFill>
          <a:ln/>
        </p:spPr>
        <p:txBody>
          <a:bodyPr/>
          <a:lstStyle/>
          <a:p>
            <a:endParaRPr lang="en-US"/>
          </a:p>
        </p:txBody>
      </p:sp>
      <p:sp>
        <p:nvSpPr>
          <p:cNvPr id="7" name="Text 4"/>
          <p:cNvSpPr/>
          <p:nvPr/>
        </p:nvSpPr>
        <p:spPr>
          <a:xfrm>
            <a:off x="1143000" y="4333667"/>
            <a:ext cx="762000" cy="414338"/>
          </a:xfrm>
          <a:prstGeom prst="rect">
            <a:avLst/>
          </a:prstGeom>
          <a:noFill/>
          <a:ln/>
        </p:spPr>
        <p:txBody>
          <a:bodyPr wrap="square" lIns="25400" tIns="25400" rIns="25400" bIns="25400" rtlCol="0" anchor="t">
            <a:normAutofit/>
          </a:bodyPr>
          <a:lstStyle/>
          <a:p>
            <a:pPr marL="0" indent="0" algn="l">
              <a:buNone/>
            </a:pPr>
            <a:r>
              <a:rPr lang="en-US" sz="2250" b="1" dirty="0">
                <a:solidFill>
                  <a:srgbClr val="9EC5B3"/>
                </a:solidFill>
                <a:latin typeface="JetBrains Mono" pitchFamily="34" charset="0"/>
                <a:ea typeface="JetBrains Mono" pitchFamily="34" charset="-122"/>
                <a:cs typeface="JetBrains Mono" pitchFamily="34" charset="-120"/>
              </a:rPr>
              <a:t>01</a:t>
            </a:r>
            <a:endParaRPr lang="en-US" sz="2250" dirty="0"/>
          </a:p>
        </p:txBody>
      </p:sp>
      <p:sp>
        <p:nvSpPr>
          <p:cNvPr id="8" name="Text 5"/>
          <p:cNvSpPr/>
          <p:nvPr/>
        </p:nvSpPr>
        <p:spPr>
          <a:xfrm>
            <a:off x="1981200" y="4290804"/>
            <a:ext cx="2724150" cy="452438"/>
          </a:xfrm>
          <a:prstGeom prst="rect">
            <a:avLst/>
          </a:prstGeom>
          <a:noFill/>
          <a:ln/>
        </p:spPr>
        <p:txBody>
          <a:bodyPr wrap="square" lIns="25400" tIns="25400" rIns="25400" bIns="25400" rtlCol="0" anchor="t">
            <a:normAutofit lnSpcReduction="10000"/>
          </a:bodyPr>
          <a:lstStyle/>
          <a:p>
            <a:pPr marL="0" indent="0" algn="l">
              <a:buNone/>
            </a:pPr>
            <a:r>
              <a:rPr lang="en-US" sz="2700" b="1" dirty="0">
                <a:solidFill>
                  <a:srgbClr val="003824"/>
                </a:solidFill>
                <a:latin typeface="Inter" pitchFamily="34" charset="0"/>
                <a:ea typeface="Inter" pitchFamily="34" charset="-122"/>
                <a:cs typeface="Inter" pitchFamily="34" charset="-120"/>
              </a:rPr>
              <a:t>Discover</a:t>
            </a:r>
            <a:endParaRPr lang="en-US" sz="2700" dirty="0"/>
          </a:p>
        </p:txBody>
      </p:sp>
      <p:sp>
        <p:nvSpPr>
          <p:cNvPr id="9" name="Text 6"/>
          <p:cNvSpPr/>
          <p:nvPr/>
        </p:nvSpPr>
        <p:spPr>
          <a:xfrm>
            <a:off x="4610100" y="4367004"/>
            <a:ext cx="5657814" cy="685800"/>
          </a:xfrm>
          <a:prstGeom prst="rect">
            <a:avLst/>
          </a:prstGeom>
          <a:noFill/>
          <a:ln/>
        </p:spPr>
        <p:txBody>
          <a:bodyPr wrap="square" lIns="25400" tIns="25400" rIns="25400" bIns="25400" rtlCol="0" anchor="t">
            <a:normAutofit/>
          </a:bodyPr>
          <a:lstStyle/>
          <a:p>
            <a:pPr marL="0" indent="0" algn="l">
              <a:buNone/>
            </a:pPr>
            <a:r>
              <a:rPr lang="en-US" sz="2100" dirty="0">
                <a:solidFill>
                  <a:srgbClr val="3B4A44"/>
                </a:solidFill>
                <a:latin typeface="Inter" pitchFamily="34" charset="0"/>
                <a:ea typeface="Inter" pitchFamily="34" charset="-122"/>
                <a:cs typeface="Inter" pitchFamily="34" charset="-120"/>
              </a:rPr>
              <a:t>Workshops with business and feature teams</a:t>
            </a:r>
            <a:endParaRPr lang="en-US" sz="2100" dirty="0"/>
          </a:p>
        </p:txBody>
      </p:sp>
      <p:sp>
        <p:nvSpPr>
          <p:cNvPr id="10" name="Shape 7"/>
          <p:cNvSpPr/>
          <p:nvPr/>
        </p:nvSpPr>
        <p:spPr>
          <a:xfrm>
            <a:off x="1143000" y="5591919"/>
            <a:ext cx="8960123" cy="9525"/>
          </a:xfrm>
          <a:prstGeom prst="rect">
            <a:avLst/>
          </a:prstGeom>
          <a:solidFill>
            <a:srgbClr val="E6F1EC"/>
          </a:solidFill>
          <a:ln/>
        </p:spPr>
        <p:txBody>
          <a:bodyPr/>
          <a:lstStyle/>
          <a:p>
            <a:endParaRPr lang="en-US"/>
          </a:p>
        </p:txBody>
      </p:sp>
      <p:sp>
        <p:nvSpPr>
          <p:cNvPr id="11" name="Text 8"/>
          <p:cNvSpPr/>
          <p:nvPr/>
        </p:nvSpPr>
        <p:spPr>
          <a:xfrm>
            <a:off x="1143000" y="5063282"/>
            <a:ext cx="762000" cy="414338"/>
          </a:xfrm>
          <a:prstGeom prst="rect">
            <a:avLst/>
          </a:prstGeom>
          <a:noFill/>
          <a:ln/>
        </p:spPr>
        <p:txBody>
          <a:bodyPr wrap="square" lIns="25400" tIns="25400" rIns="25400" bIns="25400" rtlCol="0" anchor="t">
            <a:normAutofit/>
          </a:bodyPr>
          <a:lstStyle/>
          <a:p>
            <a:pPr marL="0" indent="0" algn="l">
              <a:buNone/>
            </a:pPr>
            <a:r>
              <a:rPr lang="en-US" sz="2250" b="1" dirty="0">
                <a:solidFill>
                  <a:srgbClr val="9EC5B3"/>
                </a:solidFill>
                <a:latin typeface="JetBrains Mono" pitchFamily="34" charset="0"/>
                <a:ea typeface="JetBrains Mono" pitchFamily="34" charset="-122"/>
                <a:cs typeface="JetBrains Mono" pitchFamily="34" charset="-120"/>
              </a:rPr>
              <a:t>02</a:t>
            </a:r>
            <a:endParaRPr lang="en-US" sz="2250" dirty="0"/>
          </a:p>
        </p:txBody>
      </p:sp>
      <p:sp>
        <p:nvSpPr>
          <p:cNvPr id="12" name="Text 9"/>
          <p:cNvSpPr/>
          <p:nvPr/>
        </p:nvSpPr>
        <p:spPr>
          <a:xfrm>
            <a:off x="1981200" y="5020419"/>
            <a:ext cx="2724150" cy="452438"/>
          </a:xfrm>
          <a:prstGeom prst="rect">
            <a:avLst/>
          </a:prstGeom>
          <a:noFill/>
          <a:ln/>
        </p:spPr>
        <p:txBody>
          <a:bodyPr wrap="square" lIns="25400" tIns="25400" rIns="25400" bIns="25400" rtlCol="0" anchor="t">
            <a:normAutofit/>
          </a:bodyPr>
          <a:lstStyle/>
          <a:p>
            <a:pPr marL="0" indent="0" algn="l">
              <a:buNone/>
            </a:pPr>
            <a:r>
              <a:rPr lang="en-US" sz="2700" b="1" dirty="0">
                <a:solidFill>
                  <a:srgbClr val="003824"/>
                </a:solidFill>
                <a:latin typeface="Inter" pitchFamily="34" charset="0"/>
                <a:ea typeface="Inter" pitchFamily="34" charset="-122"/>
                <a:cs typeface="Inter" pitchFamily="34" charset="-120"/>
              </a:rPr>
              <a:t>Assess</a:t>
            </a:r>
            <a:endParaRPr lang="en-US" sz="2700" dirty="0"/>
          </a:p>
        </p:txBody>
      </p:sp>
      <p:sp>
        <p:nvSpPr>
          <p:cNvPr id="13" name="Text 10"/>
          <p:cNvSpPr/>
          <p:nvPr/>
        </p:nvSpPr>
        <p:spPr>
          <a:xfrm>
            <a:off x="4610100" y="5096619"/>
            <a:ext cx="6042325" cy="361950"/>
          </a:xfrm>
          <a:prstGeom prst="rect">
            <a:avLst/>
          </a:prstGeom>
          <a:noFill/>
          <a:ln/>
        </p:spPr>
        <p:txBody>
          <a:bodyPr wrap="square" lIns="25400" tIns="25400" rIns="25400" bIns="25400" rtlCol="0" anchor="t">
            <a:normAutofit/>
          </a:bodyPr>
          <a:lstStyle/>
          <a:p>
            <a:pPr marL="0" indent="0" algn="l">
              <a:buNone/>
            </a:pPr>
            <a:r>
              <a:rPr lang="en-US" sz="2100" dirty="0">
                <a:solidFill>
                  <a:srgbClr val="3B4A44"/>
                </a:solidFill>
                <a:latin typeface="Inter" pitchFamily="34" charset="0"/>
                <a:ea typeface="Inter" pitchFamily="34" charset="-122"/>
                <a:cs typeface="Inter" pitchFamily="34" charset="-120"/>
              </a:rPr>
              <a:t>Value, feasibility, data and risk</a:t>
            </a:r>
            <a:endParaRPr lang="en-US" sz="2100" dirty="0"/>
          </a:p>
        </p:txBody>
      </p:sp>
      <p:sp>
        <p:nvSpPr>
          <p:cNvPr id="14" name="Shape 11"/>
          <p:cNvSpPr/>
          <p:nvPr/>
        </p:nvSpPr>
        <p:spPr>
          <a:xfrm>
            <a:off x="1143000" y="6306294"/>
            <a:ext cx="8960123" cy="9525"/>
          </a:xfrm>
          <a:prstGeom prst="rect">
            <a:avLst/>
          </a:prstGeom>
          <a:solidFill>
            <a:srgbClr val="E6F1EC"/>
          </a:solidFill>
          <a:ln/>
        </p:spPr>
        <p:txBody>
          <a:bodyPr/>
          <a:lstStyle/>
          <a:p>
            <a:endParaRPr lang="en-US"/>
          </a:p>
        </p:txBody>
      </p:sp>
      <p:sp>
        <p:nvSpPr>
          <p:cNvPr id="15" name="Text 12"/>
          <p:cNvSpPr/>
          <p:nvPr/>
        </p:nvSpPr>
        <p:spPr>
          <a:xfrm>
            <a:off x="1143000" y="5777657"/>
            <a:ext cx="762000" cy="414338"/>
          </a:xfrm>
          <a:prstGeom prst="rect">
            <a:avLst/>
          </a:prstGeom>
          <a:noFill/>
          <a:ln/>
        </p:spPr>
        <p:txBody>
          <a:bodyPr wrap="square" lIns="25400" tIns="25400" rIns="25400" bIns="25400" rtlCol="0" anchor="t">
            <a:normAutofit/>
          </a:bodyPr>
          <a:lstStyle/>
          <a:p>
            <a:pPr marL="0" indent="0" algn="l">
              <a:buNone/>
            </a:pPr>
            <a:r>
              <a:rPr lang="en-US" sz="2250" b="1" dirty="0">
                <a:solidFill>
                  <a:srgbClr val="9EC5B3"/>
                </a:solidFill>
                <a:latin typeface="JetBrains Mono" pitchFamily="34" charset="0"/>
                <a:ea typeface="JetBrains Mono" pitchFamily="34" charset="-122"/>
                <a:cs typeface="JetBrains Mono" pitchFamily="34" charset="-120"/>
              </a:rPr>
              <a:t>03</a:t>
            </a:r>
            <a:endParaRPr lang="en-US" sz="2250" dirty="0"/>
          </a:p>
        </p:txBody>
      </p:sp>
      <p:sp>
        <p:nvSpPr>
          <p:cNvPr id="16" name="Text 13"/>
          <p:cNvSpPr/>
          <p:nvPr/>
        </p:nvSpPr>
        <p:spPr>
          <a:xfrm>
            <a:off x="1981200" y="5734794"/>
            <a:ext cx="2724150" cy="452438"/>
          </a:xfrm>
          <a:prstGeom prst="rect">
            <a:avLst/>
          </a:prstGeom>
          <a:noFill/>
          <a:ln/>
        </p:spPr>
        <p:txBody>
          <a:bodyPr wrap="square" lIns="25400" tIns="25400" rIns="25400" bIns="25400" rtlCol="0" anchor="t">
            <a:normAutofit/>
          </a:bodyPr>
          <a:lstStyle/>
          <a:p>
            <a:pPr marL="0" indent="0" algn="l">
              <a:buNone/>
            </a:pPr>
            <a:r>
              <a:rPr lang="en-US" sz="2700" b="1" dirty="0">
                <a:solidFill>
                  <a:srgbClr val="003824"/>
                </a:solidFill>
                <a:latin typeface="Inter" pitchFamily="34" charset="0"/>
                <a:ea typeface="Inter" pitchFamily="34" charset="-122"/>
                <a:cs typeface="Inter" pitchFamily="34" charset="-120"/>
              </a:rPr>
              <a:t>Prototype</a:t>
            </a:r>
            <a:endParaRPr lang="en-US" sz="2700" dirty="0"/>
          </a:p>
        </p:txBody>
      </p:sp>
      <p:sp>
        <p:nvSpPr>
          <p:cNvPr id="17" name="Text 14"/>
          <p:cNvSpPr/>
          <p:nvPr/>
        </p:nvSpPr>
        <p:spPr>
          <a:xfrm>
            <a:off x="4610100" y="5810994"/>
            <a:ext cx="6042325" cy="361950"/>
          </a:xfrm>
          <a:prstGeom prst="rect">
            <a:avLst/>
          </a:prstGeom>
          <a:noFill/>
          <a:ln/>
        </p:spPr>
        <p:txBody>
          <a:bodyPr wrap="square" lIns="25400" tIns="25400" rIns="25400" bIns="25400" rtlCol="0" anchor="t">
            <a:normAutofit/>
          </a:bodyPr>
          <a:lstStyle/>
          <a:p>
            <a:pPr marL="0" indent="0" algn="l">
              <a:buNone/>
            </a:pPr>
            <a:r>
              <a:rPr lang="en-US" sz="2100" dirty="0">
                <a:solidFill>
                  <a:srgbClr val="3B4A44"/>
                </a:solidFill>
                <a:latin typeface="Inter" pitchFamily="34" charset="0"/>
                <a:ea typeface="Inter" pitchFamily="34" charset="-122"/>
                <a:cs typeface="Inter" pitchFamily="34" charset="-120"/>
              </a:rPr>
              <a:t>Time-boxed proof on real data</a:t>
            </a:r>
            <a:endParaRPr lang="en-US" sz="2100" dirty="0"/>
          </a:p>
        </p:txBody>
      </p:sp>
      <p:sp>
        <p:nvSpPr>
          <p:cNvPr id="18" name="Text 15"/>
          <p:cNvSpPr/>
          <p:nvPr/>
        </p:nvSpPr>
        <p:spPr>
          <a:xfrm>
            <a:off x="1143000" y="6492032"/>
            <a:ext cx="762000" cy="414338"/>
          </a:xfrm>
          <a:prstGeom prst="rect">
            <a:avLst/>
          </a:prstGeom>
          <a:noFill/>
          <a:ln/>
        </p:spPr>
        <p:txBody>
          <a:bodyPr wrap="square" lIns="25400" tIns="25400" rIns="25400" bIns="25400" rtlCol="0" anchor="t">
            <a:normAutofit/>
          </a:bodyPr>
          <a:lstStyle/>
          <a:p>
            <a:pPr marL="0" indent="0" algn="l">
              <a:buNone/>
            </a:pPr>
            <a:r>
              <a:rPr lang="en-US" sz="2250" b="1" dirty="0">
                <a:solidFill>
                  <a:srgbClr val="006A4D"/>
                </a:solidFill>
                <a:latin typeface="JetBrains Mono" pitchFamily="34" charset="0"/>
                <a:ea typeface="JetBrains Mono" pitchFamily="34" charset="-122"/>
                <a:cs typeface="JetBrains Mono" pitchFamily="34" charset="-120"/>
              </a:rPr>
              <a:t>04</a:t>
            </a:r>
            <a:endParaRPr lang="en-US" sz="2250" dirty="0"/>
          </a:p>
        </p:txBody>
      </p:sp>
      <p:sp>
        <p:nvSpPr>
          <p:cNvPr id="19" name="Text 16"/>
          <p:cNvSpPr/>
          <p:nvPr/>
        </p:nvSpPr>
        <p:spPr>
          <a:xfrm>
            <a:off x="1981200" y="6449169"/>
            <a:ext cx="2724150" cy="452438"/>
          </a:xfrm>
          <a:prstGeom prst="rect">
            <a:avLst/>
          </a:prstGeom>
          <a:noFill/>
          <a:ln/>
        </p:spPr>
        <p:txBody>
          <a:bodyPr wrap="square" lIns="25400" tIns="25400" rIns="25400" bIns="25400" rtlCol="0" anchor="t">
            <a:normAutofit/>
          </a:bodyPr>
          <a:lstStyle/>
          <a:p>
            <a:pPr marL="0" indent="0" algn="l">
              <a:buNone/>
            </a:pPr>
            <a:r>
              <a:rPr lang="en-US" sz="2700" b="1" dirty="0">
                <a:solidFill>
                  <a:srgbClr val="003824"/>
                </a:solidFill>
                <a:latin typeface="Inter" pitchFamily="34" charset="0"/>
                <a:ea typeface="Inter" pitchFamily="34" charset="-122"/>
                <a:cs typeface="Inter" pitchFamily="34" charset="-120"/>
              </a:rPr>
              <a:t>Scale</a:t>
            </a:r>
            <a:endParaRPr lang="en-US" sz="2700" dirty="0"/>
          </a:p>
        </p:txBody>
      </p:sp>
      <p:sp>
        <p:nvSpPr>
          <p:cNvPr id="20" name="Text 17"/>
          <p:cNvSpPr/>
          <p:nvPr/>
        </p:nvSpPr>
        <p:spPr>
          <a:xfrm>
            <a:off x="4610100" y="6525369"/>
            <a:ext cx="6042325" cy="361950"/>
          </a:xfrm>
          <a:prstGeom prst="rect">
            <a:avLst/>
          </a:prstGeom>
          <a:noFill/>
          <a:ln/>
        </p:spPr>
        <p:txBody>
          <a:bodyPr wrap="square" lIns="25400" tIns="25400" rIns="25400" bIns="25400" rtlCol="0" anchor="t">
            <a:normAutofit/>
          </a:bodyPr>
          <a:lstStyle/>
          <a:p>
            <a:pPr marL="0" indent="0" algn="l">
              <a:buNone/>
            </a:pPr>
            <a:r>
              <a:rPr lang="en-US" sz="2100" dirty="0">
                <a:solidFill>
                  <a:srgbClr val="3B4A44"/>
                </a:solidFill>
                <a:latin typeface="Inter" pitchFamily="34" charset="0"/>
                <a:ea typeface="Inter" pitchFamily="34" charset="-122"/>
                <a:cs typeface="Inter" pitchFamily="34" charset="-120"/>
              </a:rPr>
              <a:t>Hand a working pattern to a feature team</a:t>
            </a:r>
            <a:endParaRPr lang="en-US" sz="2100" dirty="0"/>
          </a:p>
        </p:txBody>
      </p:sp>
      <p:sp>
        <p:nvSpPr>
          <p:cNvPr id="21" name="Shape 18"/>
          <p:cNvSpPr/>
          <p:nvPr/>
        </p:nvSpPr>
        <p:spPr>
          <a:xfrm>
            <a:off x="10522223" y="4201268"/>
            <a:ext cx="6622777" cy="2709863"/>
          </a:xfrm>
          <a:prstGeom prst="roundRect">
            <a:avLst>
              <a:gd name="adj" fmla="val 6547"/>
            </a:avLst>
          </a:prstGeom>
          <a:solidFill>
            <a:srgbClr val="F3F8F5"/>
          </a:solidFill>
          <a:ln w="9525">
            <a:solidFill>
              <a:srgbClr val="E6F1EC"/>
            </a:solidFill>
            <a:prstDash val="solid"/>
          </a:ln>
        </p:spPr>
        <p:txBody>
          <a:bodyPr/>
          <a:lstStyle/>
          <a:p>
            <a:endParaRPr lang="en-US"/>
          </a:p>
        </p:txBody>
      </p:sp>
      <p:sp>
        <p:nvSpPr>
          <p:cNvPr id="22" name="Text 19"/>
          <p:cNvSpPr/>
          <p:nvPr/>
        </p:nvSpPr>
        <p:spPr>
          <a:xfrm>
            <a:off x="10874648" y="4334619"/>
            <a:ext cx="6509720" cy="338138"/>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006A4D"/>
                </a:solidFill>
                <a:latin typeface="JetBrains Mono" pitchFamily="34" charset="0"/>
                <a:ea typeface="JetBrains Mono" pitchFamily="34" charset="-122"/>
                <a:cs typeface="JetBrains Mono" pitchFamily="34" charset="-120"/>
              </a:rPr>
              <a:t>TYPICAL AREAS WE EXPLORE</a:t>
            </a:r>
            <a:endParaRPr lang="en-US" sz="1800" dirty="0"/>
          </a:p>
        </p:txBody>
      </p:sp>
      <p:sp>
        <p:nvSpPr>
          <p:cNvPr id="23" name="Text 20"/>
          <p:cNvSpPr/>
          <p:nvPr/>
        </p:nvSpPr>
        <p:spPr>
          <a:xfrm>
            <a:off x="10874648" y="4844207"/>
            <a:ext cx="6509720" cy="371475"/>
          </a:xfrm>
          <a:prstGeom prst="rect">
            <a:avLst/>
          </a:prstGeom>
          <a:noFill/>
          <a:ln/>
        </p:spPr>
        <p:txBody>
          <a:bodyPr wrap="square" lIns="25400" tIns="25400" rIns="25400" bIns="25400" rtlCol="0" anchor="t">
            <a:normAutofit/>
          </a:bodyPr>
          <a:lstStyle/>
          <a:p>
            <a:pPr marL="0" indent="0" algn="l">
              <a:buNone/>
            </a:pPr>
            <a:r>
              <a:rPr lang="en-US" sz="2175" dirty="0">
                <a:solidFill>
                  <a:srgbClr val="14201B"/>
                </a:solidFill>
                <a:latin typeface="Inter" pitchFamily="34" charset="0"/>
                <a:ea typeface="Inter" pitchFamily="34" charset="-122"/>
                <a:cs typeface="Inter" pitchFamily="34" charset="-120"/>
              </a:rPr>
              <a:t>Alert triage and investigation support</a:t>
            </a:r>
            <a:endParaRPr lang="en-US" sz="2175" dirty="0"/>
          </a:p>
        </p:txBody>
      </p:sp>
      <p:sp>
        <p:nvSpPr>
          <p:cNvPr id="24" name="Text 21"/>
          <p:cNvSpPr/>
          <p:nvPr/>
        </p:nvSpPr>
        <p:spPr>
          <a:xfrm>
            <a:off x="10874648" y="5310932"/>
            <a:ext cx="6509720" cy="371475"/>
          </a:xfrm>
          <a:prstGeom prst="rect">
            <a:avLst/>
          </a:prstGeom>
          <a:noFill/>
          <a:ln/>
        </p:spPr>
        <p:txBody>
          <a:bodyPr wrap="square" lIns="25400" tIns="25400" rIns="25400" bIns="25400" rtlCol="0" anchor="t">
            <a:normAutofit/>
          </a:bodyPr>
          <a:lstStyle/>
          <a:p>
            <a:pPr marL="0" indent="0" algn="l">
              <a:buNone/>
            </a:pPr>
            <a:r>
              <a:rPr lang="en-US" sz="2175" dirty="0">
                <a:solidFill>
                  <a:srgbClr val="14201B"/>
                </a:solidFill>
                <a:latin typeface="Inter" pitchFamily="34" charset="0"/>
                <a:ea typeface="Inter" pitchFamily="34" charset="-122"/>
                <a:cs typeface="Inter" pitchFamily="34" charset="-120"/>
              </a:rPr>
              <a:t>Anomaly detection with classic ML</a:t>
            </a:r>
            <a:endParaRPr lang="en-US" sz="2175" dirty="0"/>
          </a:p>
        </p:txBody>
      </p:sp>
      <p:sp>
        <p:nvSpPr>
          <p:cNvPr id="25" name="Text 22"/>
          <p:cNvSpPr/>
          <p:nvPr/>
        </p:nvSpPr>
        <p:spPr>
          <a:xfrm>
            <a:off x="10874648" y="5777657"/>
            <a:ext cx="6509720" cy="371475"/>
          </a:xfrm>
          <a:prstGeom prst="rect">
            <a:avLst/>
          </a:prstGeom>
          <a:noFill/>
          <a:ln/>
        </p:spPr>
        <p:txBody>
          <a:bodyPr wrap="square" lIns="25400" tIns="25400" rIns="25400" bIns="25400" rtlCol="0" anchor="t">
            <a:normAutofit/>
          </a:bodyPr>
          <a:lstStyle/>
          <a:p>
            <a:pPr marL="0" indent="0" algn="l">
              <a:buNone/>
            </a:pPr>
            <a:r>
              <a:rPr lang="en-US" sz="2175" dirty="0">
                <a:solidFill>
                  <a:srgbClr val="14201B"/>
                </a:solidFill>
                <a:latin typeface="Inter" pitchFamily="34" charset="0"/>
                <a:ea typeface="Inter" pitchFamily="34" charset="-122"/>
                <a:cs typeface="Inter" pitchFamily="34" charset="-120"/>
              </a:rPr>
              <a:t>Search over docs and runbooks</a:t>
            </a:r>
            <a:endParaRPr lang="en-US" sz="2175" dirty="0"/>
          </a:p>
        </p:txBody>
      </p:sp>
      <p:sp>
        <p:nvSpPr>
          <p:cNvPr id="26" name="Text 23"/>
          <p:cNvSpPr/>
          <p:nvPr/>
        </p:nvSpPr>
        <p:spPr>
          <a:xfrm>
            <a:off x="10874648" y="6244382"/>
            <a:ext cx="6509720" cy="371475"/>
          </a:xfrm>
          <a:prstGeom prst="rect">
            <a:avLst/>
          </a:prstGeom>
          <a:noFill/>
          <a:ln/>
        </p:spPr>
        <p:txBody>
          <a:bodyPr wrap="square" lIns="25400" tIns="25400" rIns="25400" bIns="25400" rtlCol="0" anchor="t">
            <a:normAutofit/>
          </a:bodyPr>
          <a:lstStyle/>
          <a:p>
            <a:pPr marL="0" indent="0" algn="l">
              <a:buNone/>
            </a:pPr>
            <a:r>
              <a:rPr lang="en-US" sz="2175" dirty="0">
                <a:solidFill>
                  <a:srgbClr val="14201B"/>
                </a:solidFill>
                <a:latin typeface="Inter" pitchFamily="34" charset="0"/>
                <a:ea typeface="Inter" pitchFamily="34" charset="-122"/>
                <a:cs typeface="Inter" pitchFamily="34" charset="-120"/>
              </a:rPr>
              <a:t>Test and code generation</a:t>
            </a:r>
            <a:endParaRPr lang="en-US" sz="2175" dirty="0"/>
          </a:p>
        </p:txBody>
      </p:sp>
      <p:sp>
        <p:nvSpPr>
          <p:cNvPr id="27" name="Shape 24"/>
          <p:cNvSpPr/>
          <p:nvPr/>
        </p:nvSpPr>
        <p:spPr>
          <a:xfrm>
            <a:off x="1143000" y="8176320"/>
            <a:ext cx="16002000" cy="1158180"/>
          </a:xfrm>
          <a:prstGeom prst="roundRect">
            <a:avLst>
              <a:gd name="adj" fmla="val 13159"/>
            </a:avLst>
          </a:prstGeom>
          <a:solidFill>
            <a:srgbClr val="FBF3EA"/>
          </a:solidFill>
          <a:ln w="9525">
            <a:solidFill>
              <a:srgbClr val="EFDCC6"/>
            </a:solidFill>
            <a:prstDash val="solid"/>
          </a:ln>
        </p:spPr>
        <p:txBody>
          <a:bodyPr/>
          <a:lstStyle/>
          <a:p>
            <a:endParaRPr lang="en-US"/>
          </a:p>
        </p:txBody>
      </p:sp>
      <p:sp>
        <p:nvSpPr>
          <p:cNvPr id="28" name="Shape 25"/>
          <p:cNvSpPr/>
          <p:nvPr/>
        </p:nvSpPr>
        <p:spPr>
          <a:xfrm>
            <a:off x="1457325" y="8529191"/>
            <a:ext cx="2792016" cy="452438"/>
          </a:xfrm>
          <a:prstGeom prst="roundRect">
            <a:avLst>
              <a:gd name="adj" fmla="val 50000"/>
            </a:avLst>
          </a:prstGeom>
          <a:solidFill>
            <a:srgbClr val="F4E2CF"/>
          </a:solidFill>
          <a:ln/>
        </p:spPr>
        <p:txBody>
          <a:bodyPr/>
          <a:lstStyle/>
          <a:p>
            <a:endParaRPr lang="en-US"/>
          </a:p>
        </p:txBody>
      </p:sp>
      <p:sp>
        <p:nvSpPr>
          <p:cNvPr id="29" name="Text 26"/>
          <p:cNvSpPr/>
          <p:nvPr/>
        </p:nvSpPr>
        <p:spPr>
          <a:xfrm>
            <a:off x="1609725" y="8605391"/>
            <a:ext cx="2570976" cy="338138"/>
          </a:xfrm>
          <a:prstGeom prst="rect">
            <a:avLst/>
          </a:prstGeom>
          <a:noFill/>
          <a:ln/>
        </p:spPr>
        <p:txBody>
          <a:bodyPr wrap="none" lIns="25400" tIns="25400" rIns="25400" bIns="25400" rtlCol="0" anchor="t">
            <a:normAutofit/>
          </a:bodyPr>
          <a:lstStyle/>
          <a:p>
            <a:pPr marL="0" indent="0" algn="l">
              <a:buNone/>
            </a:pPr>
            <a:r>
              <a:rPr lang="en-US" sz="1800" kern="0" spc="144" dirty="0">
                <a:solidFill>
                  <a:srgbClr val="B5651D"/>
                </a:solidFill>
                <a:latin typeface="JetBrains Mono" pitchFamily="34" charset="0"/>
                <a:ea typeface="JetBrains Mono" pitchFamily="34" charset="-122"/>
                <a:cs typeface="JetBrains Mono" pitchFamily="34" charset="-120"/>
              </a:rPr>
              <a:t>WHAT WE DON'T DO</a:t>
            </a:r>
            <a:endParaRPr lang="en-US" sz="1800" dirty="0"/>
          </a:p>
        </p:txBody>
      </p:sp>
      <p:sp>
        <p:nvSpPr>
          <p:cNvPr id="30" name="Text 27"/>
          <p:cNvSpPr/>
          <p:nvPr/>
        </p:nvSpPr>
        <p:spPr>
          <a:xfrm>
            <a:off x="4458891" y="8395395"/>
            <a:ext cx="12742938" cy="758130"/>
          </a:xfrm>
          <a:prstGeom prst="rect">
            <a:avLst/>
          </a:prstGeom>
          <a:noFill/>
          <a:ln/>
        </p:spPr>
        <p:txBody>
          <a:bodyPr wrap="square" lIns="25400" tIns="25400" rIns="25400" bIns="25400" rtlCol="0" anchor="t">
            <a:normAutofit/>
          </a:bodyPr>
          <a:lstStyle/>
          <a:p>
            <a:pPr marL="0" indent="0" algn="l">
              <a:lnSpc>
                <a:spcPct val="111176"/>
              </a:lnSpc>
              <a:buNone/>
            </a:pPr>
            <a:r>
              <a:rPr lang="en-US" sz="2100" dirty="0">
                <a:solidFill>
                  <a:srgbClr val="14201B"/>
                </a:solidFill>
                <a:latin typeface="Inter" pitchFamily="34" charset="0"/>
                <a:ea typeface="Inter" pitchFamily="34" charset="-122"/>
                <a:cs typeface="Inter" pitchFamily="34" charset="-120"/>
              </a:rPr>
              <a:t>Governance and service introduction. We give technical input; feature teams drive the process, raise requests and write the documentation.</a:t>
            </a:r>
            <a:endParaRPr lang="en-US" sz="2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3000" y="957263"/>
            <a:ext cx="342900" cy="342900"/>
          </a:xfrm>
          <a:prstGeom prst="rect">
            <a:avLst/>
          </a:prstGeom>
        </p:spPr>
      </p:pic>
      <p:sp>
        <p:nvSpPr>
          <p:cNvPr id="3" name="Text 0"/>
          <p:cNvSpPr/>
          <p:nvPr/>
        </p:nvSpPr>
        <p:spPr>
          <a:xfrm>
            <a:off x="1638300" y="952500"/>
            <a:ext cx="4682133" cy="390525"/>
          </a:xfrm>
          <a:prstGeom prst="rect">
            <a:avLst/>
          </a:prstGeom>
          <a:noFill/>
          <a:ln/>
        </p:spPr>
        <p:txBody>
          <a:bodyPr wrap="square" lIns="25400" tIns="25400" rIns="25400" bIns="25400" rtlCol="0" anchor="t">
            <a:normAutofit/>
          </a:bodyPr>
          <a:lstStyle/>
          <a:p>
            <a:pPr marL="0" indent="0" algn="l">
              <a:buNone/>
            </a:pPr>
            <a:r>
              <a:rPr lang="en-US" sz="2100" kern="0" spc="336" dirty="0">
                <a:solidFill>
                  <a:srgbClr val="006A4D"/>
                </a:solidFill>
                <a:latin typeface="JetBrains Mono" pitchFamily="34" charset="0"/>
                <a:ea typeface="JetBrains Mono" pitchFamily="34" charset="-122"/>
                <a:cs typeface="JetBrains Mono" pitchFamily="34" charset="-120"/>
              </a:rPr>
              <a:t>05 · CONNECT &amp; ENABLE</a:t>
            </a:r>
            <a:endParaRPr lang="en-US" sz="2100" dirty="0"/>
          </a:p>
        </p:txBody>
      </p:sp>
      <p:sp>
        <p:nvSpPr>
          <p:cNvPr id="4" name="Shape 1"/>
          <p:cNvSpPr/>
          <p:nvPr/>
        </p:nvSpPr>
        <p:spPr>
          <a:xfrm>
            <a:off x="1143000" y="1533525"/>
            <a:ext cx="685800" cy="47625"/>
          </a:xfrm>
          <a:prstGeom prst="roundRect">
            <a:avLst>
              <a:gd name="adj" fmla="val 40000"/>
            </a:avLst>
          </a:prstGeom>
          <a:solidFill>
            <a:srgbClr val="006A4D"/>
          </a:solidFill>
          <a:ln/>
        </p:spPr>
        <p:txBody>
          <a:bodyPr/>
          <a:lstStyle/>
          <a:p>
            <a:endParaRPr lang="en-US"/>
          </a:p>
        </p:txBody>
      </p:sp>
      <p:sp>
        <p:nvSpPr>
          <p:cNvPr id="5" name="Text 2"/>
          <p:cNvSpPr/>
          <p:nvPr/>
        </p:nvSpPr>
        <p:spPr>
          <a:xfrm>
            <a:off x="1143000" y="2000250"/>
            <a:ext cx="16482060" cy="1543794"/>
          </a:xfrm>
          <a:prstGeom prst="rect">
            <a:avLst/>
          </a:prstGeom>
          <a:noFill/>
          <a:ln/>
        </p:spPr>
        <p:txBody>
          <a:bodyPr wrap="square" lIns="25400" tIns="25400" rIns="25400" bIns="25400" rtlCol="0" anchor="t">
            <a:normAutofit/>
          </a:bodyPr>
          <a:lstStyle/>
          <a:p>
            <a:pPr marL="0" indent="0" algn="l">
              <a:lnSpc>
                <a:spcPct val="85913"/>
              </a:lnSpc>
              <a:buNone/>
            </a:pPr>
            <a:r>
              <a:rPr lang="en-US" sz="5700" b="1" kern="0" spc="-114" dirty="0">
                <a:solidFill>
                  <a:srgbClr val="003824"/>
                </a:solidFill>
                <a:latin typeface="Inter" pitchFamily="34" charset="0"/>
                <a:ea typeface="Inter" pitchFamily="34" charset="-122"/>
                <a:cs typeface="Inter" pitchFamily="34" charset="-120"/>
              </a:rPr>
              <a:t>We connect the labs with central and Markets teams.</a:t>
            </a:r>
            <a:endParaRPr lang="en-US" sz="5700" dirty="0"/>
          </a:p>
        </p:txBody>
      </p:sp>
      <p:sp>
        <p:nvSpPr>
          <p:cNvPr id="6" name="Shape 3"/>
          <p:cNvSpPr/>
          <p:nvPr/>
        </p:nvSpPr>
        <p:spPr>
          <a:xfrm>
            <a:off x="1143000" y="4558457"/>
            <a:ext cx="4063975" cy="919162"/>
          </a:xfrm>
          <a:prstGeom prst="roundRect">
            <a:avLst>
              <a:gd name="adj" fmla="val 16580"/>
            </a:avLst>
          </a:prstGeom>
          <a:solidFill>
            <a:srgbClr val="F3F8F5"/>
          </a:solidFill>
          <a:ln w="9525">
            <a:solidFill>
              <a:srgbClr val="E6F1EC"/>
            </a:solidFill>
            <a:prstDash val="solid"/>
          </a:ln>
        </p:spPr>
        <p:txBody>
          <a:bodyPr/>
          <a:lstStyle/>
          <a:p>
            <a:endParaRPr lang="en-US"/>
          </a:p>
        </p:txBody>
      </p:sp>
      <p:sp>
        <p:nvSpPr>
          <p:cNvPr id="7" name="Text 4"/>
          <p:cNvSpPr/>
          <p:nvPr/>
        </p:nvSpPr>
        <p:spPr>
          <a:xfrm>
            <a:off x="1438275" y="4834682"/>
            <a:ext cx="3595344" cy="404813"/>
          </a:xfrm>
          <a:prstGeom prst="rect">
            <a:avLst/>
          </a:prstGeom>
          <a:noFill/>
          <a:ln/>
        </p:spPr>
        <p:txBody>
          <a:bodyPr wrap="square" lIns="25400" tIns="25400" rIns="25400" bIns="25400" rtlCol="0" anchor="t">
            <a:normAutofit/>
          </a:bodyPr>
          <a:lstStyle/>
          <a:p>
            <a:pPr marL="0" indent="0" algn="l">
              <a:buNone/>
            </a:pPr>
            <a:r>
              <a:rPr lang="en-US" sz="2400" b="1" dirty="0">
                <a:solidFill>
                  <a:srgbClr val="003824"/>
                </a:solidFill>
                <a:latin typeface="Inter" pitchFamily="34" charset="0"/>
                <a:ea typeface="Inter" pitchFamily="34" charset="-122"/>
                <a:cs typeface="Inter" pitchFamily="34" charset="-120"/>
              </a:rPr>
              <a:t>Trade Execution lab</a:t>
            </a:r>
            <a:endParaRPr lang="en-US" sz="2400" dirty="0"/>
          </a:p>
        </p:txBody>
      </p:sp>
      <p:sp>
        <p:nvSpPr>
          <p:cNvPr id="8" name="Shape 5"/>
          <p:cNvSpPr/>
          <p:nvPr/>
        </p:nvSpPr>
        <p:spPr>
          <a:xfrm>
            <a:off x="1143000" y="5649069"/>
            <a:ext cx="4063975" cy="919162"/>
          </a:xfrm>
          <a:prstGeom prst="roundRect">
            <a:avLst>
              <a:gd name="adj" fmla="val 16580"/>
            </a:avLst>
          </a:prstGeom>
          <a:solidFill>
            <a:srgbClr val="F3F8F5"/>
          </a:solidFill>
          <a:ln w="9525">
            <a:solidFill>
              <a:srgbClr val="E6F1EC"/>
            </a:solidFill>
            <a:prstDash val="solid"/>
          </a:ln>
        </p:spPr>
        <p:txBody>
          <a:bodyPr/>
          <a:lstStyle/>
          <a:p>
            <a:endParaRPr lang="en-US"/>
          </a:p>
        </p:txBody>
      </p:sp>
      <p:sp>
        <p:nvSpPr>
          <p:cNvPr id="9" name="Text 6"/>
          <p:cNvSpPr/>
          <p:nvPr/>
        </p:nvSpPr>
        <p:spPr>
          <a:xfrm>
            <a:off x="1438275" y="5925294"/>
            <a:ext cx="3595344" cy="404813"/>
          </a:xfrm>
          <a:prstGeom prst="rect">
            <a:avLst/>
          </a:prstGeom>
          <a:noFill/>
          <a:ln/>
        </p:spPr>
        <p:txBody>
          <a:bodyPr wrap="square" lIns="25400" tIns="25400" rIns="25400" bIns="25400" rtlCol="0" anchor="t">
            <a:normAutofit/>
          </a:bodyPr>
          <a:lstStyle/>
          <a:p>
            <a:pPr marL="0" indent="0" algn="l">
              <a:buNone/>
            </a:pPr>
            <a:r>
              <a:rPr lang="en-US" sz="2400" b="1" dirty="0">
                <a:solidFill>
                  <a:srgbClr val="003824"/>
                </a:solidFill>
                <a:latin typeface="Inter" pitchFamily="34" charset="0"/>
                <a:ea typeface="Inter" pitchFamily="34" charset="-122"/>
                <a:cs typeface="Inter" pitchFamily="34" charset="-120"/>
              </a:rPr>
              <a:t>Surveillance lab</a:t>
            </a:r>
            <a:endParaRPr lang="en-US" sz="2400" dirty="0"/>
          </a:p>
        </p:txBody>
      </p:sp>
      <p:sp>
        <p:nvSpPr>
          <p:cNvPr id="10" name="Text 7"/>
          <p:cNvSpPr/>
          <p:nvPr/>
        </p:nvSpPr>
        <p:spPr>
          <a:xfrm>
            <a:off x="6044729" y="4975696"/>
            <a:ext cx="305619" cy="542925"/>
          </a:xfrm>
          <a:prstGeom prst="rect">
            <a:avLst/>
          </a:prstGeom>
          <a:noFill/>
          <a:ln/>
        </p:spPr>
        <p:txBody>
          <a:bodyPr wrap="square" lIns="25400" tIns="25400" rIns="25400" bIns="25400" rtlCol="0" anchor="t">
            <a:normAutofit/>
          </a:bodyPr>
          <a:lstStyle/>
          <a:p>
            <a:pPr marL="0" indent="0" algn="l">
              <a:buNone/>
            </a:pPr>
            <a:r>
              <a:rPr lang="en-US" sz="3000" dirty="0">
                <a:solidFill>
                  <a:srgbClr val="9EC5B3"/>
                </a:solidFill>
                <a:latin typeface="JetBrains Mono" pitchFamily="34" charset="0"/>
                <a:ea typeface="JetBrains Mono" pitchFamily="34" charset="-122"/>
                <a:cs typeface="JetBrains Mono" pitchFamily="34" charset="-120"/>
              </a:rPr>
              <a:t>⇄</a:t>
            </a:r>
            <a:endParaRPr lang="en-US" sz="3000" dirty="0"/>
          </a:p>
        </p:txBody>
      </p:sp>
      <p:sp>
        <p:nvSpPr>
          <p:cNvPr id="11" name="Text 8"/>
          <p:cNvSpPr/>
          <p:nvPr/>
        </p:nvSpPr>
        <p:spPr>
          <a:xfrm>
            <a:off x="5283175" y="5556721"/>
            <a:ext cx="1752600" cy="632371"/>
          </a:xfrm>
          <a:prstGeom prst="rect">
            <a:avLst/>
          </a:prstGeom>
          <a:noFill/>
          <a:ln/>
        </p:spPr>
        <p:txBody>
          <a:bodyPr wrap="square" lIns="25400" tIns="25400" rIns="25400" bIns="25400" rtlCol="0" anchor="t">
            <a:normAutofit/>
          </a:bodyPr>
          <a:lstStyle/>
          <a:p>
            <a:pPr marL="0" indent="0" algn="ctr">
              <a:lnSpc>
                <a:spcPct val="105763"/>
              </a:lnSpc>
              <a:buNone/>
            </a:pPr>
            <a:r>
              <a:rPr lang="en-US" sz="1800" dirty="0">
                <a:solidFill>
                  <a:srgbClr val="3B4A44"/>
                </a:solidFill>
                <a:latin typeface="Inter" pitchFamily="34" charset="0"/>
                <a:ea typeface="Inter" pitchFamily="34" charset="-122"/>
                <a:cs typeface="Inter" pitchFamily="34" charset="-120"/>
              </a:rPr>
              <a:t>patterns, support, builds</a:t>
            </a:r>
            <a:endParaRPr lang="en-US" sz="1800" dirty="0"/>
          </a:p>
        </p:txBody>
      </p:sp>
      <p:sp>
        <p:nvSpPr>
          <p:cNvPr id="12" name="Shape 9"/>
          <p:cNvSpPr/>
          <p:nvPr/>
        </p:nvSpPr>
        <p:spPr>
          <a:xfrm>
            <a:off x="7111975" y="4303216"/>
            <a:ext cx="4063975" cy="2520181"/>
          </a:xfrm>
          <a:prstGeom prst="roundRect">
            <a:avLst>
              <a:gd name="adj" fmla="val 7559"/>
            </a:avLst>
          </a:prstGeom>
          <a:solidFill>
            <a:srgbClr val="003824"/>
          </a:solidFill>
          <a:ln/>
        </p:spPr>
        <p:txBody>
          <a:bodyPr/>
          <a:lstStyle/>
          <a:p>
            <a:endParaRPr lang="en-US"/>
          </a:p>
        </p:txBody>
      </p:sp>
      <p:sp>
        <p:nvSpPr>
          <p:cNvPr id="13" name="Text 10"/>
          <p:cNvSpPr/>
          <p:nvPr/>
        </p:nvSpPr>
        <p:spPr>
          <a:xfrm>
            <a:off x="7285966" y="4722316"/>
            <a:ext cx="3715993" cy="338138"/>
          </a:xfrm>
          <a:prstGeom prst="rect">
            <a:avLst/>
          </a:prstGeom>
          <a:noFill/>
          <a:ln/>
        </p:spPr>
        <p:txBody>
          <a:bodyPr wrap="square" lIns="25400" tIns="25400" rIns="25400" bIns="25400" rtlCol="0" anchor="t">
            <a:normAutofit/>
          </a:bodyPr>
          <a:lstStyle/>
          <a:p>
            <a:pPr marL="0" indent="0" algn="ctr">
              <a:buNone/>
            </a:pPr>
            <a:r>
              <a:rPr lang="en-US" sz="1800" kern="0" spc="180" dirty="0">
                <a:solidFill>
                  <a:srgbClr val="9EC5B3"/>
                </a:solidFill>
                <a:latin typeface="JetBrains Mono" pitchFamily="34" charset="0"/>
                <a:ea typeface="JetBrains Mono" pitchFamily="34" charset="-122"/>
                <a:cs typeface="JetBrains Mono" pitchFamily="34" charset="-120"/>
              </a:rPr>
              <a:t>US</a:t>
            </a:r>
            <a:endParaRPr lang="en-US" sz="1800" dirty="0"/>
          </a:p>
        </p:txBody>
      </p:sp>
      <p:sp>
        <p:nvSpPr>
          <p:cNvPr id="14" name="Text 11"/>
          <p:cNvSpPr/>
          <p:nvPr/>
        </p:nvSpPr>
        <p:spPr>
          <a:xfrm>
            <a:off x="7404203" y="5155704"/>
            <a:ext cx="3479520" cy="1286694"/>
          </a:xfrm>
          <a:prstGeom prst="rect">
            <a:avLst/>
          </a:prstGeom>
          <a:noFill/>
          <a:ln/>
        </p:spPr>
        <p:txBody>
          <a:bodyPr wrap="square" lIns="25400" tIns="25400" rIns="25400" bIns="25400" rtlCol="0" anchor="t">
            <a:normAutofit/>
          </a:bodyPr>
          <a:lstStyle/>
          <a:p>
            <a:pPr marL="0" indent="0" algn="ctr">
              <a:lnSpc>
                <a:spcPct val="95000"/>
              </a:lnSpc>
              <a:buNone/>
            </a:pPr>
            <a:r>
              <a:rPr lang="en-US" sz="2850" b="1" dirty="0">
                <a:solidFill>
                  <a:srgbClr val="FFFFFF"/>
                </a:solidFill>
                <a:latin typeface="Inter" pitchFamily="34" charset="0"/>
                <a:ea typeface="Inter" pitchFamily="34" charset="-122"/>
                <a:cs typeface="Inter" pitchFamily="34" charset="-120"/>
              </a:rPr>
              <a:t>Platform Engineering, Innovation &amp; AI</a:t>
            </a:r>
            <a:endParaRPr lang="en-US" sz="2850" dirty="0"/>
          </a:p>
        </p:txBody>
      </p:sp>
      <p:sp>
        <p:nvSpPr>
          <p:cNvPr id="15" name="Text 12"/>
          <p:cNvSpPr/>
          <p:nvPr/>
        </p:nvSpPr>
        <p:spPr>
          <a:xfrm>
            <a:off x="12013704" y="4678561"/>
            <a:ext cx="305619" cy="542925"/>
          </a:xfrm>
          <a:prstGeom prst="rect">
            <a:avLst/>
          </a:prstGeom>
          <a:noFill/>
          <a:ln/>
        </p:spPr>
        <p:txBody>
          <a:bodyPr wrap="square" lIns="25400" tIns="25400" rIns="25400" bIns="25400" rtlCol="0" anchor="t">
            <a:normAutofit/>
          </a:bodyPr>
          <a:lstStyle/>
          <a:p>
            <a:pPr marL="0" indent="0" algn="l">
              <a:buNone/>
            </a:pPr>
            <a:r>
              <a:rPr lang="en-US" sz="3000" dirty="0">
                <a:solidFill>
                  <a:srgbClr val="9EC5B3"/>
                </a:solidFill>
                <a:latin typeface="JetBrains Mono" pitchFamily="34" charset="0"/>
                <a:ea typeface="JetBrains Mono" pitchFamily="34" charset="-122"/>
                <a:cs typeface="JetBrains Mono" pitchFamily="34" charset="-120"/>
              </a:rPr>
              <a:t>⇄</a:t>
            </a:r>
            <a:endParaRPr lang="en-US" sz="3000" dirty="0"/>
          </a:p>
        </p:txBody>
      </p:sp>
      <p:sp>
        <p:nvSpPr>
          <p:cNvPr id="16" name="Text 13"/>
          <p:cNvSpPr/>
          <p:nvPr/>
        </p:nvSpPr>
        <p:spPr>
          <a:xfrm>
            <a:off x="11252150" y="5259586"/>
            <a:ext cx="1752600" cy="1226641"/>
          </a:xfrm>
          <a:prstGeom prst="rect">
            <a:avLst/>
          </a:prstGeom>
          <a:noFill/>
          <a:ln/>
        </p:spPr>
        <p:txBody>
          <a:bodyPr wrap="square" lIns="25400" tIns="25400" rIns="25400" bIns="25400" rtlCol="0" anchor="t">
            <a:normAutofit/>
          </a:bodyPr>
          <a:lstStyle/>
          <a:p>
            <a:pPr marL="0" indent="0" algn="ctr">
              <a:lnSpc>
                <a:spcPct val="105763"/>
              </a:lnSpc>
              <a:buNone/>
            </a:pPr>
            <a:r>
              <a:rPr lang="en-US" sz="1800" dirty="0">
                <a:solidFill>
                  <a:srgbClr val="3B4A44"/>
                </a:solidFill>
                <a:latin typeface="Inter" pitchFamily="34" charset="0"/>
                <a:ea typeface="Inter" pitchFamily="34" charset="-122"/>
                <a:cs typeface="Inter" pitchFamily="34" charset="-120"/>
              </a:rPr>
              <a:t>requirements, escalations, shared patterns</a:t>
            </a:r>
            <a:endParaRPr lang="en-US" sz="1800" dirty="0"/>
          </a:p>
        </p:txBody>
      </p:sp>
      <p:sp>
        <p:nvSpPr>
          <p:cNvPr id="17" name="Shape 14"/>
          <p:cNvSpPr/>
          <p:nvPr/>
        </p:nvSpPr>
        <p:spPr>
          <a:xfrm>
            <a:off x="13080950" y="4001244"/>
            <a:ext cx="4063975" cy="819150"/>
          </a:xfrm>
          <a:prstGeom prst="roundRect">
            <a:avLst>
              <a:gd name="adj" fmla="val 18605"/>
            </a:avLst>
          </a:prstGeom>
          <a:solidFill>
            <a:srgbClr val="F3F8F5"/>
          </a:solidFill>
          <a:ln w="9525">
            <a:solidFill>
              <a:srgbClr val="E6F1EC"/>
            </a:solidFill>
            <a:prstDash val="solid"/>
          </a:ln>
        </p:spPr>
        <p:txBody>
          <a:bodyPr/>
          <a:lstStyle/>
          <a:p>
            <a:endParaRPr lang="en-US"/>
          </a:p>
        </p:txBody>
      </p:sp>
      <p:sp>
        <p:nvSpPr>
          <p:cNvPr id="18" name="Text 15"/>
          <p:cNvSpPr/>
          <p:nvPr/>
        </p:nvSpPr>
        <p:spPr>
          <a:xfrm>
            <a:off x="13376225" y="4239369"/>
            <a:ext cx="3595344" cy="381000"/>
          </a:xfrm>
          <a:prstGeom prst="rect">
            <a:avLst/>
          </a:prstGeom>
          <a:noFill/>
          <a:ln/>
        </p:spPr>
        <p:txBody>
          <a:bodyPr wrap="square" lIns="25400" tIns="25400" rIns="25400" bIns="25400" rtlCol="0" anchor="t">
            <a:normAutofit/>
          </a:bodyPr>
          <a:lstStyle/>
          <a:p>
            <a:pPr marL="0" indent="0" algn="l">
              <a:buNone/>
            </a:pPr>
            <a:r>
              <a:rPr lang="en-US" sz="2250" b="1" dirty="0">
                <a:solidFill>
                  <a:srgbClr val="003824"/>
                </a:solidFill>
                <a:latin typeface="Inter" pitchFamily="34" charset="0"/>
                <a:ea typeface="Inter" pitchFamily="34" charset="-122"/>
                <a:cs typeface="Inter" pitchFamily="34" charset="-120"/>
              </a:rPr>
              <a:t>Central Cloud team</a:t>
            </a:r>
            <a:endParaRPr lang="en-US" sz="2250" dirty="0"/>
          </a:p>
        </p:txBody>
      </p:sp>
      <p:sp>
        <p:nvSpPr>
          <p:cNvPr id="19" name="Shape 16"/>
          <p:cNvSpPr/>
          <p:nvPr/>
        </p:nvSpPr>
        <p:spPr>
          <a:xfrm>
            <a:off x="13080950" y="4991844"/>
            <a:ext cx="4063975" cy="819150"/>
          </a:xfrm>
          <a:prstGeom prst="roundRect">
            <a:avLst>
              <a:gd name="adj" fmla="val 18605"/>
            </a:avLst>
          </a:prstGeom>
          <a:solidFill>
            <a:srgbClr val="F3F8F5"/>
          </a:solidFill>
          <a:ln w="9525">
            <a:solidFill>
              <a:srgbClr val="E6F1EC"/>
            </a:solidFill>
            <a:prstDash val="solid"/>
          </a:ln>
        </p:spPr>
        <p:txBody>
          <a:bodyPr/>
          <a:lstStyle/>
          <a:p>
            <a:endParaRPr lang="en-US"/>
          </a:p>
        </p:txBody>
      </p:sp>
      <p:sp>
        <p:nvSpPr>
          <p:cNvPr id="20" name="Text 17"/>
          <p:cNvSpPr/>
          <p:nvPr/>
        </p:nvSpPr>
        <p:spPr>
          <a:xfrm>
            <a:off x="13376225" y="5229969"/>
            <a:ext cx="3595344" cy="381000"/>
          </a:xfrm>
          <a:prstGeom prst="rect">
            <a:avLst/>
          </a:prstGeom>
          <a:noFill/>
          <a:ln/>
        </p:spPr>
        <p:txBody>
          <a:bodyPr wrap="square" lIns="25400" tIns="25400" rIns="25400" bIns="25400" rtlCol="0" anchor="t">
            <a:normAutofit/>
          </a:bodyPr>
          <a:lstStyle/>
          <a:p>
            <a:pPr marL="0" indent="0" algn="l">
              <a:buNone/>
            </a:pPr>
            <a:r>
              <a:rPr lang="en-US" sz="2250" b="1" dirty="0">
                <a:solidFill>
                  <a:srgbClr val="003824"/>
                </a:solidFill>
                <a:latin typeface="Inter" pitchFamily="34" charset="0"/>
                <a:ea typeface="Inter" pitchFamily="34" charset="-122"/>
                <a:cs typeface="Inter" pitchFamily="34" charset="-120"/>
              </a:rPr>
              <a:t>Central AI team</a:t>
            </a:r>
            <a:endParaRPr lang="en-US" sz="2250" dirty="0"/>
          </a:p>
        </p:txBody>
      </p:sp>
      <p:sp>
        <p:nvSpPr>
          <p:cNvPr id="21" name="Shape 18"/>
          <p:cNvSpPr/>
          <p:nvPr/>
        </p:nvSpPr>
        <p:spPr>
          <a:xfrm>
            <a:off x="13080950" y="5982444"/>
            <a:ext cx="4063975" cy="1143000"/>
          </a:xfrm>
          <a:prstGeom prst="roundRect">
            <a:avLst>
              <a:gd name="adj" fmla="val 13333"/>
            </a:avLst>
          </a:prstGeom>
          <a:solidFill>
            <a:srgbClr val="9EC5B3"/>
          </a:solidFill>
          <a:ln/>
        </p:spPr>
        <p:txBody>
          <a:bodyPr/>
          <a:lstStyle/>
          <a:p>
            <a:endParaRPr lang="en-US"/>
          </a:p>
        </p:txBody>
      </p:sp>
      <p:sp>
        <p:nvSpPr>
          <p:cNvPr id="22" name="Text 19"/>
          <p:cNvSpPr/>
          <p:nvPr/>
        </p:nvSpPr>
        <p:spPr>
          <a:xfrm>
            <a:off x="13366700" y="6211044"/>
            <a:ext cx="3614394" cy="723900"/>
          </a:xfrm>
          <a:prstGeom prst="rect">
            <a:avLst/>
          </a:prstGeom>
          <a:noFill/>
          <a:ln/>
        </p:spPr>
        <p:txBody>
          <a:bodyPr wrap="square" lIns="25400" tIns="25400" rIns="25400" bIns="25400" rtlCol="0" anchor="t">
            <a:normAutofit/>
          </a:bodyPr>
          <a:lstStyle/>
          <a:p>
            <a:pPr marL="0" indent="0" algn="l">
              <a:buNone/>
            </a:pPr>
            <a:r>
              <a:rPr lang="en-US" sz="2250" b="1" dirty="0">
                <a:solidFill>
                  <a:srgbClr val="003824"/>
                </a:solidFill>
                <a:latin typeface="Inter" pitchFamily="34" charset="0"/>
                <a:ea typeface="Inter" pitchFamily="34" charset="-122"/>
                <a:cs typeface="Inter" pitchFamily="34" charset="-120"/>
              </a:rPr>
              <a:t>Markets platform-engineering teams</a:t>
            </a:r>
            <a:endParaRPr lang="en-US" sz="2250" dirty="0"/>
          </a:p>
        </p:txBody>
      </p:sp>
      <p:sp>
        <p:nvSpPr>
          <p:cNvPr id="23" name="Shape 20"/>
          <p:cNvSpPr/>
          <p:nvPr/>
        </p:nvSpPr>
        <p:spPr>
          <a:xfrm>
            <a:off x="1143000" y="8443913"/>
            <a:ext cx="16002000" cy="890588"/>
          </a:xfrm>
          <a:prstGeom prst="roundRect">
            <a:avLst>
              <a:gd name="adj" fmla="val 17112"/>
            </a:avLst>
          </a:prstGeom>
          <a:solidFill>
            <a:srgbClr val="FBF3EA"/>
          </a:solidFill>
          <a:ln w="9525">
            <a:solidFill>
              <a:srgbClr val="EFDCC6"/>
            </a:solidFill>
            <a:prstDash val="solid"/>
          </a:ln>
        </p:spPr>
        <p:txBody>
          <a:bodyPr/>
          <a:lstStyle/>
          <a:p>
            <a:endParaRPr lang="en-US"/>
          </a:p>
        </p:txBody>
      </p:sp>
      <p:sp>
        <p:nvSpPr>
          <p:cNvPr id="24" name="Shape 21"/>
          <p:cNvSpPr/>
          <p:nvPr/>
        </p:nvSpPr>
        <p:spPr>
          <a:xfrm>
            <a:off x="1457325" y="8662988"/>
            <a:ext cx="2792016" cy="452438"/>
          </a:xfrm>
          <a:prstGeom prst="roundRect">
            <a:avLst>
              <a:gd name="adj" fmla="val 50000"/>
            </a:avLst>
          </a:prstGeom>
          <a:solidFill>
            <a:srgbClr val="F4E2CF"/>
          </a:solidFill>
          <a:ln/>
        </p:spPr>
        <p:txBody>
          <a:bodyPr/>
          <a:lstStyle/>
          <a:p>
            <a:endParaRPr lang="en-US"/>
          </a:p>
        </p:txBody>
      </p:sp>
      <p:sp>
        <p:nvSpPr>
          <p:cNvPr id="25" name="Text 22"/>
          <p:cNvSpPr/>
          <p:nvPr/>
        </p:nvSpPr>
        <p:spPr>
          <a:xfrm>
            <a:off x="1609725" y="8739188"/>
            <a:ext cx="2570976" cy="338138"/>
          </a:xfrm>
          <a:prstGeom prst="rect">
            <a:avLst/>
          </a:prstGeom>
          <a:noFill/>
          <a:ln/>
        </p:spPr>
        <p:txBody>
          <a:bodyPr wrap="none" lIns="25400" tIns="25400" rIns="25400" bIns="25400" rtlCol="0" anchor="t">
            <a:normAutofit/>
          </a:bodyPr>
          <a:lstStyle/>
          <a:p>
            <a:pPr marL="0" indent="0" algn="l">
              <a:buNone/>
            </a:pPr>
            <a:r>
              <a:rPr lang="en-US" sz="1800" kern="0" spc="144" dirty="0">
                <a:solidFill>
                  <a:srgbClr val="B5651D"/>
                </a:solidFill>
                <a:latin typeface="JetBrains Mono" pitchFamily="34" charset="0"/>
                <a:ea typeface="JetBrains Mono" pitchFamily="34" charset="-122"/>
                <a:cs typeface="JetBrains Mono" pitchFamily="34" charset="-120"/>
              </a:rPr>
              <a:t>WHAT WE DON'T DO</a:t>
            </a:r>
            <a:endParaRPr lang="en-US" sz="1800" dirty="0"/>
          </a:p>
        </p:txBody>
      </p:sp>
      <p:sp>
        <p:nvSpPr>
          <p:cNvPr id="26" name="Text 23"/>
          <p:cNvSpPr/>
          <p:nvPr/>
        </p:nvSpPr>
        <p:spPr>
          <a:xfrm>
            <a:off x="4458891" y="8709199"/>
            <a:ext cx="12206942" cy="398115"/>
          </a:xfrm>
          <a:prstGeom prst="rect">
            <a:avLst/>
          </a:prstGeom>
          <a:noFill/>
          <a:ln/>
        </p:spPr>
        <p:txBody>
          <a:bodyPr wrap="square" lIns="25400" tIns="25400" rIns="25400" bIns="25400" rtlCol="0" anchor="t">
            <a:normAutofit/>
          </a:bodyPr>
          <a:lstStyle/>
          <a:p>
            <a:pPr marL="0" indent="0" algn="l">
              <a:lnSpc>
                <a:spcPct val="111176"/>
              </a:lnSpc>
              <a:buNone/>
            </a:pPr>
            <a:r>
              <a:rPr lang="en-US" sz="2100" dirty="0">
                <a:solidFill>
                  <a:srgbClr val="14201B"/>
                </a:solidFill>
                <a:latin typeface="Inter" pitchFamily="34" charset="0"/>
                <a:ea typeface="Inter" pitchFamily="34" charset="-122"/>
                <a:cs typeface="Inter" pitchFamily="34" charset="-120"/>
              </a:rPr>
              <a:t>Act as your only route to central teams. You can still go direct; we help where it's useful.</a:t>
            </a:r>
            <a:endParaRPr lang="en-US" sz="2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3000" y="957263"/>
            <a:ext cx="342900" cy="342900"/>
          </a:xfrm>
          <a:prstGeom prst="rect">
            <a:avLst/>
          </a:prstGeom>
        </p:spPr>
      </p:pic>
      <p:sp>
        <p:nvSpPr>
          <p:cNvPr id="3" name="Text 0"/>
          <p:cNvSpPr/>
          <p:nvPr/>
        </p:nvSpPr>
        <p:spPr>
          <a:xfrm>
            <a:off x="1638300" y="952500"/>
            <a:ext cx="4682133" cy="390525"/>
          </a:xfrm>
          <a:prstGeom prst="rect">
            <a:avLst/>
          </a:prstGeom>
          <a:noFill/>
          <a:ln/>
        </p:spPr>
        <p:txBody>
          <a:bodyPr wrap="square" lIns="25400" tIns="25400" rIns="25400" bIns="25400" rtlCol="0" anchor="t">
            <a:normAutofit/>
          </a:bodyPr>
          <a:lstStyle/>
          <a:p>
            <a:pPr marL="0" indent="0" algn="l">
              <a:buNone/>
            </a:pPr>
            <a:r>
              <a:rPr lang="en-US" sz="2100" kern="0" spc="336" dirty="0">
                <a:solidFill>
                  <a:srgbClr val="006A4D"/>
                </a:solidFill>
                <a:latin typeface="JetBrains Mono" pitchFamily="34" charset="0"/>
                <a:ea typeface="JetBrains Mono" pitchFamily="34" charset="-122"/>
                <a:cs typeface="JetBrains Mono" pitchFamily="34" charset="-120"/>
              </a:rPr>
              <a:t>05 · CONNECT &amp; ENABLE</a:t>
            </a:r>
            <a:endParaRPr lang="en-US" sz="2100" dirty="0"/>
          </a:p>
        </p:txBody>
      </p:sp>
      <p:sp>
        <p:nvSpPr>
          <p:cNvPr id="4" name="Shape 1"/>
          <p:cNvSpPr/>
          <p:nvPr/>
        </p:nvSpPr>
        <p:spPr>
          <a:xfrm>
            <a:off x="1143000" y="1533525"/>
            <a:ext cx="685800" cy="47625"/>
          </a:xfrm>
          <a:prstGeom prst="roundRect">
            <a:avLst>
              <a:gd name="adj" fmla="val 40000"/>
            </a:avLst>
          </a:prstGeom>
          <a:solidFill>
            <a:srgbClr val="006A4D"/>
          </a:solidFill>
          <a:ln/>
        </p:spPr>
        <p:txBody>
          <a:bodyPr/>
          <a:lstStyle/>
          <a:p>
            <a:endParaRPr lang="en-US"/>
          </a:p>
        </p:txBody>
      </p:sp>
      <p:sp>
        <p:nvSpPr>
          <p:cNvPr id="5" name="Text 2"/>
          <p:cNvSpPr/>
          <p:nvPr/>
        </p:nvSpPr>
        <p:spPr>
          <a:xfrm>
            <a:off x="1143000" y="2000250"/>
            <a:ext cx="17602200" cy="790947"/>
          </a:xfrm>
          <a:prstGeom prst="rect">
            <a:avLst/>
          </a:prstGeom>
          <a:noFill/>
          <a:ln/>
        </p:spPr>
        <p:txBody>
          <a:bodyPr wrap="square" lIns="25400" tIns="25400" rIns="25400" bIns="25400" rtlCol="0" anchor="t">
            <a:normAutofit/>
          </a:bodyPr>
          <a:lstStyle/>
          <a:p>
            <a:pPr marL="0" indent="0" algn="l">
              <a:lnSpc>
                <a:spcPct val="85913"/>
              </a:lnSpc>
              <a:buNone/>
            </a:pPr>
            <a:r>
              <a:rPr lang="en-US" sz="5700" b="1" kern="0" spc="-114" dirty="0">
                <a:solidFill>
                  <a:srgbClr val="003824"/>
                </a:solidFill>
                <a:latin typeface="Inter" pitchFamily="34" charset="0"/>
                <a:ea typeface="Inter" pitchFamily="34" charset="-122"/>
                <a:cs typeface="Inter" pitchFamily="34" charset="-120"/>
              </a:rPr>
              <a:t>We run hackathons and spin-up activities.</a:t>
            </a:r>
            <a:endParaRPr lang="en-US" sz="5700" dirty="0"/>
          </a:p>
        </p:txBody>
      </p:sp>
      <p:sp>
        <p:nvSpPr>
          <p:cNvPr id="6" name="Shape 3"/>
          <p:cNvSpPr/>
          <p:nvPr/>
        </p:nvSpPr>
        <p:spPr>
          <a:xfrm>
            <a:off x="1143000" y="3248397"/>
            <a:ext cx="7886700" cy="1843088"/>
          </a:xfrm>
          <a:prstGeom prst="roundRect">
            <a:avLst>
              <a:gd name="adj" fmla="val 9302"/>
            </a:avLst>
          </a:prstGeom>
          <a:solidFill>
            <a:srgbClr val="F3F8F5"/>
          </a:solidFill>
          <a:ln w="9525">
            <a:solidFill>
              <a:srgbClr val="E6F1EC"/>
            </a:solidFill>
            <a:prstDash val="solid"/>
          </a:ln>
        </p:spPr>
        <p:txBody>
          <a:bodyPr/>
          <a:lstStyle/>
          <a:p>
            <a:endParaRPr lang="en-US"/>
          </a:p>
        </p:txBody>
      </p:sp>
      <p:sp>
        <p:nvSpPr>
          <p:cNvPr id="7" name="Text 4"/>
          <p:cNvSpPr/>
          <p:nvPr/>
        </p:nvSpPr>
        <p:spPr>
          <a:xfrm>
            <a:off x="1533525" y="3600822"/>
            <a:ext cx="7816215" cy="338138"/>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006A4D"/>
                </a:solidFill>
                <a:latin typeface="JetBrains Mono" pitchFamily="34" charset="0"/>
                <a:ea typeface="JetBrains Mono" pitchFamily="34" charset="-122"/>
                <a:cs typeface="JetBrains Mono" pitchFamily="34" charset="-120"/>
              </a:rPr>
              <a:t>HACKATHONS</a:t>
            </a:r>
            <a:endParaRPr lang="en-US" sz="1800" dirty="0"/>
          </a:p>
        </p:txBody>
      </p:sp>
      <p:sp>
        <p:nvSpPr>
          <p:cNvPr id="8" name="Text 5"/>
          <p:cNvSpPr/>
          <p:nvPr/>
        </p:nvSpPr>
        <p:spPr>
          <a:xfrm>
            <a:off x="1533525" y="3996110"/>
            <a:ext cx="7318820" cy="781050"/>
          </a:xfrm>
          <a:prstGeom prst="rect">
            <a:avLst/>
          </a:prstGeom>
          <a:noFill/>
          <a:ln/>
        </p:spPr>
        <p:txBody>
          <a:bodyPr wrap="square" lIns="25400" tIns="25400" rIns="25400" bIns="25400" rtlCol="0" anchor="t">
            <a:normAutofit/>
          </a:bodyPr>
          <a:lstStyle/>
          <a:p>
            <a:pPr marL="0" indent="0" algn="l">
              <a:lnSpc>
                <a:spcPct val="108333"/>
              </a:lnSpc>
              <a:buNone/>
            </a:pPr>
            <a:r>
              <a:rPr lang="en-US" sz="2250" dirty="0">
                <a:solidFill>
                  <a:srgbClr val="14201B"/>
                </a:solidFill>
                <a:latin typeface="Inter" pitchFamily="34" charset="0"/>
                <a:ea typeface="Inter" pitchFamily="34" charset="-122"/>
                <a:cs typeface="Inter" pitchFamily="34" charset="-120"/>
              </a:rPr>
              <a:t>Try new ideas and AI tooling fast, with the business in the room.</a:t>
            </a:r>
            <a:endParaRPr lang="en-US" sz="2250" dirty="0"/>
          </a:p>
        </p:txBody>
      </p:sp>
      <p:sp>
        <p:nvSpPr>
          <p:cNvPr id="9" name="Shape 6"/>
          <p:cNvSpPr/>
          <p:nvPr/>
        </p:nvSpPr>
        <p:spPr>
          <a:xfrm>
            <a:off x="9258300" y="3248397"/>
            <a:ext cx="7886700" cy="1843088"/>
          </a:xfrm>
          <a:prstGeom prst="roundRect">
            <a:avLst>
              <a:gd name="adj" fmla="val 9302"/>
            </a:avLst>
          </a:prstGeom>
          <a:solidFill>
            <a:srgbClr val="F3F8F5"/>
          </a:solidFill>
          <a:ln w="9525">
            <a:solidFill>
              <a:srgbClr val="E6F1EC"/>
            </a:solidFill>
            <a:prstDash val="solid"/>
          </a:ln>
        </p:spPr>
        <p:txBody>
          <a:bodyPr/>
          <a:lstStyle/>
          <a:p>
            <a:endParaRPr lang="en-US"/>
          </a:p>
        </p:txBody>
      </p:sp>
      <p:sp>
        <p:nvSpPr>
          <p:cNvPr id="10" name="Text 7"/>
          <p:cNvSpPr/>
          <p:nvPr/>
        </p:nvSpPr>
        <p:spPr>
          <a:xfrm>
            <a:off x="9648825" y="3600822"/>
            <a:ext cx="7816215" cy="338138"/>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006A4D"/>
                </a:solidFill>
                <a:latin typeface="JetBrains Mono" pitchFamily="34" charset="0"/>
                <a:ea typeface="JetBrains Mono" pitchFamily="34" charset="-122"/>
                <a:cs typeface="JetBrains Mono" pitchFamily="34" charset="-120"/>
              </a:rPr>
              <a:t>SPIN-UP SESSIONS</a:t>
            </a:r>
            <a:endParaRPr lang="en-US" sz="1800" dirty="0"/>
          </a:p>
        </p:txBody>
      </p:sp>
      <p:sp>
        <p:nvSpPr>
          <p:cNvPr id="11" name="Text 8"/>
          <p:cNvSpPr/>
          <p:nvPr/>
        </p:nvSpPr>
        <p:spPr>
          <a:xfrm>
            <a:off x="9648825" y="3996110"/>
            <a:ext cx="7318820" cy="781050"/>
          </a:xfrm>
          <a:prstGeom prst="rect">
            <a:avLst/>
          </a:prstGeom>
          <a:noFill/>
          <a:ln/>
        </p:spPr>
        <p:txBody>
          <a:bodyPr wrap="square" lIns="25400" tIns="25400" rIns="25400" bIns="25400" rtlCol="0" anchor="t">
            <a:normAutofit/>
          </a:bodyPr>
          <a:lstStyle/>
          <a:p>
            <a:pPr marL="0" indent="0" algn="l">
              <a:lnSpc>
                <a:spcPct val="108333"/>
              </a:lnSpc>
              <a:buNone/>
            </a:pPr>
            <a:r>
              <a:rPr lang="en-US" sz="2250" dirty="0">
                <a:solidFill>
                  <a:srgbClr val="14201B"/>
                </a:solidFill>
                <a:latin typeface="Inter" pitchFamily="34" charset="0"/>
                <a:ea typeface="Inter" pitchFamily="34" charset="-122"/>
                <a:cs typeface="Inter" pitchFamily="34" charset="-120"/>
              </a:rPr>
              <a:t>A new team or project to a working repo and pipeline in days.</a:t>
            </a:r>
            <a:endParaRPr lang="en-US" sz="2250" dirty="0"/>
          </a:p>
        </p:txBody>
      </p:sp>
      <p:sp>
        <p:nvSpPr>
          <p:cNvPr id="12" name="Shape 9"/>
          <p:cNvSpPr/>
          <p:nvPr/>
        </p:nvSpPr>
        <p:spPr>
          <a:xfrm>
            <a:off x="1143000" y="5320085"/>
            <a:ext cx="7886700" cy="1843088"/>
          </a:xfrm>
          <a:prstGeom prst="roundRect">
            <a:avLst>
              <a:gd name="adj" fmla="val 9302"/>
            </a:avLst>
          </a:prstGeom>
          <a:solidFill>
            <a:srgbClr val="F3F8F5"/>
          </a:solidFill>
          <a:ln w="9525">
            <a:solidFill>
              <a:srgbClr val="E6F1EC"/>
            </a:solidFill>
            <a:prstDash val="solid"/>
          </a:ln>
        </p:spPr>
        <p:txBody>
          <a:bodyPr/>
          <a:lstStyle/>
          <a:p>
            <a:endParaRPr lang="en-US"/>
          </a:p>
        </p:txBody>
      </p:sp>
      <p:sp>
        <p:nvSpPr>
          <p:cNvPr id="13" name="Text 10"/>
          <p:cNvSpPr/>
          <p:nvPr/>
        </p:nvSpPr>
        <p:spPr>
          <a:xfrm>
            <a:off x="1533525" y="5672510"/>
            <a:ext cx="7816215" cy="338138"/>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006A4D"/>
                </a:solidFill>
                <a:latin typeface="JetBrains Mono" pitchFamily="34" charset="0"/>
                <a:ea typeface="JetBrains Mono" pitchFamily="34" charset="-122"/>
                <a:cs typeface="JetBrains Mono" pitchFamily="34" charset="-120"/>
              </a:rPr>
              <a:t>OFFICE HOURS</a:t>
            </a:r>
            <a:endParaRPr lang="en-US" sz="1800" dirty="0"/>
          </a:p>
        </p:txBody>
      </p:sp>
      <p:sp>
        <p:nvSpPr>
          <p:cNvPr id="14" name="Text 11"/>
          <p:cNvSpPr/>
          <p:nvPr/>
        </p:nvSpPr>
        <p:spPr>
          <a:xfrm>
            <a:off x="1533525" y="6067797"/>
            <a:ext cx="7816215" cy="409575"/>
          </a:xfrm>
          <a:prstGeom prst="rect">
            <a:avLst/>
          </a:prstGeom>
          <a:noFill/>
          <a:ln/>
        </p:spPr>
        <p:txBody>
          <a:bodyPr wrap="square" lIns="25400" tIns="25400" rIns="25400" bIns="25400" rtlCol="0" anchor="t">
            <a:normAutofit/>
          </a:bodyPr>
          <a:lstStyle/>
          <a:p>
            <a:pPr marL="0" indent="0" algn="l">
              <a:lnSpc>
                <a:spcPct val="108333"/>
              </a:lnSpc>
              <a:buNone/>
            </a:pPr>
            <a:r>
              <a:rPr lang="en-US" sz="2250" dirty="0">
                <a:solidFill>
                  <a:srgbClr val="14201B"/>
                </a:solidFill>
                <a:latin typeface="Inter" pitchFamily="34" charset="0"/>
                <a:ea typeface="Inter" pitchFamily="34" charset="-122"/>
                <a:cs typeface="Inter" pitchFamily="34" charset="-120"/>
              </a:rPr>
              <a:t>Regular drop-in for pipeline, cloud and AI questions.</a:t>
            </a:r>
            <a:endParaRPr lang="en-US" sz="2250" dirty="0"/>
          </a:p>
        </p:txBody>
      </p:sp>
      <p:sp>
        <p:nvSpPr>
          <p:cNvPr id="15" name="Shape 12"/>
          <p:cNvSpPr/>
          <p:nvPr/>
        </p:nvSpPr>
        <p:spPr>
          <a:xfrm>
            <a:off x="9258300" y="5320085"/>
            <a:ext cx="7886700" cy="1843088"/>
          </a:xfrm>
          <a:prstGeom prst="roundRect">
            <a:avLst>
              <a:gd name="adj" fmla="val 9302"/>
            </a:avLst>
          </a:prstGeom>
          <a:solidFill>
            <a:srgbClr val="F3F8F5"/>
          </a:solidFill>
          <a:ln w="9525">
            <a:solidFill>
              <a:srgbClr val="E6F1EC"/>
            </a:solidFill>
            <a:prstDash val="solid"/>
          </a:ln>
        </p:spPr>
        <p:txBody>
          <a:bodyPr/>
          <a:lstStyle/>
          <a:p>
            <a:endParaRPr lang="en-US"/>
          </a:p>
        </p:txBody>
      </p:sp>
      <p:sp>
        <p:nvSpPr>
          <p:cNvPr id="16" name="Text 13"/>
          <p:cNvSpPr/>
          <p:nvPr/>
        </p:nvSpPr>
        <p:spPr>
          <a:xfrm>
            <a:off x="9648825" y="5672510"/>
            <a:ext cx="7816215" cy="338138"/>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006A4D"/>
                </a:solidFill>
                <a:latin typeface="JetBrains Mono" pitchFamily="34" charset="0"/>
                <a:ea typeface="JetBrains Mono" pitchFamily="34" charset="-122"/>
                <a:cs typeface="JetBrains Mono" pitchFamily="34" charset="-120"/>
              </a:rPr>
              <a:t>SHOW &amp; TELLS</a:t>
            </a:r>
            <a:endParaRPr lang="en-US" sz="1800" dirty="0"/>
          </a:p>
        </p:txBody>
      </p:sp>
      <p:sp>
        <p:nvSpPr>
          <p:cNvPr id="17" name="Text 14"/>
          <p:cNvSpPr/>
          <p:nvPr/>
        </p:nvSpPr>
        <p:spPr>
          <a:xfrm>
            <a:off x="9648825" y="6067797"/>
            <a:ext cx="7816215" cy="409575"/>
          </a:xfrm>
          <a:prstGeom prst="rect">
            <a:avLst/>
          </a:prstGeom>
          <a:noFill/>
          <a:ln/>
        </p:spPr>
        <p:txBody>
          <a:bodyPr wrap="square" lIns="25400" tIns="25400" rIns="25400" bIns="25400" rtlCol="0" anchor="t">
            <a:normAutofit/>
          </a:bodyPr>
          <a:lstStyle/>
          <a:p>
            <a:pPr marL="0" indent="0" algn="l">
              <a:lnSpc>
                <a:spcPct val="108333"/>
              </a:lnSpc>
              <a:buNone/>
            </a:pPr>
            <a:r>
              <a:rPr lang="en-US" sz="2250" dirty="0">
                <a:solidFill>
                  <a:srgbClr val="14201B"/>
                </a:solidFill>
                <a:latin typeface="Inter" pitchFamily="34" charset="0"/>
                <a:ea typeface="Inter" pitchFamily="34" charset="-122"/>
                <a:cs typeface="Inter" pitchFamily="34" charset="-120"/>
              </a:rPr>
              <a:t>What one lab builds, the other lab sees.</a:t>
            </a:r>
            <a:endParaRPr lang="en-US" sz="2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3824"/>
        </a:solidFill>
        <a:effectLst/>
      </p:bgPr>
    </p:bg>
    <p:spTree>
      <p:nvGrpSpPr>
        <p:cNvPr id="1" name=""/>
        <p:cNvGrpSpPr/>
        <p:nvPr/>
      </p:nvGrpSpPr>
      <p:grpSpPr>
        <a:xfrm>
          <a:off x="0" y="0"/>
          <a:ext cx="0" cy="0"/>
          <a:chOff x="0" y="0"/>
          <a:chExt cx="0" cy="0"/>
        </a:xfrm>
      </p:grpSpPr>
      <p:sp>
        <p:nvSpPr>
          <p:cNvPr id="2" name="Text 0"/>
          <p:cNvSpPr/>
          <p:nvPr/>
        </p:nvSpPr>
        <p:spPr>
          <a:xfrm>
            <a:off x="1143000" y="952500"/>
            <a:ext cx="17602200" cy="390525"/>
          </a:xfrm>
          <a:prstGeom prst="rect">
            <a:avLst/>
          </a:prstGeom>
          <a:noFill/>
          <a:ln/>
        </p:spPr>
        <p:txBody>
          <a:bodyPr wrap="square" lIns="25400" tIns="25400" rIns="25400" bIns="25400" rtlCol="0" anchor="t">
            <a:normAutofit/>
          </a:bodyPr>
          <a:lstStyle/>
          <a:p>
            <a:pPr marL="0" indent="0" algn="l">
              <a:buNone/>
            </a:pPr>
            <a:r>
              <a:rPr lang="en-US" sz="2100" kern="0" spc="336" dirty="0">
                <a:solidFill>
                  <a:srgbClr val="9EC5B3"/>
                </a:solidFill>
                <a:latin typeface="JetBrains Mono" pitchFamily="34" charset="0"/>
                <a:ea typeface="JetBrains Mono" pitchFamily="34" charset="-122"/>
                <a:cs typeface="JetBrains Mono" pitchFamily="34" charset="-120"/>
              </a:rPr>
              <a:t>WORKING WITH US</a:t>
            </a:r>
            <a:endParaRPr lang="en-US" sz="2100" dirty="0"/>
          </a:p>
        </p:txBody>
      </p:sp>
      <p:sp>
        <p:nvSpPr>
          <p:cNvPr id="3" name="Shape 1"/>
          <p:cNvSpPr/>
          <p:nvPr/>
        </p:nvSpPr>
        <p:spPr>
          <a:xfrm>
            <a:off x="1143000" y="1533525"/>
            <a:ext cx="685800" cy="42118"/>
          </a:xfrm>
          <a:prstGeom prst="roundRect">
            <a:avLst>
              <a:gd name="adj" fmla="val 45230"/>
            </a:avLst>
          </a:prstGeom>
          <a:solidFill>
            <a:srgbClr val="9EC5B3"/>
          </a:solidFill>
          <a:ln/>
        </p:spPr>
        <p:txBody>
          <a:bodyPr/>
          <a:lstStyle/>
          <a:p>
            <a:endParaRPr lang="en-US"/>
          </a:p>
        </p:txBody>
      </p:sp>
      <p:sp>
        <p:nvSpPr>
          <p:cNvPr id="4" name="Text 2"/>
          <p:cNvSpPr/>
          <p:nvPr/>
        </p:nvSpPr>
        <p:spPr>
          <a:xfrm>
            <a:off x="1143000" y="1994743"/>
            <a:ext cx="16482060" cy="1543794"/>
          </a:xfrm>
          <a:prstGeom prst="rect">
            <a:avLst/>
          </a:prstGeom>
          <a:noFill/>
          <a:ln/>
        </p:spPr>
        <p:txBody>
          <a:bodyPr wrap="square" lIns="25400" tIns="25400" rIns="25400" bIns="25400" rtlCol="0" anchor="t">
            <a:normAutofit/>
          </a:bodyPr>
          <a:lstStyle/>
          <a:p>
            <a:pPr marL="0" indent="0" algn="l">
              <a:lnSpc>
                <a:spcPct val="85913"/>
              </a:lnSpc>
              <a:buNone/>
            </a:pPr>
            <a:r>
              <a:rPr lang="en-US" sz="5700" b="1" kern="0" spc="-114" dirty="0">
                <a:solidFill>
                  <a:srgbClr val="FFFFFF"/>
                </a:solidFill>
                <a:latin typeface="Inter" pitchFamily="34" charset="0"/>
                <a:ea typeface="Inter" pitchFamily="34" charset="-122"/>
                <a:cs typeface="Inter" pitchFamily="34" charset="-120"/>
              </a:rPr>
              <a:t>We work in two modes: partially embedded or on demand.</a:t>
            </a:r>
            <a:endParaRPr lang="en-US" sz="5700" dirty="0"/>
          </a:p>
        </p:txBody>
      </p:sp>
      <p:sp>
        <p:nvSpPr>
          <p:cNvPr id="5" name="Shape 3"/>
          <p:cNvSpPr/>
          <p:nvPr/>
        </p:nvSpPr>
        <p:spPr>
          <a:xfrm>
            <a:off x="4038600" y="3957638"/>
            <a:ext cx="6438900" cy="1743075"/>
          </a:xfrm>
          <a:custGeom>
            <a:avLst/>
            <a:gdLst/>
            <a:ahLst/>
            <a:cxnLst/>
            <a:rect l="l" t="t" r="r" b="b"/>
            <a:pathLst>
              <a:path w="6438900" h="1743075">
                <a:moveTo>
                  <a:pt x="171450" y="0"/>
                </a:moveTo>
                <a:lnTo>
                  <a:pt x="6267450" y="0"/>
                </a:lnTo>
                <a:arcTo wR="171450" hR="171450" stAng="16200000" swAng="5400000"/>
                <a:lnTo>
                  <a:pt x="6438900" y="1743075"/>
                </a:lnTo>
                <a:lnTo>
                  <a:pt x="0" y="1743075"/>
                </a:lnTo>
                <a:lnTo>
                  <a:pt x="0" y="171450"/>
                </a:lnTo>
                <a:arcTo wR="171450" hR="171450" stAng="10800000" swAng="5400000"/>
                <a:close/>
              </a:path>
            </a:pathLst>
          </a:custGeom>
          <a:solidFill>
            <a:srgbClr val="9EC5B3"/>
          </a:solidFill>
          <a:ln/>
        </p:spPr>
        <p:txBody>
          <a:bodyPr/>
          <a:lstStyle/>
          <a:p>
            <a:endParaRPr lang="en-US"/>
          </a:p>
        </p:txBody>
      </p:sp>
      <p:sp>
        <p:nvSpPr>
          <p:cNvPr id="6" name="Text 4"/>
          <p:cNvSpPr/>
          <p:nvPr/>
        </p:nvSpPr>
        <p:spPr>
          <a:xfrm>
            <a:off x="4381500" y="4224338"/>
            <a:ext cx="6328410" cy="542925"/>
          </a:xfrm>
          <a:prstGeom prst="rect">
            <a:avLst/>
          </a:prstGeom>
          <a:noFill/>
          <a:ln/>
        </p:spPr>
        <p:txBody>
          <a:bodyPr wrap="square" lIns="25400" tIns="25400" rIns="25400" bIns="25400" rtlCol="0" anchor="t">
            <a:normAutofit/>
          </a:bodyPr>
          <a:lstStyle/>
          <a:p>
            <a:pPr marL="0" indent="0" algn="l">
              <a:buNone/>
            </a:pPr>
            <a:r>
              <a:rPr lang="en-US" sz="3300" b="1" dirty="0">
                <a:solidFill>
                  <a:srgbClr val="003824"/>
                </a:solidFill>
                <a:latin typeface="Inter" pitchFamily="34" charset="0"/>
                <a:ea typeface="Inter" pitchFamily="34" charset="-122"/>
                <a:cs typeface="Inter" pitchFamily="34" charset="-120"/>
              </a:rPr>
              <a:t>Partially embedded</a:t>
            </a:r>
            <a:endParaRPr lang="en-US" sz="3300" dirty="0"/>
          </a:p>
        </p:txBody>
      </p:sp>
      <p:sp>
        <p:nvSpPr>
          <p:cNvPr id="7" name="Text 5"/>
          <p:cNvSpPr/>
          <p:nvPr/>
        </p:nvSpPr>
        <p:spPr>
          <a:xfrm>
            <a:off x="4381500" y="4786313"/>
            <a:ext cx="5925693" cy="685800"/>
          </a:xfrm>
          <a:prstGeom prst="rect">
            <a:avLst/>
          </a:prstGeom>
          <a:noFill/>
          <a:ln/>
        </p:spPr>
        <p:txBody>
          <a:bodyPr wrap="square" lIns="25400" tIns="25400" rIns="25400" bIns="25400" rtlCol="0" anchor="t">
            <a:normAutofit/>
          </a:bodyPr>
          <a:lstStyle/>
          <a:p>
            <a:pPr marL="0" indent="0" algn="l">
              <a:buNone/>
            </a:pPr>
            <a:r>
              <a:rPr lang="en-US" sz="2100" dirty="0">
                <a:solidFill>
                  <a:srgbClr val="0A4A31"/>
                </a:solidFill>
                <a:latin typeface="Inter" pitchFamily="34" charset="0"/>
                <a:ea typeface="Inter" pitchFamily="34" charset="-122"/>
                <a:cs typeface="Inter" pitchFamily="34" charset="-120"/>
              </a:rPr>
              <a:t>We work alongside your team on an agreed scope</a:t>
            </a:r>
            <a:endParaRPr lang="en-US" sz="2100" dirty="0"/>
          </a:p>
        </p:txBody>
      </p:sp>
      <p:sp>
        <p:nvSpPr>
          <p:cNvPr id="8" name="Shape 6"/>
          <p:cNvSpPr/>
          <p:nvPr/>
        </p:nvSpPr>
        <p:spPr>
          <a:xfrm>
            <a:off x="10706100" y="3957638"/>
            <a:ext cx="6438900" cy="1743075"/>
          </a:xfrm>
          <a:custGeom>
            <a:avLst/>
            <a:gdLst/>
            <a:ahLst/>
            <a:cxnLst/>
            <a:rect l="l" t="t" r="r" b="b"/>
            <a:pathLst>
              <a:path w="6438900" h="1743075">
                <a:moveTo>
                  <a:pt x="171450" y="0"/>
                </a:moveTo>
                <a:lnTo>
                  <a:pt x="6267450" y="0"/>
                </a:lnTo>
                <a:arcTo wR="171450" hR="171450" stAng="16200000" swAng="5400000"/>
                <a:lnTo>
                  <a:pt x="6438900" y="1743075"/>
                </a:lnTo>
                <a:lnTo>
                  <a:pt x="0" y="1743075"/>
                </a:lnTo>
                <a:lnTo>
                  <a:pt x="0" y="171450"/>
                </a:lnTo>
                <a:arcTo wR="171450" hR="171450" stAng="10800000" swAng="5400000"/>
                <a:close/>
              </a:path>
            </a:pathLst>
          </a:custGeom>
          <a:solidFill>
            <a:srgbClr val="0A4A31"/>
          </a:solidFill>
          <a:ln/>
        </p:spPr>
        <p:txBody>
          <a:bodyPr/>
          <a:lstStyle/>
          <a:p>
            <a:endParaRPr lang="en-US"/>
          </a:p>
        </p:txBody>
      </p:sp>
      <p:sp>
        <p:nvSpPr>
          <p:cNvPr id="9" name="Text 7"/>
          <p:cNvSpPr/>
          <p:nvPr/>
        </p:nvSpPr>
        <p:spPr>
          <a:xfrm>
            <a:off x="11049000" y="4224338"/>
            <a:ext cx="6328410" cy="542925"/>
          </a:xfrm>
          <a:prstGeom prst="rect">
            <a:avLst/>
          </a:prstGeom>
          <a:noFill/>
          <a:ln/>
        </p:spPr>
        <p:txBody>
          <a:bodyPr wrap="square" lIns="25400" tIns="25400" rIns="25400" bIns="25400" rtlCol="0" anchor="t">
            <a:normAutofit/>
          </a:bodyPr>
          <a:lstStyle/>
          <a:p>
            <a:pPr marL="0" indent="0" algn="l">
              <a:buNone/>
            </a:pPr>
            <a:r>
              <a:rPr lang="en-US" sz="3300" b="1" dirty="0">
                <a:solidFill>
                  <a:srgbClr val="FFFFFF"/>
                </a:solidFill>
                <a:latin typeface="Inter" pitchFamily="34" charset="0"/>
                <a:ea typeface="Inter" pitchFamily="34" charset="-122"/>
                <a:cs typeface="Inter" pitchFamily="34" charset="-120"/>
              </a:rPr>
              <a:t>On demand</a:t>
            </a:r>
            <a:endParaRPr lang="en-US" sz="3300" dirty="0"/>
          </a:p>
        </p:txBody>
      </p:sp>
      <p:sp>
        <p:nvSpPr>
          <p:cNvPr id="10" name="Text 8"/>
          <p:cNvSpPr/>
          <p:nvPr/>
        </p:nvSpPr>
        <p:spPr>
          <a:xfrm>
            <a:off x="11049000" y="4786313"/>
            <a:ext cx="6328410" cy="361950"/>
          </a:xfrm>
          <a:prstGeom prst="rect">
            <a:avLst/>
          </a:prstGeom>
          <a:noFill/>
          <a:ln/>
        </p:spPr>
        <p:txBody>
          <a:bodyPr wrap="square" lIns="25400" tIns="25400" rIns="25400" bIns="25400" rtlCol="0" anchor="t">
            <a:normAutofit/>
          </a:bodyPr>
          <a:lstStyle/>
          <a:p>
            <a:pPr marL="0" indent="0" algn="l">
              <a:buNone/>
            </a:pPr>
            <a:r>
              <a:rPr lang="en-US" sz="2100" dirty="0">
                <a:solidFill>
                  <a:srgbClr val="CFE2D8"/>
                </a:solidFill>
                <a:latin typeface="Inter" pitchFamily="34" charset="0"/>
                <a:ea typeface="Inter" pitchFamily="34" charset="-122"/>
                <a:cs typeface="Inter" pitchFamily="34" charset="-120"/>
              </a:rPr>
              <a:t>You bring a problem, we help solve it</a:t>
            </a:r>
            <a:endParaRPr lang="en-US" sz="2100" dirty="0"/>
          </a:p>
        </p:txBody>
      </p:sp>
      <p:sp>
        <p:nvSpPr>
          <p:cNvPr id="11" name="Shape 9"/>
          <p:cNvSpPr/>
          <p:nvPr/>
        </p:nvSpPr>
        <p:spPr>
          <a:xfrm>
            <a:off x="1143000" y="6424613"/>
            <a:ext cx="2667000" cy="9525"/>
          </a:xfrm>
          <a:prstGeom prst="rect">
            <a:avLst/>
          </a:prstGeom>
          <a:solidFill>
            <a:srgbClr val="0A4A31"/>
          </a:solidFill>
          <a:ln/>
        </p:spPr>
        <p:txBody>
          <a:bodyPr/>
          <a:lstStyle/>
          <a:p>
            <a:endParaRPr lang="en-US"/>
          </a:p>
        </p:txBody>
      </p:sp>
      <p:sp>
        <p:nvSpPr>
          <p:cNvPr id="12" name="Text 10"/>
          <p:cNvSpPr/>
          <p:nvPr/>
        </p:nvSpPr>
        <p:spPr>
          <a:xfrm>
            <a:off x="1143000" y="5891213"/>
            <a:ext cx="2747010" cy="38100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9EC5B3"/>
                </a:solidFill>
                <a:latin typeface="JetBrains Mono" pitchFamily="34" charset="0"/>
                <a:ea typeface="JetBrains Mono" pitchFamily="34" charset="-122"/>
                <a:cs typeface="JetBrains Mono" pitchFamily="34" charset="-120"/>
              </a:rPr>
              <a:t>BEST FOR</a:t>
            </a:r>
            <a:endParaRPr lang="en-US" sz="1800" dirty="0"/>
          </a:p>
        </p:txBody>
      </p:sp>
      <p:sp>
        <p:nvSpPr>
          <p:cNvPr id="13" name="Shape 11"/>
          <p:cNvSpPr/>
          <p:nvPr/>
        </p:nvSpPr>
        <p:spPr>
          <a:xfrm>
            <a:off x="4038600" y="6424613"/>
            <a:ext cx="6438900" cy="9525"/>
          </a:xfrm>
          <a:prstGeom prst="rect">
            <a:avLst/>
          </a:prstGeom>
          <a:solidFill>
            <a:srgbClr val="0A4A31"/>
          </a:solidFill>
          <a:ln/>
        </p:spPr>
        <p:txBody>
          <a:bodyPr/>
          <a:lstStyle/>
          <a:p>
            <a:endParaRPr lang="en-US"/>
          </a:p>
        </p:txBody>
      </p:sp>
      <p:sp>
        <p:nvSpPr>
          <p:cNvPr id="14" name="Text 12"/>
          <p:cNvSpPr/>
          <p:nvPr/>
        </p:nvSpPr>
        <p:spPr>
          <a:xfrm>
            <a:off x="4381500" y="5891213"/>
            <a:ext cx="5946267" cy="381000"/>
          </a:xfrm>
          <a:prstGeom prst="rect">
            <a:avLst/>
          </a:prstGeom>
          <a:noFill/>
          <a:ln/>
        </p:spPr>
        <p:txBody>
          <a:bodyPr wrap="square" lIns="25400" tIns="25400" rIns="25400" bIns="25400" rtlCol="0" anchor="t">
            <a:normAutofit/>
          </a:bodyPr>
          <a:lstStyle/>
          <a:p>
            <a:pPr marL="0" indent="0" algn="l">
              <a:buNone/>
            </a:pPr>
            <a:r>
              <a:rPr lang="en-US" sz="2250" dirty="0">
                <a:solidFill>
                  <a:srgbClr val="FFFFFF"/>
                </a:solidFill>
                <a:latin typeface="Inter" pitchFamily="34" charset="0"/>
                <a:ea typeface="Inter" pitchFamily="34" charset="-122"/>
                <a:cs typeface="Inter" pitchFamily="34" charset="-120"/>
              </a:rPr>
              <a:t>New builds, migrations, prototypes</a:t>
            </a:r>
            <a:endParaRPr lang="en-US" sz="2250" dirty="0"/>
          </a:p>
        </p:txBody>
      </p:sp>
      <p:sp>
        <p:nvSpPr>
          <p:cNvPr id="15" name="Shape 13"/>
          <p:cNvSpPr/>
          <p:nvPr/>
        </p:nvSpPr>
        <p:spPr>
          <a:xfrm>
            <a:off x="10706100" y="6424613"/>
            <a:ext cx="6438900" cy="9525"/>
          </a:xfrm>
          <a:prstGeom prst="rect">
            <a:avLst/>
          </a:prstGeom>
          <a:solidFill>
            <a:srgbClr val="0A4A31"/>
          </a:solidFill>
          <a:ln/>
        </p:spPr>
        <p:txBody>
          <a:bodyPr/>
          <a:lstStyle/>
          <a:p>
            <a:endParaRPr lang="en-US"/>
          </a:p>
        </p:txBody>
      </p:sp>
      <p:sp>
        <p:nvSpPr>
          <p:cNvPr id="16" name="Text 14"/>
          <p:cNvSpPr/>
          <p:nvPr/>
        </p:nvSpPr>
        <p:spPr>
          <a:xfrm>
            <a:off x="11049000" y="5891213"/>
            <a:ext cx="5946267" cy="381000"/>
          </a:xfrm>
          <a:prstGeom prst="rect">
            <a:avLst/>
          </a:prstGeom>
          <a:noFill/>
          <a:ln/>
        </p:spPr>
        <p:txBody>
          <a:bodyPr wrap="square" lIns="25400" tIns="25400" rIns="25400" bIns="25400" rtlCol="0" anchor="t">
            <a:normAutofit/>
          </a:bodyPr>
          <a:lstStyle/>
          <a:p>
            <a:pPr marL="0" indent="0" algn="l">
              <a:buNone/>
            </a:pPr>
            <a:r>
              <a:rPr lang="en-US" sz="2250" dirty="0">
                <a:solidFill>
                  <a:srgbClr val="FFFFFF"/>
                </a:solidFill>
                <a:latin typeface="Inter" pitchFamily="34" charset="0"/>
                <a:ea typeface="Inter" pitchFamily="34" charset="-122"/>
                <a:cs typeface="Inter" pitchFamily="34" charset="-120"/>
              </a:rPr>
              <a:t>Troubleshooting, reviews, AI tooling setup</a:t>
            </a:r>
            <a:endParaRPr lang="en-US" sz="2250" dirty="0"/>
          </a:p>
        </p:txBody>
      </p:sp>
      <p:sp>
        <p:nvSpPr>
          <p:cNvPr id="17" name="Shape 15"/>
          <p:cNvSpPr/>
          <p:nvPr/>
        </p:nvSpPr>
        <p:spPr>
          <a:xfrm>
            <a:off x="1143000" y="7158038"/>
            <a:ext cx="2667000" cy="9525"/>
          </a:xfrm>
          <a:prstGeom prst="rect">
            <a:avLst/>
          </a:prstGeom>
          <a:solidFill>
            <a:srgbClr val="0A4A31"/>
          </a:solidFill>
          <a:ln/>
        </p:spPr>
        <p:txBody>
          <a:bodyPr/>
          <a:lstStyle/>
          <a:p>
            <a:endParaRPr lang="en-US"/>
          </a:p>
        </p:txBody>
      </p:sp>
      <p:sp>
        <p:nvSpPr>
          <p:cNvPr id="18" name="Text 16"/>
          <p:cNvSpPr/>
          <p:nvPr/>
        </p:nvSpPr>
        <p:spPr>
          <a:xfrm>
            <a:off x="1143000" y="6624637"/>
            <a:ext cx="2747010" cy="38100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9EC5B3"/>
                </a:solidFill>
                <a:latin typeface="JetBrains Mono" pitchFamily="34" charset="0"/>
                <a:ea typeface="JetBrains Mono" pitchFamily="34" charset="-122"/>
                <a:cs typeface="JetBrains Mono" pitchFamily="34" charset="-120"/>
              </a:rPr>
              <a:t>TYPICAL LENGTH</a:t>
            </a:r>
            <a:endParaRPr lang="en-US" sz="1800" dirty="0"/>
          </a:p>
        </p:txBody>
      </p:sp>
      <p:sp>
        <p:nvSpPr>
          <p:cNvPr id="19" name="Shape 17"/>
          <p:cNvSpPr/>
          <p:nvPr/>
        </p:nvSpPr>
        <p:spPr>
          <a:xfrm>
            <a:off x="4038600" y="7158038"/>
            <a:ext cx="6438900" cy="9525"/>
          </a:xfrm>
          <a:prstGeom prst="rect">
            <a:avLst/>
          </a:prstGeom>
          <a:solidFill>
            <a:srgbClr val="0A4A31"/>
          </a:solidFill>
          <a:ln/>
        </p:spPr>
        <p:txBody>
          <a:bodyPr/>
          <a:lstStyle/>
          <a:p>
            <a:endParaRPr lang="en-US"/>
          </a:p>
        </p:txBody>
      </p:sp>
      <p:sp>
        <p:nvSpPr>
          <p:cNvPr id="20" name="Text 18"/>
          <p:cNvSpPr/>
          <p:nvPr/>
        </p:nvSpPr>
        <p:spPr>
          <a:xfrm>
            <a:off x="4381500" y="6624637"/>
            <a:ext cx="5946267" cy="381000"/>
          </a:xfrm>
          <a:prstGeom prst="rect">
            <a:avLst/>
          </a:prstGeom>
          <a:noFill/>
          <a:ln/>
        </p:spPr>
        <p:txBody>
          <a:bodyPr wrap="square" lIns="25400" tIns="25400" rIns="25400" bIns="25400" rtlCol="0" anchor="t">
            <a:normAutofit/>
          </a:bodyPr>
          <a:lstStyle/>
          <a:p>
            <a:pPr marL="0" indent="0" algn="l">
              <a:buNone/>
            </a:pPr>
            <a:r>
              <a:rPr lang="en-US" sz="2250" dirty="0">
                <a:solidFill>
                  <a:srgbClr val="FFFFFF"/>
                </a:solidFill>
                <a:latin typeface="Inter" pitchFamily="34" charset="0"/>
                <a:ea typeface="Inter" pitchFamily="34" charset="-122"/>
                <a:cs typeface="Inter" pitchFamily="34" charset="-120"/>
              </a:rPr>
              <a:t>Agreed scope and timeline</a:t>
            </a:r>
            <a:endParaRPr lang="en-US" sz="2250" dirty="0"/>
          </a:p>
        </p:txBody>
      </p:sp>
      <p:sp>
        <p:nvSpPr>
          <p:cNvPr id="21" name="Shape 19"/>
          <p:cNvSpPr/>
          <p:nvPr/>
        </p:nvSpPr>
        <p:spPr>
          <a:xfrm>
            <a:off x="10706100" y="7158038"/>
            <a:ext cx="6438900" cy="9525"/>
          </a:xfrm>
          <a:prstGeom prst="rect">
            <a:avLst/>
          </a:prstGeom>
          <a:solidFill>
            <a:srgbClr val="0A4A31"/>
          </a:solidFill>
          <a:ln/>
        </p:spPr>
        <p:txBody>
          <a:bodyPr/>
          <a:lstStyle/>
          <a:p>
            <a:endParaRPr lang="en-US"/>
          </a:p>
        </p:txBody>
      </p:sp>
      <p:sp>
        <p:nvSpPr>
          <p:cNvPr id="22" name="Text 20"/>
          <p:cNvSpPr/>
          <p:nvPr/>
        </p:nvSpPr>
        <p:spPr>
          <a:xfrm>
            <a:off x="11049000" y="6624637"/>
            <a:ext cx="5946267" cy="381000"/>
          </a:xfrm>
          <a:prstGeom prst="rect">
            <a:avLst/>
          </a:prstGeom>
          <a:noFill/>
          <a:ln/>
        </p:spPr>
        <p:txBody>
          <a:bodyPr wrap="square" lIns="25400" tIns="25400" rIns="25400" bIns="25400" rtlCol="0" anchor="t">
            <a:normAutofit/>
          </a:bodyPr>
          <a:lstStyle/>
          <a:p>
            <a:pPr marL="0" indent="0" algn="l">
              <a:buNone/>
            </a:pPr>
            <a:r>
              <a:rPr lang="en-US" sz="2250" dirty="0">
                <a:solidFill>
                  <a:srgbClr val="FFFFFF"/>
                </a:solidFill>
                <a:latin typeface="Inter" pitchFamily="34" charset="0"/>
                <a:ea typeface="Inter" pitchFamily="34" charset="-122"/>
                <a:cs typeface="Inter" pitchFamily="34" charset="-120"/>
              </a:rPr>
              <a:t>Hours to days</a:t>
            </a:r>
            <a:endParaRPr lang="en-US" sz="2250" dirty="0"/>
          </a:p>
        </p:txBody>
      </p:sp>
      <p:sp>
        <p:nvSpPr>
          <p:cNvPr id="23" name="Text 21"/>
          <p:cNvSpPr/>
          <p:nvPr/>
        </p:nvSpPr>
        <p:spPr>
          <a:xfrm>
            <a:off x="1143000" y="7358063"/>
            <a:ext cx="2747010" cy="72390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9EC5B3"/>
                </a:solidFill>
                <a:latin typeface="JetBrains Mono" pitchFamily="34" charset="0"/>
                <a:ea typeface="JetBrains Mono" pitchFamily="34" charset="-122"/>
                <a:cs typeface="JetBrains Mono" pitchFamily="34" charset="-120"/>
              </a:rPr>
              <a:t>HOW IT ENDS</a:t>
            </a:r>
            <a:endParaRPr lang="en-US" sz="1800" dirty="0"/>
          </a:p>
        </p:txBody>
      </p:sp>
      <p:sp>
        <p:nvSpPr>
          <p:cNvPr id="24" name="Text 22"/>
          <p:cNvSpPr/>
          <p:nvPr/>
        </p:nvSpPr>
        <p:spPr>
          <a:xfrm>
            <a:off x="4381500" y="7358063"/>
            <a:ext cx="5946267" cy="723900"/>
          </a:xfrm>
          <a:prstGeom prst="rect">
            <a:avLst/>
          </a:prstGeom>
          <a:noFill/>
          <a:ln/>
        </p:spPr>
        <p:txBody>
          <a:bodyPr wrap="square" lIns="25400" tIns="25400" rIns="25400" bIns="25400" rtlCol="0" anchor="t">
            <a:normAutofit/>
          </a:bodyPr>
          <a:lstStyle/>
          <a:p>
            <a:pPr marL="0" indent="0" algn="l">
              <a:buNone/>
            </a:pPr>
            <a:r>
              <a:rPr lang="en-US" sz="2250" dirty="0">
                <a:solidFill>
                  <a:srgbClr val="FFFFFF"/>
                </a:solidFill>
                <a:latin typeface="Inter" pitchFamily="34" charset="0"/>
                <a:ea typeface="Inter" pitchFamily="34" charset="-122"/>
                <a:cs typeface="Inter" pitchFamily="34" charset="-120"/>
              </a:rPr>
              <a:t>Handover: docs, runbook, your team owns it</a:t>
            </a:r>
            <a:endParaRPr lang="en-US" sz="2250" dirty="0"/>
          </a:p>
        </p:txBody>
      </p:sp>
      <p:sp>
        <p:nvSpPr>
          <p:cNvPr id="25" name="Text 23"/>
          <p:cNvSpPr/>
          <p:nvPr/>
        </p:nvSpPr>
        <p:spPr>
          <a:xfrm>
            <a:off x="11049000" y="7358063"/>
            <a:ext cx="5946267" cy="723900"/>
          </a:xfrm>
          <a:prstGeom prst="rect">
            <a:avLst/>
          </a:prstGeom>
          <a:noFill/>
          <a:ln/>
        </p:spPr>
        <p:txBody>
          <a:bodyPr wrap="square" lIns="25400" tIns="25400" rIns="25400" bIns="25400" rtlCol="0" anchor="t">
            <a:normAutofit/>
          </a:bodyPr>
          <a:lstStyle/>
          <a:p>
            <a:pPr marL="0" indent="0" algn="l">
              <a:buNone/>
            </a:pPr>
            <a:r>
              <a:rPr lang="en-US" sz="2250" dirty="0">
                <a:solidFill>
                  <a:srgbClr val="FFFFFF"/>
                </a:solidFill>
                <a:latin typeface="Inter" pitchFamily="34" charset="0"/>
                <a:ea typeface="Inter" pitchFamily="34" charset="-122"/>
                <a:cs typeface="Inter" pitchFamily="34" charset="-120"/>
              </a:rPr>
              <a:t>Problem solved, fix documented</a:t>
            </a:r>
            <a:endParaRPr lang="en-US" sz="2250" dirty="0"/>
          </a:p>
        </p:txBody>
      </p:sp>
      <p:sp>
        <p:nvSpPr>
          <p:cNvPr id="26" name="Shape 24"/>
          <p:cNvSpPr/>
          <p:nvPr/>
        </p:nvSpPr>
        <p:spPr>
          <a:xfrm>
            <a:off x="1143000" y="8462963"/>
            <a:ext cx="16002000" cy="871538"/>
          </a:xfrm>
          <a:prstGeom prst="roundRect">
            <a:avLst>
              <a:gd name="adj" fmla="val 17486"/>
            </a:avLst>
          </a:prstGeom>
          <a:solidFill>
            <a:srgbClr val="0A4A31"/>
          </a:solidFill>
          <a:ln/>
        </p:spPr>
        <p:txBody>
          <a:bodyPr/>
          <a:lstStyle/>
          <a:p>
            <a:endParaRPr lang="en-US"/>
          </a:p>
        </p:txBody>
      </p:sp>
      <p:sp>
        <p:nvSpPr>
          <p:cNvPr id="27" name="Shape 25"/>
          <p:cNvSpPr/>
          <p:nvPr/>
        </p:nvSpPr>
        <p:spPr>
          <a:xfrm>
            <a:off x="1447800" y="8672513"/>
            <a:ext cx="926604" cy="452438"/>
          </a:xfrm>
          <a:prstGeom prst="roundRect">
            <a:avLst>
              <a:gd name="adj" fmla="val 50000"/>
            </a:avLst>
          </a:prstGeom>
          <a:solidFill>
            <a:srgbClr val="9EC5B3"/>
          </a:solidFill>
          <a:ln/>
        </p:spPr>
        <p:txBody>
          <a:bodyPr/>
          <a:lstStyle/>
          <a:p>
            <a:endParaRPr lang="en-US"/>
          </a:p>
        </p:txBody>
      </p:sp>
      <p:sp>
        <p:nvSpPr>
          <p:cNvPr id="28" name="Text 26"/>
          <p:cNvSpPr/>
          <p:nvPr/>
        </p:nvSpPr>
        <p:spPr>
          <a:xfrm>
            <a:off x="1600200" y="8748713"/>
            <a:ext cx="698004" cy="338138"/>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003824"/>
                </a:solidFill>
                <a:latin typeface="JetBrains Mono" pitchFamily="34" charset="0"/>
                <a:ea typeface="JetBrains Mono" pitchFamily="34" charset="-122"/>
                <a:cs typeface="JetBrains Mono" pitchFamily="34" charset="-120"/>
              </a:rPr>
              <a:t>NOTE</a:t>
            </a:r>
            <a:endParaRPr lang="en-US" sz="1800" dirty="0"/>
          </a:p>
        </p:txBody>
      </p:sp>
      <p:sp>
        <p:nvSpPr>
          <p:cNvPr id="29" name="Text 27"/>
          <p:cNvSpPr/>
          <p:nvPr/>
        </p:nvSpPr>
        <p:spPr>
          <a:xfrm>
            <a:off x="2583954" y="8727281"/>
            <a:ext cx="13458922" cy="381000"/>
          </a:xfrm>
          <a:prstGeom prst="rect">
            <a:avLst/>
          </a:prstGeom>
          <a:noFill/>
          <a:ln/>
        </p:spPr>
        <p:txBody>
          <a:bodyPr wrap="square" lIns="25400" tIns="25400" rIns="25400" bIns="25400" rtlCol="0" anchor="t">
            <a:normAutofit/>
          </a:bodyPr>
          <a:lstStyle/>
          <a:p>
            <a:pPr marL="0" indent="0" algn="l">
              <a:buNone/>
            </a:pPr>
            <a:r>
              <a:rPr lang="en-US" sz="2250" dirty="0">
                <a:solidFill>
                  <a:srgbClr val="FFFFFF"/>
                </a:solidFill>
                <a:latin typeface="Inter" pitchFamily="34" charset="0"/>
                <a:ea typeface="Inter" pitchFamily="34" charset="-122"/>
                <a:cs typeface="Inter" pitchFamily="34" charset="-120"/>
              </a:rPr>
              <a:t>We help on agreed pieces of work. We aren't additional delivery capacity for your backlog.</a:t>
            </a:r>
            <a:endParaRPr lang="en-US" sz="2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43000" y="952500"/>
            <a:ext cx="17602200" cy="390525"/>
          </a:xfrm>
          <a:prstGeom prst="rect">
            <a:avLst/>
          </a:prstGeom>
          <a:noFill/>
          <a:ln/>
        </p:spPr>
        <p:txBody>
          <a:bodyPr wrap="square" lIns="25400" tIns="25400" rIns="25400" bIns="25400" rtlCol="0" anchor="t">
            <a:normAutofit/>
          </a:bodyPr>
          <a:lstStyle/>
          <a:p>
            <a:pPr marL="0" indent="0" algn="l">
              <a:buNone/>
            </a:pPr>
            <a:r>
              <a:rPr lang="en-US" sz="2100" kern="0" spc="336" dirty="0">
                <a:solidFill>
                  <a:srgbClr val="006A4D"/>
                </a:solidFill>
                <a:latin typeface="JetBrains Mono" pitchFamily="34" charset="0"/>
                <a:ea typeface="JetBrains Mono" pitchFamily="34" charset="-122"/>
                <a:cs typeface="JetBrains Mono" pitchFamily="34" charset="-120"/>
              </a:rPr>
              <a:t>WORKING WITH US</a:t>
            </a:r>
            <a:endParaRPr lang="en-US" sz="2100" dirty="0"/>
          </a:p>
        </p:txBody>
      </p:sp>
      <p:sp>
        <p:nvSpPr>
          <p:cNvPr id="3" name="Shape 1"/>
          <p:cNvSpPr/>
          <p:nvPr/>
        </p:nvSpPr>
        <p:spPr>
          <a:xfrm>
            <a:off x="1143000" y="1533525"/>
            <a:ext cx="685800" cy="47625"/>
          </a:xfrm>
          <a:prstGeom prst="roundRect">
            <a:avLst>
              <a:gd name="adj" fmla="val 40000"/>
            </a:avLst>
          </a:prstGeom>
          <a:solidFill>
            <a:srgbClr val="006A4D"/>
          </a:solidFill>
          <a:ln/>
        </p:spPr>
        <p:txBody>
          <a:bodyPr/>
          <a:lstStyle/>
          <a:p>
            <a:endParaRPr lang="en-US"/>
          </a:p>
        </p:txBody>
      </p:sp>
      <p:sp>
        <p:nvSpPr>
          <p:cNvPr id="4" name="Text 2"/>
          <p:cNvSpPr/>
          <p:nvPr/>
        </p:nvSpPr>
        <p:spPr>
          <a:xfrm>
            <a:off x="1143000" y="2000250"/>
            <a:ext cx="17602200" cy="790947"/>
          </a:xfrm>
          <a:prstGeom prst="rect">
            <a:avLst/>
          </a:prstGeom>
          <a:noFill/>
          <a:ln/>
        </p:spPr>
        <p:txBody>
          <a:bodyPr wrap="square" lIns="25400" tIns="25400" rIns="25400" bIns="25400" rtlCol="0" anchor="t">
            <a:normAutofit/>
          </a:bodyPr>
          <a:lstStyle/>
          <a:p>
            <a:pPr marL="0" indent="0" algn="l">
              <a:lnSpc>
                <a:spcPct val="85913"/>
              </a:lnSpc>
              <a:buNone/>
            </a:pPr>
            <a:r>
              <a:rPr lang="en-US" sz="5700" b="1" kern="0" spc="-114" dirty="0">
                <a:solidFill>
                  <a:srgbClr val="003824"/>
                </a:solidFill>
                <a:latin typeface="Inter" pitchFamily="34" charset="0"/>
                <a:ea typeface="Inter" pitchFamily="34" charset="-122"/>
                <a:cs typeface="Inter" pitchFamily="34" charset="-120"/>
              </a:rPr>
              <a:t>Engaging us takes four steps.</a:t>
            </a:r>
            <a:endParaRPr lang="en-US" sz="5700" dirty="0"/>
          </a:p>
        </p:txBody>
      </p:sp>
      <p:sp>
        <p:nvSpPr>
          <p:cNvPr id="5" name="Shape 3"/>
          <p:cNvSpPr/>
          <p:nvPr/>
        </p:nvSpPr>
        <p:spPr>
          <a:xfrm>
            <a:off x="1143000" y="3484617"/>
            <a:ext cx="3829050" cy="3435548"/>
          </a:xfrm>
          <a:prstGeom prst="roundRect">
            <a:avLst>
              <a:gd name="adj" fmla="val 5545"/>
            </a:avLst>
          </a:prstGeom>
          <a:solidFill>
            <a:srgbClr val="F3F8F5"/>
          </a:solidFill>
          <a:ln w="9525">
            <a:solidFill>
              <a:srgbClr val="E6F1EC"/>
            </a:solidFill>
            <a:prstDash val="solid"/>
          </a:ln>
        </p:spPr>
        <p:txBody>
          <a:bodyPr/>
          <a:lstStyle/>
          <a:p>
            <a:endParaRPr lang="en-US"/>
          </a:p>
        </p:txBody>
      </p:sp>
      <p:sp>
        <p:nvSpPr>
          <p:cNvPr id="6" name="Text 4"/>
          <p:cNvSpPr/>
          <p:nvPr/>
        </p:nvSpPr>
        <p:spPr>
          <a:xfrm>
            <a:off x="1476375" y="3837042"/>
            <a:ext cx="3478530" cy="571500"/>
          </a:xfrm>
          <a:prstGeom prst="rect">
            <a:avLst/>
          </a:prstGeom>
          <a:noFill/>
          <a:ln/>
        </p:spPr>
        <p:txBody>
          <a:bodyPr wrap="square" lIns="25400" tIns="25400" rIns="25400" bIns="25400" rtlCol="0" anchor="t">
            <a:normAutofit/>
          </a:bodyPr>
          <a:lstStyle/>
          <a:p>
            <a:pPr marL="0" indent="0" algn="l">
              <a:lnSpc>
                <a:spcPct val="75676"/>
              </a:lnSpc>
              <a:buNone/>
            </a:pPr>
            <a:r>
              <a:rPr lang="en-US" sz="4200" b="1" dirty="0">
                <a:solidFill>
                  <a:srgbClr val="9EC5B3"/>
                </a:solidFill>
                <a:latin typeface="JetBrains Mono" pitchFamily="34" charset="0"/>
                <a:ea typeface="JetBrains Mono" pitchFamily="34" charset="-122"/>
                <a:cs typeface="JetBrains Mono" pitchFamily="34" charset="-120"/>
              </a:rPr>
              <a:t>01</a:t>
            </a:r>
            <a:endParaRPr lang="en-US" sz="4200" dirty="0"/>
          </a:p>
        </p:txBody>
      </p:sp>
      <p:sp>
        <p:nvSpPr>
          <p:cNvPr id="7" name="Text 5"/>
          <p:cNvSpPr/>
          <p:nvPr/>
        </p:nvSpPr>
        <p:spPr>
          <a:xfrm>
            <a:off x="1476375" y="4599042"/>
            <a:ext cx="3478530" cy="452438"/>
          </a:xfrm>
          <a:prstGeom prst="rect">
            <a:avLst/>
          </a:prstGeom>
          <a:noFill/>
          <a:ln/>
        </p:spPr>
        <p:txBody>
          <a:bodyPr wrap="square" lIns="25400" tIns="25400" rIns="25400" bIns="25400" rtlCol="0" anchor="t">
            <a:normAutofit lnSpcReduction="10000"/>
          </a:bodyPr>
          <a:lstStyle/>
          <a:p>
            <a:pPr marL="0" indent="0" algn="l">
              <a:buNone/>
            </a:pPr>
            <a:r>
              <a:rPr lang="en-US" sz="2700" b="1" dirty="0">
                <a:solidFill>
                  <a:srgbClr val="003824"/>
                </a:solidFill>
                <a:latin typeface="Inter" pitchFamily="34" charset="0"/>
                <a:ea typeface="Inter" pitchFamily="34" charset="-122"/>
                <a:cs typeface="Inter" pitchFamily="34" charset="-120"/>
              </a:rPr>
              <a:t>Briefing sessions</a:t>
            </a:r>
            <a:endParaRPr lang="en-US" sz="2700" dirty="0"/>
          </a:p>
        </p:txBody>
      </p:sp>
      <p:sp>
        <p:nvSpPr>
          <p:cNvPr id="8" name="Text 6"/>
          <p:cNvSpPr/>
          <p:nvPr/>
        </p:nvSpPr>
        <p:spPr>
          <a:xfrm>
            <a:off x="1476375" y="5127680"/>
            <a:ext cx="3257169" cy="1478161"/>
          </a:xfrm>
          <a:prstGeom prst="rect">
            <a:avLst/>
          </a:prstGeom>
          <a:noFill/>
          <a:ln/>
        </p:spPr>
        <p:txBody>
          <a:bodyPr wrap="square" lIns="25400" tIns="25400" rIns="25400" bIns="25400" rtlCol="0" anchor="t">
            <a:normAutofit/>
          </a:bodyPr>
          <a:lstStyle/>
          <a:p>
            <a:pPr marL="0" indent="0" algn="l">
              <a:lnSpc>
                <a:spcPct val="111176"/>
              </a:lnSpc>
              <a:buNone/>
            </a:pPr>
            <a:r>
              <a:rPr lang="en-US" sz="2100" dirty="0">
                <a:solidFill>
                  <a:srgbClr val="3B4A44"/>
                </a:solidFill>
                <a:latin typeface="Inter" pitchFamily="34" charset="0"/>
                <a:ea typeface="Inter" pitchFamily="34" charset="-122"/>
                <a:cs typeface="Inter" pitchFamily="34" charset="-120"/>
              </a:rPr>
              <a:t>One or more meetings to agree our contribution and understand the overall picture</a:t>
            </a:r>
            <a:endParaRPr lang="en-US" sz="2100" dirty="0"/>
          </a:p>
        </p:txBody>
      </p:sp>
      <p:sp>
        <p:nvSpPr>
          <p:cNvPr id="9" name="Shape 7"/>
          <p:cNvSpPr/>
          <p:nvPr/>
        </p:nvSpPr>
        <p:spPr>
          <a:xfrm>
            <a:off x="5200650" y="3484617"/>
            <a:ext cx="3829050" cy="3435548"/>
          </a:xfrm>
          <a:prstGeom prst="roundRect">
            <a:avLst>
              <a:gd name="adj" fmla="val 5545"/>
            </a:avLst>
          </a:prstGeom>
          <a:solidFill>
            <a:srgbClr val="F3F8F5"/>
          </a:solidFill>
          <a:ln w="9525">
            <a:solidFill>
              <a:srgbClr val="E6F1EC"/>
            </a:solidFill>
            <a:prstDash val="solid"/>
          </a:ln>
        </p:spPr>
        <p:txBody>
          <a:bodyPr/>
          <a:lstStyle/>
          <a:p>
            <a:endParaRPr lang="en-US"/>
          </a:p>
        </p:txBody>
      </p:sp>
      <p:sp>
        <p:nvSpPr>
          <p:cNvPr id="10" name="Text 8"/>
          <p:cNvSpPr/>
          <p:nvPr/>
        </p:nvSpPr>
        <p:spPr>
          <a:xfrm>
            <a:off x="5534025" y="3837042"/>
            <a:ext cx="3478530" cy="571500"/>
          </a:xfrm>
          <a:prstGeom prst="rect">
            <a:avLst/>
          </a:prstGeom>
          <a:noFill/>
          <a:ln/>
        </p:spPr>
        <p:txBody>
          <a:bodyPr wrap="square" lIns="25400" tIns="25400" rIns="25400" bIns="25400" rtlCol="0" anchor="t">
            <a:normAutofit/>
          </a:bodyPr>
          <a:lstStyle/>
          <a:p>
            <a:pPr marL="0" indent="0" algn="l">
              <a:lnSpc>
                <a:spcPct val="75676"/>
              </a:lnSpc>
              <a:buNone/>
            </a:pPr>
            <a:r>
              <a:rPr lang="en-US" sz="4200" b="1" dirty="0">
                <a:solidFill>
                  <a:srgbClr val="9EC5B3"/>
                </a:solidFill>
                <a:latin typeface="JetBrains Mono" pitchFamily="34" charset="0"/>
                <a:ea typeface="JetBrains Mono" pitchFamily="34" charset="-122"/>
                <a:cs typeface="JetBrains Mono" pitchFamily="34" charset="-120"/>
              </a:rPr>
              <a:t>02</a:t>
            </a:r>
            <a:endParaRPr lang="en-US" sz="4200" dirty="0"/>
          </a:p>
        </p:txBody>
      </p:sp>
      <p:sp>
        <p:nvSpPr>
          <p:cNvPr id="11" name="Text 9"/>
          <p:cNvSpPr/>
          <p:nvPr/>
        </p:nvSpPr>
        <p:spPr>
          <a:xfrm>
            <a:off x="5534025" y="4599042"/>
            <a:ext cx="3478530" cy="452438"/>
          </a:xfrm>
          <a:prstGeom prst="rect">
            <a:avLst/>
          </a:prstGeom>
          <a:noFill/>
          <a:ln/>
        </p:spPr>
        <p:txBody>
          <a:bodyPr wrap="square" lIns="25400" tIns="25400" rIns="25400" bIns="25400" rtlCol="0" anchor="t">
            <a:normAutofit lnSpcReduction="10000"/>
          </a:bodyPr>
          <a:lstStyle/>
          <a:p>
            <a:pPr marL="0" indent="0" algn="l">
              <a:buNone/>
            </a:pPr>
            <a:r>
              <a:rPr lang="en-US" sz="2700" b="1" dirty="0">
                <a:solidFill>
                  <a:srgbClr val="003824"/>
                </a:solidFill>
                <a:latin typeface="Inter" pitchFamily="34" charset="0"/>
                <a:ea typeface="Inter" pitchFamily="34" charset="-122"/>
                <a:cs typeface="Inter" pitchFamily="34" charset="-120"/>
              </a:rPr>
              <a:t>Jira stories</a:t>
            </a:r>
            <a:endParaRPr lang="en-US" sz="2700" dirty="0"/>
          </a:p>
        </p:txBody>
      </p:sp>
      <p:sp>
        <p:nvSpPr>
          <p:cNvPr id="12" name="Text 10"/>
          <p:cNvSpPr/>
          <p:nvPr/>
        </p:nvSpPr>
        <p:spPr>
          <a:xfrm>
            <a:off x="5534025" y="5127680"/>
            <a:ext cx="3257169" cy="1118146"/>
          </a:xfrm>
          <a:prstGeom prst="rect">
            <a:avLst/>
          </a:prstGeom>
          <a:noFill/>
          <a:ln/>
        </p:spPr>
        <p:txBody>
          <a:bodyPr wrap="square" lIns="25400" tIns="25400" rIns="25400" bIns="25400" rtlCol="0" anchor="t">
            <a:normAutofit/>
          </a:bodyPr>
          <a:lstStyle/>
          <a:p>
            <a:pPr marL="0" indent="0" algn="l">
              <a:lnSpc>
                <a:spcPct val="111176"/>
              </a:lnSpc>
              <a:buNone/>
            </a:pPr>
            <a:r>
              <a:rPr lang="en-US" sz="2100" dirty="0">
                <a:solidFill>
                  <a:srgbClr val="3B4A44"/>
                </a:solidFill>
                <a:latin typeface="Inter" pitchFamily="34" charset="0"/>
                <a:ea typeface="Inter" pitchFamily="34" charset="-122"/>
                <a:cs typeface="Inter" pitchFamily="34" charset="-120"/>
              </a:rPr>
              <a:t>Raised to reflect the agreed scope and timelines</a:t>
            </a:r>
            <a:endParaRPr lang="en-US" sz="2100" dirty="0"/>
          </a:p>
        </p:txBody>
      </p:sp>
      <p:sp>
        <p:nvSpPr>
          <p:cNvPr id="13" name="Shape 11"/>
          <p:cNvSpPr/>
          <p:nvPr/>
        </p:nvSpPr>
        <p:spPr>
          <a:xfrm>
            <a:off x="9258300" y="3484617"/>
            <a:ext cx="3829050" cy="3435548"/>
          </a:xfrm>
          <a:prstGeom prst="roundRect">
            <a:avLst>
              <a:gd name="adj" fmla="val 5545"/>
            </a:avLst>
          </a:prstGeom>
          <a:solidFill>
            <a:srgbClr val="F3F8F5"/>
          </a:solidFill>
          <a:ln w="9525">
            <a:solidFill>
              <a:srgbClr val="E6F1EC"/>
            </a:solidFill>
            <a:prstDash val="solid"/>
          </a:ln>
        </p:spPr>
        <p:txBody>
          <a:bodyPr/>
          <a:lstStyle/>
          <a:p>
            <a:endParaRPr lang="en-US"/>
          </a:p>
        </p:txBody>
      </p:sp>
      <p:sp>
        <p:nvSpPr>
          <p:cNvPr id="14" name="Text 12"/>
          <p:cNvSpPr/>
          <p:nvPr/>
        </p:nvSpPr>
        <p:spPr>
          <a:xfrm>
            <a:off x="9591675" y="3837042"/>
            <a:ext cx="3478530" cy="571500"/>
          </a:xfrm>
          <a:prstGeom prst="rect">
            <a:avLst/>
          </a:prstGeom>
          <a:noFill/>
          <a:ln/>
        </p:spPr>
        <p:txBody>
          <a:bodyPr wrap="square" lIns="25400" tIns="25400" rIns="25400" bIns="25400" rtlCol="0" anchor="t">
            <a:normAutofit/>
          </a:bodyPr>
          <a:lstStyle/>
          <a:p>
            <a:pPr marL="0" indent="0" algn="l">
              <a:lnSpc>
                <a:spcPct val="75676"/>
              </a:lnSpc>
              <a:buNone/>
            </a:pPr>
            <a:r>
              <a:rPr lang="en-US" sz="4200" b="1" dirty="0">
                <a:solidFill>
                  <a:srgbClr val="9EC5B3"/>
                </a:solidFill>
                <a:latin typeface="JetBrains Mono" pitchFamily="34" charset="0"/>
                <a:ea typeface="JetBrains Mono" pitchFamily="34" charset="-122"/>
                <a:cs typeface="JetBrains Mono" pitchFamily="34" charset="-120"/>
              </a:rPr>
              <a:t>03</a:t>
            </a:r>
            <a:endParaRPr lang="en-US" sz="4200" dirty="0"/>
          </a:p>
        </p:txBody>
      </p:sp>
      <p:sp>
        <p:nvSpPr>
          <p:cNvPr id="15" name="Text 13"/>
          <p:cNvSpPr/>
          <p:nvPr/>
        </p:nvSpPr>
        <p:spPr>
          <a:xfrm>
            <a:off x="9591675" y="4599042"/>
            <a:ext cx="3478530" cy="452438"/>
          </a:xfrm>
          <a:prstGeom prst="rect">
            <a:avLst/>
          </a:prstGeom>
          <a:noFill/>
          <a:ln/>
        </p:spPr>
        <p:txBody>
          <a:bodyPr wrap="square" lIns="25400" tIns="25400" rIns="25400" bIns="25400" rtlCol="0" anchor="t">
            <a:normAutofit lnSpcReduction="10000"/>
          </a:bodyPr>
          <a:lstStyle/>
          <a:p>
            <a:pPr marL="0" indent="0" algn="l">
              <a:buNone/>
            </a:pPr>
            <a:r>
              <a:rPr lang="en-US" sz="2700" b="1" dirty="0">
                <a:solidFill>
                  <a:srgbClr val="003824"/>
                </a:solidFill>
                <a:latin typeface="Inter" pitchFamily="34" charset="0"/>
                <a:ea typeface="Inter" pitchFamily="34" charset="-122"/>
                <a:cs typeface="Inter" pitchFamily="34" charset="-120"/>
              </a:rPr>
              <a:t>Delivery</a:t>
            </a:r>
            <a:endParaRPr lang="en-US" sz="2700" dirty="0"/>
          </a:p>
        </p:txBody>
      </p:sp>
      <p:sp>
        <p:nvSpPr>
          <p:cNvPr id="16" name="Text 14"/>
          <p:cNvSpPr/>
          <p:nvPr/>
        </p:nvSpPr>
        <p:spPr>
          <a:xfrm>
            <a:off x="9591675" y="5127680"/>
            <a:ext cx="3257169" cy="758130"/>
          </a:xfrm>
          <a:prstGeom prst="rect">
            <a:avLst/>
          </a:prstGeom>
          <a:noFill/>
          <a:ln/>
        </p:spPr>
        <p:txBody>
          <a:bodyPr wrap="square" lIns="25400" tIns="25400" rIns="25400" bIns="25400" rtlCol="0" anchor="t">
            <a:normAutofit/>
          </a:bodyPr>
          <a:lstStyle/>
          <a:p>
            <a:pPr marL="0" indent="0" algn="l">
              <a:lnSpc>
                <a:spcPct val="111176"/>
              </a:lnSpc>
              <a:buNone/>
            </a:pPr>
            <a:r>
              <a:rPr lang="en-US" sz="2100" dirty="0">
                <a:solidFill>
                  <a:srgbClr val="3B4A44"/>
                </a:solidFill>
                <a:latin typeface="Inter" pitchFamily="34" charset="0"/>
                <a:ea typeface="Inter" pitchFamily="34" charset="-122"/>
                <a:cs typeface="Inter" pitchFamily="34" charset="-120"/>
              </a:rPr>
              <a:t>We complete the stories as agreed</a:t>
            </a:r>
            <a:endParaRPr lang="en-US" sz="2100" dirty="0"/>
          </a:p>
        </p:txBody>
      </p:sp>
      <p:sp>
        <p:nvSpPr>
          <p:cNvPr id="17" name="Shape 15"/>
          <p:cNvSpPr/>
          <p:nvPr/>
        </p:nvSpPr>
        <p:spPr>
          <a:xfrm>
            <a:off x="13315950" y="3484617"/>
            <a:ext cx="3829050" cy="3435548"/>
          </a:xfrm>
          <a:prstGeom prst="roundRect">
            <a:avLst>
              <a:gd name="adj" fmla="val 5545"/>
            </a:avLst>
          </a:prstGeom>
          <a:solidFill>
            <a:srgbClr val="003824"/>
          </a:solidFill>
          <a:ln/>
        </p:spPr>
        <p:txBody>
          <a:bodyPr/>
          <a:lstStyle/>
          <a:p>
            <a:endParaRPr lang="en-US"/>
          </a:p>
        </p:txBody>
      </p:sp>
      <p:sp>
        <p:nvSpPr>
          <p:cNvPr id="18" name="Text 16"/>
          <p:cNvSpPr/>
          <p:nvPr/>
        </p:nvSpPr>
        <p:spPr>
          <a:xfrm>
            <a:off x="13639800" y="3827517"/>
            <a:ext cx="3499485" cy="571500"/>
          </a:xfrm>
          <a:prstGeom prst="rect">
            <a:avLst/>
          </a:prstGeom>
          <a:noFill/>
          <a:ln/>
        </p:spPr>
        <p:txBody>
          <a:bodyPr wrap="square" lIns="25400" tIns="25400" rIns="25400" bIns="25400" rtlCol="0" anchor="t">
            <a:normAutofit/>
          </a:bodyPr>
          <a:lstStyle/>
          <a:p>
            <a:pPr marL="0" indent="0" algn="l">
              <a:lnSpc>
                <a:spcPct val="75676"/>
              </a:lnSpc>
              <a:buNone/>
            </a:pPr>
            <a:r>
              <a:rPr lang="en-US" sz="4200" b="1" dirty="0">
                <a:solidFill>
                  <a:srgbClr val="9EC5B3"/>
                </a:solidFill>
                <a:latin typeface="JetBrains Mono" pitchFamily="34" charset="0"/>
                <a:ea typeface="JetBrains Mono" pitchFamily="34" charset="-122"/>
                <a:cs typeface="JetBrains Mono" pitchFamily="34" charset="-120"/>
              </a:rPr>
              <a:t>04</a:t>
            </a:r>
            <a:endParaRPr lang="en-US" sz="4200" dirty="0"/>
          </a:p>
        </p:txBody>
      </p:sp>
      <p:sp>
        <p:nvSpPr>
          <p:cNvPr id="19" name="Text 17"/>
          <p:cNvSpPr/>
          <p:nvPr/>
        </p:nvSpPr>
        <p:spPr>
          <a:xfrm>
            <a:off x="13639800" y="4589517"/>
            <a:ext cx="3499485" cy="452438"/>
          </a:xfrm>
          <a:prstGeom prst="rect">
            <a:avLst/>
          </a:prstGeom>
          <a:noFill/>
          <a:ln/>
        </p:spPr>
        <p:txBody>
          <a:bodyPr wrap="square" lIns="25400" tIns="25400" rIns="25400" bIns="25400" rtlCol="0" anchor="t">
            <a:normAutofit lnSpcReduction="10000"/>
          </a:bodyPr>
          <a:lstStyle/>
          <a:p>
            <a:pPr marL="0" indent="0" algn="l">
              <a:buNone/>
            </a:pPr>
            <a:r>
              <a:rPr lang="en-US" sz="2700" b="1" dirty="0">
                <a:solidFill>
                  <a:srgbClr val="FFFFFF"/>
                </a:solidFill>
                <a:latin typeface="Inter" pitchFamily="34" charset="0"/>
                <a:ea typeface="Inter" pitchFamily="34" charset="-122"/>
                <a:cs typeface="Inter" pitchFamily="34" charset="-120"/>
              </a:rPr>
              <a:t>Handover</a:t>
            </a:r>
            <a:endParaRPr lang="en-US" sz="2700" dirty="0"/>
          </a:p>
        </p:txBody>
      </p:sp>
      <p:sp>
        <p:nvSpPr>
          <p:cNvPr id="20" name="Text 18"/>
          <p:cNvSpPr/>
          <p:nvPr/>
        </p:nvSpPr>
        <p:spPr>
          <a:xfrm>
            <a:off x="13639800" y="5118155"/>
            <a:ext cx="3276791" cy="758130"/>
          </a:xfrm>
          <a:prstGeom prst="rect">
            <a:avLst/>
          </a:prstGeom>
          <a:noFill/>
          <a:ln/>
        </p:spPr>
        <p:txBody>
          <a:bodyPr wrap="square" lIns="25400" tIns="25400" rIns="25400" bIns="25400" rtlCol="0" anchor="t">
            <a:normAutofit/>
          </a:bodyPr>
          <a:lstStyle/>
          <a:p>
            <a:pPr marL="0" indent="0" algn="l">
              <a:lnSpc>
                <a:spcPct val="111176"/>
              </a:lnSpc>
              <a:buNone/>
            </a:pPr>
            <a:r>
              <a:rPr lang="en-US" sz="2100" dirty="0">
                <a:solidFill>
                  <a:srgbClr val="CFE2D8"/>
                </a:solidFill>
                <a:latin typeface="Inter" pitchFamily="34" charset="0"/>
                <a:ea typeface="Inter" pitchFamily="34" charset="-122"/>
                <a:cs typeface="Inter" pitchFamily="34" charset="-120"/>
              </a:rPr>
              <a:t>Including any supporting materials</a:t>
            </a:r>
            <a:endParaRPr lang="en-US" sz="2100" dirty="0"/>
          </a:p>
        </p:txBody>
      </p:sp>
      <p:sp>
        <p:nvSpPr>
          <p:cNvPr id="21" name="Shape 19"/>
          <p:cNvSpPr/>
          <p:nvPr/>
        </p:nvSpPr>
        <p:spPr>
          <a:xfrm>
            <a:off x="1143000" y="8002206"/>
            <a:ext cx="16002000" cy="852488"/>
          </a:xfrm>
          <a:prstGeom prst="roundRect">
            <a:avLst>
              <a:gd name="adj" fmla="val 17877"/>
            </a:avLst>
          </a:prstGeom>
          <a:solidFill>
            <a:srgbClr val="FBF3EA"/>
          </a:solidFill>
          <a:ln w="9525">
            <a:solidFill>
              <a:srgbClr val="EFDCC6"/>
            </a:solidFill>
            <a:prstDash val="solid"/>
          </a:ln>
        </p:spPr>
        <p:txBody>
          <a:bodyPr/>
          <a:lstStyle/>
          <a:p>
            <a:endParaRPr lang="en-US"/>
          </a:p>
        </p:txBody>
      </p:sp>
      <p:sp>
        <p:nvSpPr>
          <p:cNvPr id="22" name="Shape 20"/>
          <p:cNvSpPr/>
          <p:nvPr/>
        </p:nvSpPr>
        <p:spPr>
          <a:xfrm>
            <a:off x="1495425" y="8202231"/>
            <a:ext cx="1859310" cy="452438"/>
          </a:xfrm>
          <a:prstGeom prst="roundRect">
            <a:avLst>
              <a:gd name="adj" fmla="val 50000"/>
            </a:avLst>
          </a:prstGeom>
          <a:solidFill>
            <a:srgbClr val="F4E2CF"/>
          </a:solidFill>
          <a:ln/>
        </p:spPr>
        <p:txBody>
          <a:bodyPr/>
          <a:lstStyle/>
          <a:p>
            <a:endParaRPr lang="en-US"/>
          </a:p>
        </p:txBody>
      </p:sp>
      <p:sp>
        <p:nvSpPr>
          <p:cNvPr id="23" name="Text 21"/>
          <p:cNvSpPr/>
          <p:nvPr/>
        </p:nvSpPr>
        <p:spPr>
          <a:xfrm>
            <a:off x="1647825" y="8278431"/>
            <a:ext cx="1630710" cy="338138"/>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B5651D"/>
                </a:solidFill>
                <a:latin typeface="JetBrains Mono" pitchFamily="34" charset="0"/>
                <a:ea typeface="JetBrains Mono" pitchFamily="34" charset="-122"/>
                <a:cs typeface="JetBrains Mono" pitchFamily="34" charset="-120"/>
              </a:rPr>
              <a:t>WHAT HELPS</a:t>
            </a:r>
            <a:endParaRPr lang="en-US" sz="1800" dirty="0"/>
          </a:p>
        </p:txBody>
      </p:sp>
      <p:sp>
        <p:nvSpPr>
          <p:cNvPr id="24" name="Text 22"/>
          <p:cNvSpPr/>
          <p:nvPr/>
        </p:nvSpPr>
        <p:spPr>
          <a:xfrm>
            <a:off x="3564285" y="8245093"/>
            <a:ext cx="11189806" cy="404813"/>
          </a:xfrm>
          <a:prstGeom prst="rect">
            <a:avLst/>
          </a:prstGeom>
          <a:noFill/>
          <a:ln/>
        </p:spPr>
        <p:txBody>
          <a:bodyPr wrap="square" lIns="25400" tIns="25400" rIns="25400" bIns="25400" rtlCol="0" anchor="t">
            <a:normAutofit lnSpcReduction="10000"/>
          </a:bodyPr>
          <a:lstStyle/>
          <a:p>
            <a:pPr marL="0" indent="0" algn="l">
              <a:buNone/>
            </a:pPr>
            <a:r>
              <a:rPr lang="en-US" sz="2400" dirty="0">
                <a:solidFill>
                  <a:srgbClr val="14201B"/>
                </a:solidFill>
                <a:latin typeface="Inter" pitchFamily="34" charset="0"/>
                <a:ea typeface="Inter" pitchFamily="34" charset="-122"/>
                <a:cs typeface="Inter" pitchFamily="34" charset="-120"/>
              </a:rPr>
              <a:t>A clear outcome, a named owner on your side, and access to the repo.</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43000" y="952500"/>
            <a:ext cx="17602200" cy="390525"/>
          </a:xfrm>
          <a:prstGeom prst="rect">
            <a:avLst/>
          </a:prstGeom>
          <a:noFill/>
          <a:ln/>
        </p:spPr>
        <p:txBody>
          <a:bodyPr wrap="square" lIns="25400" tIns="25400" rIns="25400" bIns="25400" rtlCol="0" anchor="t">
            <a:normAutofit/>
          </a:bodyPr>
          <a:lstStyle/>
          <a:p>
            <a:pPr marL="0" indent="0" algn="l">
              <a:buNone/>
            </a:pPr>
            <a:r>
              <a:rPr lang="en-US" sz="2100" kern="0" spc="336" dirty="0">
                <a:solidFill>
                  <a:srgbClr val="006A4D"/>
                </a:solidFill>
                <a:latin typeface="JetBrains Mono" pitchFamily="34" charset="0"/>
                <a:ea typeface="JetBrains Mono" pitchFamily="34" charset="-122"/>
                <a:cs typeface="JetBrains Mono" pitchFamily="34" charset="-120"/>
              </a:rPr>
              <a:t>WORKING WITH US</a:t>
            </a:r>
            <a:endParaRPr lang="en-US" sz="2100" dirty="0"/>
          </a:p>
        </p:txBody>
      </p:sp>
      <p:sp>
        <p:nvSpPr>
          <p:cNvPr id="3" name="Shape 1"/>
          <p:cNvSpPr/>
          <p:nvPr/>
        </p:nvSpPr>
        <p:spPr>
          <a:xfrm>
            <a:off x="1143000" y="1533525"/>
            <a:ext cx="685800" cy="47625"/>
          </a:xfrm>
          <a:prstGeom prst="roundRect">
            <a:avLst>
              <a:gd name="adj" fmla="val 40000"/>
            </a:avLst>
          </a:prstGeom>
          <a:solidFill>
            <a:srgbClr val="006A4D"/>
          </a:solidFill>
          <a:ln/>
        </p:spPr>
        <p:txBody>
          <a:bodyPr/>
          <a:lstStyle/>
          <a:p>
            <a:endParaRPr lang="en-US"/>
          </a:p>
        </p:txBody>
      </p:sp>
      <p:sp>
        <p:nvSpPr>
          <p:cNvPr id="4" name="Text 2"/>
          <p:cNvSpPr/>
          <p:nvPr/>
        </p:nvSpPr>
        <p:spPr>
          <a:xfrm>
            <a:off x="1143000" y="2000250"/>
            <a:ext cx="17602200" cy="790947"/>
          </a:xfrm>
          <a:prstGeom prst="rect">
            <a:avLst/>
          </a:prstGeom>
          <a:noFill/>
          <a:ln/>
        </p:spPr>
        <p:txBody>
          <a:bodyPr wrap="square" lIns="25400" tIns="25400" rIns="25400" bIns="25400" rtlCol="0" anchor="t">
            <a:normAutofit/>
          </a:bodyPr>
          <a:lstStyle/>
          <a:p>
            <a:pPr marL="0" indent="0" algn="l">
              <a:lnSpc>
                <a:spcPct val="85913"/>
              </a:lnSpc>
              <a:buNone/>
            </a:pPr>
            <a:r>
              <a:rPr lang="en-US" sz="5700" b="1" kern="0" spc="-114" dirty="0">
                <a:solidFill>
                  <a:srgbClr val="003824"/>
                </a:solidFill>
                <a:latin typeface="Inter" pitchFamily="34" charset="0"/>
                <a:ea typeface="Inter" pitchFamily="34" charset="-122"/>
                <a:cs typeface="Inter" pitchFamily="34" charset="-120"/>
              </a:rPr>
              <a:t>These are our current priorities.</a:t>
            </a:r>
            <a:endParaRPr lang="en-US" sz="5700" dirty="0"/>
          </a:p>
        </p:txBody>
      </p:sp>
      <p:sp>
        <p:nvSpPr>
          <p:cNvPr id="5" name="Shape 3"/>
          <p:cNvSpPr/>
          <p:nvPr/>
        </p:nvSpPr>
        <p:spPr>
          <a:xfrm>
            <a:off x="1143000" y="3248397"/>
            <a:ext cx="9069660" cy="5214938"/>
          </a:xfrm>
          <a:prstGeom prst="roundRect">
            <a:avLst>
              <a:gd name="adj" fmla="val 4018"/>
            </a:avLst>
          </a:prstGeom>
          <a:solidFill>
            <a:srgbClr val="003824"/>
          </a:solidFill>
          <a:ln/>
        </p:spPr>
        <p:txBody>
          <a:bodyPr/>
          <a:lstStyle/>
          <a:p>
            <a:endParaRPr lang="en-US"/>
          </a:p>
        </p:txBody>
      </p:sp>
      <p:sp>
        <p:nvSpPr>
          <p:cNvPr id="6" name="Text 4"/>
          <p:cNvSpPr/>
          <p:nvPr/>
        </p:nvSpPr>
        <p:spPr>
          <a:xfrm>
            <a:off x="1562100" y="3629397"/>
            <a:ext cx="9054606" cy="338138"/>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9EC5B3"/>
                </a:solidFill>
                <a:latin typeface="JetBrains Mono" pitchFamily="34" charset="0"/>
                <a:ea typeface="JetBrains Mono" pitchFamily="34" charset="-122"/>
                <a:cs typeface="JetBrains Mono" pitchFamily="34" charset="-120"/>
              </a:rPr>
              <a:t>PLATFORM BUILD</a:t>
            </a:r>
            <a:endParaRPr lang="en-US" sz="1800" dirty="0"/>
          </a:p>
        </p:txBody>
      </p:sp>
      <p:sp>
        <p:nvSpPr>
          <p:cNvPr id="7" name="Text 5"/>
          <p:cNvSpPr/>
          <p:nvPr/>
        </p:nvSpPr>
        <p:spPr>
          <a:xfrm>
            <a:off x="1562100" y="4158035"/>
            <a:ext cx="9054606" cy="590550"/>
          </a:xfrm>
          <a:prstGeom prst="rect">
            <a:avLst/>
          </a:prstGeom>
          <a:noFill/>
          <a:ln/>
        </p:spPr>
        <p:txBody>
          <a:bodyPr wrap="square" lIns="25400" tIns="25400" rIns="25400" bIns="25400" rtlCol="0" anchor="t">
            <a:normAutofit/>
          </a:bodyPr>
          <a:lstStyle/>
          <a:p>
            <a:pPr marL="0" indent="0" algn="l">
              <a:buNone/>
            </a:pPr>
            <a:r>
              <a:rPr lang="en-US" sz="3600" b="1" dirty="0">
                <a:solidFill>
                  <a:srgbClr val="FFFFFF"/>
                </a:solidFill>
                <a:latin typeface="Inter" pitchFamily="34" charset="0"/>
                <a:ea typeface="Inter" pitchFamily="34" charset="-122"/>
                <a:cs typeface="Inter" pitchFamily="34" charset="-120"/>
              </a:rPr>
              <a:t>Bento on GCP</a:t>
            </a:r>
            <a:endParaRPr lang="en-US" sz="3600" dirty="0"/>
          </a:p>
        </p:txBody>
      </p:sp>
      <p:sp>
        <p:nvSpPr>
          <p:cNvPr id="8" name="Text 6"/>
          <p:cNvSpPr/>
          <p:nvPr/>
        </p:nvSpPr>
        <p:spPr>
          <a:xfrm>
            <a:off x="1562100" y="4939085"/>
            <a:ext cx="8478404" cy="809625"/>
          </a:xfrm>
          <a:prstGeom prst="rect">
            <a:avLst/>
          </a:prstGeom>
          <a:noFill/>
          <a:ln/>
        </p:spPr>
        <p:txBody>
          <a:bodyPr wrap="square" lIns="25400" tIns="25400" rIns="25400" bIns="25400" rtlCol="0" anchor="t">
            <a:normAutofit/>
          </a:bodyPr>
          <a:lstStyle/>
          <a:p>
            <a:pPr marL="0" indent="0" algn="l">
              <a:lnSpc>
                <a:spcPct val="112500"/>
              </a:lnSpc>
              <a:buNone/>
            </a:pPr>
            <a:r>
              <a:rPr lang="en-US" sz="2250" dirty="0">
                <a:solidFill>
                  <a:srgbClr val="CFE2D8"/>
                </a:solidFill>
                <a:latin typeface="Inter" pitchFamily="34" charset="0"/>
                <a:ea typeface="Inter" pitchFamily="34" charset="-122"/>
                <a:cs typeface="Inter" pitchFamily="34" charset="-120"/>
              </a:rPr>
              <a:t>A microservices platform: a collection of loosely related small services.</a:t>
            </a:r>
            <a:endParaRPr lang="en-US" sz="2250" dirty="0"/>
          </a:p>
        </p:txBody>
      </p:sp>
      <p:sp>
        <p:nvSpPr>
          <p:cNvPr id="9" name="Shape 7"/>
          <p:cNvSpPr/>
          <p:nvPr/>
        </p:nvSpPr>
        <p:spPr>
          <a:xfrm>
            <a:off x="1562100" y="5939210"/>
            <a:ext cx="8231460" cy="2143125"/>
          </a:xfrm>
          <a:prstGeom prst="roundRect">
            <a:avLst>
              <a:gd name="adj" fmla="val 7111"/>
            </a:avLst>
          </a:prstGeom>
          <a:solidFill>
            <a:srgbClr val="0A4A31"/>
          </a:solidFill>
          <a:ln/>
        </p:spPr>
        <p:txBody>
          <a:bodyPr/>
          <a:lstStyle/>
          <a:p>
            <a:endParaRPr lang="en-US"/>
          </a:p>
        </p:txBody>
      </p:sp>
      <p:sp>
        <p:nvSpPr>
          <p:cNvPr id="10" name="Text 8"/>
          <p:cNvSpPr/>
          <p:nvPr/>
        </p:nvSpPr>
        <p:spPr>
          <a:xfrm>
            <a:off x="1885950" y="6224960"/>
            <a:ext cx="8342136" cy="452438"/>
          </a:xfrm>
          <a:prstGeom prst="rect">
            <a:avLst/>
          </a:prstGeom>
          <a:noFill/>
          <a:ln/>
        </p:spPr>
        <p:txBody>
          <a:bodyPr wrap="square" lIns="25400" tIns="25400" rIns="25400" bIns="25400" rtlCol="0" anchor="t">
            <a:normAutofit/>
          </a:bodyPr>
          <a:lstStyle/>
          <a:p>
            <a:pPr marL="0" indent="0" algn="l">
              <a:buNone/>
            </a:pPr>
            <a:r>
              <a:rPr lang="en-US" sz="2700" b="1" dirty="0">
                <a:solidFill>
                  <a:srgbClr val="FFFFFF"/>
                </a:solidFill>
                <a:latin typeface="Inter" pitchFamily="34" charset="0"/>
                <a:ea typeface="Inter" pitchFamily="34" charset="-122"/>
                <a:cs typeface="Inter" pitchFamily="34" charset="-120"/>
              </a:rPr>
              <a:t>SSI automation app</a:t>
            </a:r>
            <a:endParaRPr lang="en-US" sz="2700" dirty="0"/>
          </a:p>
        </p:txBody>
      </p:sp>
      <p:sp>
        <p:nvSpPr>
          <p:cNvPr id="11" name="Text 9"/>
          <p:cNvSpPr/>
          <p:nvPr/>
        </p:nvSpPr>
        <p:spPr>
          <a:xfrm>
            <a:off x="1885950" y="6810747"/>
            <a:ext cx="8342136" cy="361950"/>
          </a:xfrm>
          <a:prstGeom prst="rect">
            <a:avLst/>
          </a:prstGeom>
          <a:noFill/>
          <a:ln/>
        </p:spPr>
        <p:txBody>
          <a:bodyPr wrap="square" lIns="25400" tIns="25400" rIns="25400" bIns="25400" rtlCol="0" anchor="t">
            <a:normAutofit/>
          </a:bodyPr>
          <a:lstStyle/>
          <a:p>
            <a:pPr marL="0" indent="0" algn="l">
              <a:buNone/>
            </a:pPr>
            <a:r>
              <a:rPr lang="en-US" sz="2100" dirty="0">
                <a:solidFill>
                  <a:srgbClr val="CFE2D8"/>
                </a:solidFill>
                <a:latin typeface="Inter" pitchFamily="34" charset="0"/>
                <a:ea typeface="Inter" pitchFamily="34" charset="-122"/>
                <a:cs typeface="Inter" pitchFamily="34" charset="-120"/>
              </a:rPr>
              <a:t>Part of Bento, built with</a:t>
            </a:r>
            <a:endParaRPr lang="en-US" sz="2100" dirty="0"/>
          </a:p>
        </p:txBody>
      </p:sp>
      <p:sp>
        <p:nvSpPr>
          <p:cNvPr id="12" name="Shape 10"/>
          <p:cNvSpPr/>
          <p:nvPr/>
        </p:nvSpPr>
        <p:spPr>
          <a:xfrm>
            <a:off x="1885950" y="7306047"/>
            <a:ext cx="830610" cy="490538"/>
          </a:xfrm>
          <a:prstGeom prst="roundRect">
            <a:avLst>
              <a:gd name="adj" fmla="val 50000"/>
            </a:avLst>
          </a:prstGeom>
          <a:ln w="19050">
            <a:solidFill>
              <a:srgbClr val="9EC5B3"/>
            </a:solidFill>
            <a:prstDash val="solid"/>
          </a:ln>
        </p:spPr>
        <p:txBody>
          <a:bodyPr/>
          <a:lstStyle/>
          <a:p>
            <a:endParaRPr lang="en-US"/>
          </a:p>
        </p:txBody>
      </p:sp>
      <p:sp>
        <p:nvSpPr>
          <p:cNvPr id="13" name="Text 11"/>
          <p:cNvSpPr/>
          <p:nvPr/>
        </p:nvSpPr>
        <p:spPr>
          <a:xfrm>
            <a:off x="2095500" y="7401297"/>
            <a:ext cx="487710" cy="338138"/>
          </a:xfrm>
          <a:prstGeom prst="rect">
            <a:avLst/>
          </a:prstGeom>
          <a:noFill/>
          <a:ln/>
        </p:spPr>
        <p:txBody>
          <a:bodyPr wrap="square" lIns="25400" tIns="25400" rIns="25400" bIns="25400" rtlCol="0" anchor="t">
            <a:normAutofit/>
          </a:bodyPr>
          <a:lstStyle/>
          <a:p>
            <a:pPr marL="0" indent="0" algn="l">
              <a:buNone/>
            </a:pPr>
            <a:r>
              <a:rPr lang="en-US" sz="1800" dirty="0">
                <a:solidFill>
                  <a:srgbClr val="FFFFFF"/>
                </a:solidFill>
                <a:latin typeface="JetBrains Mono" pitchFamily="34" charset="0"/>
                <a:ea typeface="JetBrains Mono" pitchFamily="34" charset="-122"/>
                <a:cs typeface="JetBrains Mono" pitchFamily="34" charset="-120"/>
              </a:rPr>
              <a:t>IDP</a:t>
            </a:r>
            <a:endParaRPr lang="en-US" sz="1800" dirty="0"/>
          </a:p>
        </p:txBody>
      </p:sp>
      <p:sp>
        <p:nvSpPr>
          <p:cNvPr id="14" name="Shape 12"/>
          <p:cNvSpPr/>
          <p:nvPr/>
        </p:nvSpPr>
        <p:spPr>
          <a:xfrm>
            <a:off x="2830860" y="7306047"/>
            <a:ext cx="2065065" cy="490538"/>
          </a:xfrm>
          <a:prstGeom prst="roundRect">
            <a:avLst>
              <a:gd name="adj" fmla="val 50000"/>
            </a:avLst>
          </a:prstGeom>
          <a:ln w="19050">
            <a:solidFill>
              <a:srgbClr val="9EC5B3"/>
            </a:solidFill>
            <a:prstDash val="solid"/>
          </a:ln>
        </p:spPr>
        <p:txBody>
          <a:bodyPr/>
          <a:lstStyle/>
          <a:p>
            <a:endParaRPr lang="en-US"/>
          </a:p>
        </p:txBody>
      </p:sp>
      <p:sp>
        <p:nvSpPr>
          <p:cNvPr id="15" name="Text 13"/>
          <p:cNvSpPr/>
          <p:nvPr/>
        </p:nvSpPr>
        <p:spPr>
          <a:xfrm>
            <a:off x="3040410" y="7401297"/>
            <a:ext cx="1722165" cy="338138"/>
          </a:xfrm>
          <a:prstGeom prst="rect">
            <a:avLst/>
          </a:prstGeom>
          <a:noFill/>
          <a:ln/>
        </p:spPr>
        <p:txBody>
          <a:bodyPr wrap="square" lIns="25400" tIns="25400" rIns="25400" bIns="25400" rtlCol="0" anchor="t">
            <a:normAutofit/>
          </a:bodyPr>
          <a:lstStyle/>
          <a:p>
            <a:pPr marL="0" indent="0" algn="l">
              <a:buNone/>
            </a:pPr>
            <a:r>
              <a:rPr lang="en-US" sz="1800" dirty="0">
                <a:solidFill>
                  <a:srgbClr val="FFFFFF"/>
                </a:solidFill>
                <a:latin typeface="JetBrains Mono" pitchFamily="34" charset="0"/>
                <a:ea typeface="JetBrains Mono" pitchFamily="34" charset="-122"/>
                <a:cs typeface="JetBrains Mono" pitchFamily="34" charset="-120"/>
              </a:rPr>
              <a:t>Golden paths</a:t>
            </a:r>
            <a:endParaRPr lang="en-US" sz="1800" dirty="0"/>
          </a:p>
        </p:txBody>
      </p:sp>
      <p:sp>
        <p:nvSpPr>
          <p:cNvPr id="16" name="Shape 14"/>
          <p:cNvSpPr/>
          <p:nvPr/>
        </p:nvSpPr>
        <p:spPr>
          <a:xfrm>
            <a:off x="5010224" y="7306047"/>
            <a:ext cx="1379265" cy="490538"/>
          </a:xfrm>
          <a:prstGeom prst="roundRect">
            <a:avLst>
              <a:gd name="adj" fmla="val 50000"/>
            </a:avLst>
          </a:prstGeom>
          <a:ln w="19050">
            <a:solidFill>
              <a:srgbClr val="9EC5B3"/>
            </a:solidFill>
            <a:prstDash val="solid"/>
          </a:ln>
        </p:spPr>
        <p:txBody>
          <a:bodyPr/>
          <a:lstStyle/>
          <a:p>
            <a:endParaRPr lang="en-US"/>
          </a:p>
        </p:txBody>
      </p:sp>
      <p:sp>
        <p:nvSpPr>
          <p:cNvPr id="17" name="Text 15"/>
          <p:cNvSpPr/>
          <p:nvPr/>
        </p:nvSpPr>
        <p:spPr>
          <a:xfrm>
            <a:off x="5219774" y="7401297"/>
            <a:ext cx="1036365" cy="338138"/>
          </a:xfrm>
          <a:prstGeom prst="rect">
            <a:avLst/>
          </a:prstGeom>
          <a:noFill/>
          <a:ln/>
        </p:spPr>
        <p:txBody>
          <a:bodyPr wrap="square" lIns="25400" tIns="25400" rIns="25400" bIns="25400" rtlCol="0" anchor="t">
            <a:normAutofit/>
          </a:bodyPr>
          <a:lstStyle/>
          <a:p>
            <a:pPr marL="0" indent="0" algn="l">
              <a:buNone/>
            </a:pPr>
            <a:r>
              <a:rPr lang="en-US" sz="1800" dirty="0">
                <a:solidFill>
                  <a:srgbClr val="FFFFFF"/>
                </a:solidFill>
                <a:latin typeface="JetBrains Mono" pitchFamily="34" charset="0"/>
                <a:ea typeface="JetBrains Mono" pitchFamily="34" charset="-122"/>
                <a:cs typeface="JetBrains Mono" pitchFamily="34" charset="-120"/>
              </a:rPr>
              <a:t>Harness</a:t>
            </a:r>
            <a:endParaRPr lang="en-US" sz="1800" dirty="0"/>
          </a:p>
        </p:txBody>
      </p:sp>
      <p:sp>
        <p:nvSpPr>
          <p:cNvPr id="18" name="Shape 16"/>
          <p:cNvSpPr/>
          <p:nvPr/>
        </p:nvSpPr>
        <p:spPr>
          <a:xfrm>
            <a:off x="6503789" y="7306047"/>
            <a:ext cx="967755" cy="490538"/>
          </a:xfrm>
          <a:prstGeom prst="roundRect">
            <a:avLst>
              <a:gd name="adj" fmla="val 50000"/>
            </a:avLst>
          </a:prstGeom>
          <a:ln w="19050">
            <a:solidFill>
              <a:srgbClr val="9EC5B3"/>
            </a:solidFill>
            <a:prstDash val="solid"/>
          </a:ln>
        </p:spPr>
        <p:txBody>
          <a:bodyPr/>
          <a:lstStyle/>
          <a:p>
            <a:endParaRPr lang="en-US"/>
          </a:p>
        </p:txBody>
      </p:sp>
      <p:sp>
        <p:nvSpPr>
          <p:cNvPr id="19" name="Text 17"/>
          <p:cNvSpPr/>
          <p:nvPr/>
        </p:nvSpPr>
        <p:spPr>
          <a:xfrm>
            <a:off x="6713339" y="7401297"/>
            <a:ext cx="624855" cy="338138"/>
          </a:xfrm>
          <a:prstGeom prst="rect">
            <a:avLst/>
          </a:prstGeom>
          <a:noFill/>
          <a:ln/>
        </p:spPr>
        <p:txBody>
          <a:bodyPr wrap="square" lIns="25400" tIns="25400" rIns="25400" bIns="25400" rtlCol="0" anchor="t">
            <a:normAutofit/>
          </a:bodyPr>
          <a:lstStyle/>
          <a:p>
            <a:pPr marL="0" indent="0" algn="l">
              <a:buNone/>
            </a:pPr>
            <a:r>
              <a:rPr lang="en-US" sz="1800" dirty="0">
                <a:solidFill>
                  <a:srgbClr val="FFFFFF"/>
                </a:solidFill>
                <a:latin typeface="JetBrains Mono" pitchFamily="34" charset="0"/>
                <a:ea typeface="JetBrains Mono" pitchFamily="34" charset="-122"/>
                <a:cs typeface="JetBrains Mono" pitchFamily="34" charset="-120"/>
              </a:rPr>
              <a:t>GCP2</a:t>
            </a:r>
            <a:endParaRPr lang="en-US" sz="1800" dirty="0"/>
          </a:p>
        </p:txBody>
      </p:sp>
      <p:sp>
        <p:nvSpPr>
          <p:cNvPr id="20" name="Shape 18"/>
          <p:cNvSpPr/>
          <p:nvPr/>
        </p:nvSpPr>
        <p:spPr>
          <a:xfrm>
            <a:off x="7585844" y="7306047"/>
            <a:ext cx="1790700" cy="490538"/>
          </a:xfrm>
          <a:prstGeom prst="roundRect">
            <a:avLst>
              <a:gd name="adj" fmla="val 50000"/>
            </a:avLst>
          </a:prstGeom>
          <a:ln w="19050">
            <a:solidFill>
              <a:srgbClr val="9EC5B3"/>
            </a:solidFill>
            <a:prstDash val="solid"/>
          </a:ln>
        </p:spPr>
        <p:txBody>
          <a:bodyPr/>
          <a:lstStyle/>
          <a:p>
            <a:endParaRPr lang="en-US"/>
          </a:p>
        </p:txBody>
      </p:sp>
      <p:sp>
        <p:nvSpPr>
          <p:cNvPr id="21" name="Text 19"/>
          <p:cNvSpPr/>
          <p:nvPr/>
        </p:nvSpPr>
        <p:spPr>
          <a:xfrm>
            <a:off x="7795394" y="7401297"/>
            <a:ext cx="1447800" cy="338138"/>
          </a:xfrm>
          <a:prstGeom prst="rect">
            <a:avLst/>
          </a:prstGeom>
          <a:noFill/>
          <a:ln/>
        </p:spPr>
        <p:txBody>
          <a:bodyPr wrap="square" lIns="25400" tIns="25400" rIns="25400" bIns="25400" rtlCol="0" anchor="t">
            <a:normAutofit/>
          </a:bodyPr>
          <a:lstStyle/>
          <a:p>
            <a:pPr marL="0" indent="0" algn="l">
              <a:buNone/>
            </a:pPr>
            <a:r>
              <a:rPr lang="en-US" sz="1800" dirty="0">
                <a:solidFill>
                  <a:srgbClr val="FFFFFF"/>
                </a:solidFill>
                <a:latin typeface="JetBrains Mono" pitchFamily="34" charset="0"/>
                <a:ea typeface="JetBrains Mono" pitchFamily="34" charset="-122"/>
                <a:cs typeface="JetBrains Mono" pitchFamily="34" charset="-120"/>
              </a:rPr>
              <a:t>Cortex API</a:t>
            </a:r>
            <a:endParaRPr lang="en-US" sz="1800" dirty="0"/>
          </a:p>
        </p:txBody>
      </p:sp>
      <p:sp>
        <p:nvSpPr>
          <p:cNvPr id="22" name="Shape 20"/>
          <p:cNvSpPr/>
          <p:nvPr/>
        </p:nvSpPr>
        <p:spPr>
          <a:xfrm>
            <a:off x="10441260" y="3248397"/>
            <a:ext cx="6703740" cy="2493169"/>
          </a:xfrm>
          <a:prstGeom prst="roundRect">
            <a:avLst>
              <a:gd name="adj" fmla="val 7641"/>
            </a:avLst>
          </a:prstGeom>
          <a:solidFill>
            <a:srgbClr val="F3F8F5"/>
          </a:solidFill>
          <a:ln w="9525">
            <a:solidFill>
              <a:srgbClr val="E6F1EC"/>
            </a:solidFill>
            <a:prstDash val="solid"/>
          </a:ln>
        </p:spPr>
        <p:txBody>
          <a:bodyPr/>
          <a:lstStyle/>
          <a:p>
            <a:endParaRPr lang="en-US"/>
          </a:p>
        </p:txBody>
      </p:sp>
      <p:sp>
        <p:nvSpPr>
          <p:cNvPr id="23" name="Text 21"/>
          <p:cNvSpPr/>
          <p:nvPr/>
        </p:nvSpPr>
        <p:spPr>
          <a:xfrm>
            <a:off x="10812735" y="3600822"/>
            <a:ext cx="6556869" cy="338138"/>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006A4D"/>
                </a:solidFill>
                <a:latin typeface="JetBrains Mono" pitchFamily="34" charset="0"/>
                <a:ea typeface="JetBrains Mono" pitchFamily="34" charset="-122"/>
                <a:cs typeface="JetBrains Mono" pitchFamily="34" charset="-120"/>
              </a:rPr>
              <a:t>AI-ASSISTED ENGINEERING</a:t>
            </a:r>
            <a:endParaRPr lang="en-US" sz="1800" dirty="0"/>
          </a:p>
        </p:txBody>
      </p:sp>
      <p:sp>
        <p:nvSpPr>
          <p:cNvPr id="24" name="Text 22"/>
          <p:cNvSpPr/>
          <p:nvPr/>
        </p:nvSpPr>
        <p:spPr>
          <a:xfrm>
            <a:off x="10812735" y="4034210"/>
            <a:ext cx="6556869" cy="452438"/>
          </a:xfrm>
          <a:prstGeom prst="rect">
            <a:avLst/>
          </a:prstGeom>
          <a:noFill/>
          <a:ln/>
        </p:spPr>
        <p:txBody>
          <a:bodyPr wrap="square" lIns="25400" tIns="25400" rIns="25400" bIns="25400" rtlCol="0" anchor="t">
            <a:normAutofit/>
          </a:bodyPr>
          <a:lstStyle/>
          <a:p>
            <a:pPr marL="0" indent="0" algn="l">
              <a:buNone/>
            </a:pPr>
            <a:r>
              <a:rPr lang="en-US" sz="2700" b="1" dirty="0">
                <a:solidFill>
                  <a:srgbClr val="003824"/>
                </a:solidFill>
                <a:latin typeface="Inter" pitchFamily="34" charset="0"/>
                <a:ea typeface="Inter" pitchFamily="34" charset="-122"/>
                <a:cs typeface="Inter" pitchFamily="34" charset="-120"/>
              </a:rPr>
              <a:t>GitHub Copilot rollout</a:t>
            </a:r>
            <a:endParaRPr lang="en-US" sz="2700" dirty="0"/>
          </a:p>
        </p:txBody>
      </p:sp>
      <p:sp>
        <p:nvSpPr>
          <p:cNvPr id="25" name="Text 23"/>
          <p:cNvSpPr/>
          <p:nvPr/>
        </p:nvSpPr>
        <p:spPr>
          <a:xfrm>
            <a:off x="10812735" y="4562847"/>
            <a:ext cx="6139613" cy="758130"/>
          </a:xfrm>
          <a:prstGeom prst="rect">
            <a:avLst/>
          </a:prstGeom>
          <a:noFill/>
          <a:ln/>
        </p:spPr>
        <p:txBody>
          <a:bodyPr wrap="square" lIns="25400" tIns="25400" rIns="25400" bIns="25400" rtlCol="0" anchor="t">
            <a:normAutofit/>
          </a:bodyPr>
          <a:lstStyle/>
          <a:p>
            <a:pPr marL="0" indent="0" algn="l">
              <a:lnSpc>
                <a:spcPct val="111176"/>
              </a:lnSpc>
              <a:buNone/>
            </a:pPr>
            <a:r>
              <a:rPr lang="en-US" sz="2100" dirty="0">
                <a:solidFill>
                  <a:srgbClr val="3B4A44"/>
                </a:solidFill>
                <a:latin typeface="Inter" pitchFamily="34" charset="0"/>
                <a:ea typeface="Inter" pitchFamily="34" charset="-122"/>
                <a:cs typeface="Inter" pitchFamily="34" charset="-120"/>
              </a:rPr>
              <a:t>Latest plugin for VS Code and JetBrains, with the Superpowers skills plugin</a:t>
            </a:r>
            <a:endParaRPr lang="en-US" sz="2100" dirty="0"/>
          </a:p>
        </p:txBody>
      </p:sp>
      <p:sp>
        <p:nvSpPr>
          <p:cNvPr id="26" name="Shape 24"/>
          <p:cNvSpPr/>
          <p:nvPr/>
        </p:nvSpPr>
        <p:spPr>
          <a:xfrm>
            <a:off x="10441260" y="5970166"/>
            <a:ext cx="6703740" cy="2493169"/>
          </a:xfrm>
          <a:prstGeom prst="roundRect">
            <a:avLst>
              <a:gd name="adj" fmla="val 7641"/>
            </a:avLst>
          </a:prstGeom>
          <a:solidFill>
            <a:srgbClr val="F3F8F5"/>
          </a:solidFill>
          <a:ln w="9525">
            <a:solidFill>
              <a:srgbClr val="E6F1EC"/>
            </a:solidFill>
            <a:prstDash val="solid"/>
          </a:ln>
        </p:spPr>
        <p:txBody>
          <a:bodyPr/>
          <a:lstStyle/>
          <a:p>
            <a:endParaRPr lang="en-US"/>
          </a:p>
        </p:txBody>
      </p:sp>
      <p:sp>
        <p:nvSpPr>
          <p:cNvPr id="27" name="Text 25"/>
          <p:cNvSpPr/>
          <p:nvPr/>
        </p:nvSpPr>
        <p:spPr>
          <a:xfrm>
            <a:off x="10812735" y="6322591"/>
            <a:ext cx="6556869" cy="338138"/>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006A4D"/>
                </a:solidFill>
                <a:latin typeface="JetBrains Mono" pitchFamily="34" charset="0"/>
                <a:ea typeface="JetBrains Mono" pitchFamily="34" charset="-122"/>
                <a:cs typeface="JetBrains Mono" pitchFamily="34" charset="-120"/>
              </a:rPr>
              <a:t>AI-ASSISTED ENGINEERING</a:t>
            </a:r>
            <a:endParaRPr lang="en-US" sz="1800" dirty="0"/>
          </a:p>
        </p:txBody>
      </p:sp>
      <p:sp>
        <p:nvSpPr>
          <p:cNvPr id="28" name="Text 26"/>
          <p:cNvSpPr/>
          <p:nvPr/>
        </p:nvSpPr>
        <p:spPr>
          <a:xfrm>
            <a:off x="10812735" y="6755978"/>
            <a:ext cx="6556869" cy="452438"/>
          </a:xfrm>
          <a:prstGeom prst="rect">
            <a:avLst/>
          </a:prstGeom>
          <a:noFill/>
          <a:ln/>
        </p:spPr>
        <p:txBody>
          <a:bodyPr wrap="square" lIns="25400" tIns="25400" rIns="25400" bIns="25400" rtlCol="0" anchor="t">
            <a:normAutofit/>
          </a:bodyPr>
          <a:lstStyle/>
          <a:p>
            <a:pPr marL="0" indent="0" algn="l">
              <a:buNone/>
            </a:pPr>
            <a:r>
              <a:rPr lang="en-US" sz="2700" b="1" dirty="0">
                <a:solidFill>
                  <a:srgbClr val="003824"/>
                </a:solidFill>
                <a:latin typeface="Inter" pitchFamily="34" charset="0"/>
                <a:ea typeface="Inter" pitchFamily="34" charset="-122"/>
                <a:cs typeface="Inter" pitchFamily="34" charset="-120"/>
              </a:rPr>
              <a:t>Repo priming</a:t>
            </a:r>
            <a:endParaRPr lang="en-US" sz="2700" dirty="0"/>
          </a:p>
        </p:txBody>
      </p:sp>
      <p:sp>
        <p:nvSpPr>
          <p:cNvPr id="29" name="Text 27"/>
          <p:cNvSpPr/>
          <p:nvPr/>
        </p:nvSpPr>
        <p:spPr>
          <a:xfrm>
            <a:off x="10812735" y="7284616"/>
            <a:ext cx="6139613" cy="758130"/>
          </a:xfrm>
          <a:prstGeom prst="rect">
            <a:avLst/>
          </a:prstGeom>
          <a:noFill/>
          <a:ln/>
        </p:spPr>
        <p:txBody>
          <a:bodyPr wrap="square" lIns="25400" tIns="25400" rIns="25400" bIns="25400" rtlCol="0" anchor="t">
            <a:normAutofit/>
          </a:bodyPr>
          <a:lstStyle/>
          <a:p>
            <a:pPr marL="0" indent="0" algn="l">
              <a:lnSpc>
                <a:spcPct val="111176"/>
              </a:lnSpc>
              <a:buNone/>
            </a:pPr>
            <a:r>
              <a:rPr lang="en-US" sz="2100" dirty="0">
                <a:solidFill>
                  <a:srgbClr val="3B4A44"/>
                </a:solidFill>
                <a:latin typeface="Inter" pitchFamily="34" charset="0"/>
                <a:ea typeface="Inter" pitchFamily="34" charset="-122"/>
                <a:cs typeface="Inter" pitchFamily="34" charset="-120"/>
              </a:rPr>
              <a:t>AGENTS.md and copilot-instructions.md across lab repos</a:t>
            </a:r>
            <a:endParaRPr lang="en-US" sz="2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43000" y="952500"/>
            <a:ext cx="17602200" cy="390525"/>
          </a:xfrm>
          <a:prstGeom prst="rect">
            <a:avLst/>
          </a:prstGeom>
          <a:noFill/>
          <a:ln/>
        </p:spPr>
        <p:txBody>
          <a:bodyPr wrap="square" lIns="25400" tIns="25400" rIns="25400" bIns="25400" rtlCol="0" anchor="t">
            <a:normAutofit/>
          </a:bodyPr>
          <a:lstStyle/>
          <a:p>
            <a:pPr marL="0" indent="0" algn="l">
              <a:buNone/>
            </a:pPr>
            <a:r>
              <a:rPr lang="en-US" sz="2100" kern="0" spc="336" dirty="0">
                <a:solidFill>
                  <a:srgbClr val="006A4D"/>
                </a:solidFill>
                <a:latin typeface="JetBrains Mono" pitchFamily="34" charset="0"/>
                <a:ea typeface="JetBrains Mono" pitchFamily="34" charset="-122"/>
                <a:cs typeface="JetBrains Mono" pitchFamily="34" charset="-120"/>
              </a:rPr>
              <a:t>CONTACT</a:t>
            </a:r>
            <a:endParaRPr lang="en-US" sz="2100" dirty="0"/>
          </a:p>
        </p:txBody>
      </p:sp>
      <p:sp>
        <p:nvSpPr>
          <p:cNvPr id="3" name="Shape 1"/>
          <p:cNvSpPr/>
          <p:nvPr/>
        </p:nvSpPr>
        <p:spPr>
          <a:xfrm>
            <a:off x="1143000" y="1533525"/>
            <a:ext cx="685800" cy="47625"/>
          </a:xfrm>
          <a:prstGeom prst="roundRect">
            <a:avLst>
              <a:gd name="adj" fmla="val 40000"/>
            </a:avLst>
          </a:prstGeom>
          <a:solidFill>
            <a:srgbClr val="006A4D"/>
          </a:solidFill>
          <a:ln/>
        </p:spPr>
        <p:txBody>
          <a:bodyPr/>
          <a:lstStyle/>
          <a:p>
            <a:endParaRPr lang="en-US"/>
          </a:p>
        </p:txBody>
      </p:sp>
      <p:sp>
        <p:nvSpPr>
          <p:cNvPr id="4" name="Text 2"/>
          <p:cNvSpPr/>
          <p:nvPr/>
        </p:nvSpPr>
        <p:spPr>
          <a:xfrm>
            <a:off x="1143000" y="2000250"/>
            <a:ext cx="17602200" cy="790947"/>
          </a:xfrm>
          <a:prstGeom prst="rect">
            <a:avLst/>
          </a:prstGeom>
          <a:noFill/>
          <a:ln/>
        </p:spPr>
        <p:txBody>
          <a:bodyPr wrap="square" lIns="25400" tIns="25400" rIns="25400" bIns="25400" rtlCol="0" anchor="t">
            <a:normAutofit/>
          </a:bodyPr>
          <a:lstStyle/>
          <a:p>
            <a:pPr marL="0" indent="0" algn="l">
              <a:lnSpc>
                <a:spcPct val="85913"/>
              </a:lnSpc>
              <a:buNone/>
            </a:pPr>
            <a:r>
              <a:rPr lang="en-US" sz="5700" b="1" kern="0" spc="-114" dirty="0">
                <a:solidFill>
                  <a:srgbClr val="003824"/>
                </a:solidFill>
                <a:latin typeface="Inter" pitchFamily="34" charset="0"/>
                <a:ea typeface="Inter" pitchFamily="34" charset="-122"/>
                <a:cs typeface="Inter" pitchFamily="34" charset="-120"/>
              </a:rPr>
              <a:t>For now, contact one of us to engage the team.</a:t>
            </a:r>
            <a:endParaRPr lang="en-US" sz="5700" dirty="0"/>
          </a:p>
        </p:txBody>
      </p:sp>
      <p:sp>
        <p:nvSpPr>
          <p:cNvPr id="5" name="Shape 3"/>
          <p:cNvSpPr/>
          <p:nvPr/>
        </p:nvSpPr>
        <p:spPr>
          <a:xfrm>
            <a:off x="1143000" y="3286497"/>
            <a:ext cx="5181600" cy="1905000"/>
          </a:xfrm>
          <a:prstGeom prst="roundRect">
            <a:avLst>
              <a:gd name="adj" fmla="val 11000"/>
            </a:avLst>
          </a:prstGeom>
          <a:solidFill>
            <a:srgbClr val="003824"/>
          </a:solidFill>
          <a:ln/>
        </p:spPr>
        <p:txBody>
          <a:bodyPr/>
          <a:lstStyle/>
          <a:p>
            <a:endParaRPr lang="en-US"/>
          </a:p>
        </p:txBody>
      </p:sp>
      <p:sp>
        <p:nvSpPr>
          <p:cNvPr id="6" name="Shape 4"/>
          <p:cNvSpPr/>
          <p:nvPr/>
        </p:nvSpPr>
        <p:spPr>
          <a:xfrm>
            <a:off x="1524000" y="3667497"/>
            <a:ext cx="1143000" cy="1143000"/>
          </a:xfrm>
          <a:prstGeom prst="ellipse">
            <a:avLst/>
          </a:prstGeom>
          <a:solidFill>
            <a:srgbClr val="9EC5B3"/>
          </a:solidFill>
          <a:ln/>
        </p:spPr>
        <p:txBody>
          <a:bodyPr/>
          <a:lstStyle/>
          <a:p>
            <a:endParaRPr lang="en-US"/>
          </a:p>
        </p:txBody>
      </p:sp>
      <p:sp>
        <p:nvSpPr>
          <p:cNvPr id="7" name="Text 5"/>
          <p:cNvSpPr/>
          <p:nvPr/>
        </p:nvSpPr>
        <p:spPr>
          <a:xfrm>
            <a:off x="1485900" y="3667497"/>
            <a:ext cx="1219200" cy="1181100"/>
          </a:xfrm>
          <a:prstGeom prst="rect">
            <a:avLst/>
          </a:prstGeom>
          <a:noFill/>
          <a:ln/>
        </p:spPr>
        <p:txBody>
          <a:bodyPr wrap="square" lIns="25400" tIns="25400" rIns="25400" bIns="25400" rtlCol="0" anchor="ctr">
            <a:normAutofit/>
          </a:bodyPr>
          <a:lstStyle/>
          <a:p>
            <a:pPr marL="0" indent="0" algn="ctr">
              <a:buNone/>
            </a:pPr>
            <a:r>
              <a:rPr lang="en-US" sz="3600" b="1" dirty="0">
                <a:solidFill>
                  <a:srgbClr val="003824"/>
                </a:solidFill>
                <a:latin typeface="Inter" pitchFamily="34" charset="0"/>
                <a:ea typeface="Inter" pitchFamily="34" charset="-122"/>
                <a:cs typeface="Inter" pitchFamily="34" charset="-120"/>
              </a:rPr>
              <a:t>JF</a:t>
            </a:r>
            <a:endParaRPr lang="en-US" sz="3600" dirty="0"/>
          </a:p>
        </p:txBody>
      </p:sp>
      <p:sp>
        <p:nvSpPr>
          <p:cNvPr id="8" name="Text 6"/>
          <p:cNvSpPr/>
          <p:nvPr/>
        </p:nvSpPr>
        <p:spPr>
          <a:xfrm>
            <a:off x="2933700" y="3986585"/>
            <a:ext cx="2000875" cy="542925"/>
          </a:xfrm>
          <a:prstGeom prst="rect">
            <a:avLst/>
          </a:prstGeom>
          <a:noFill/>
          <a:ln/>
        </p:spPr>
        <p:txBody>
          <a:bodyPr wrap="square" lIns="25400" tIns="25400" rIns="25400" bIns="25400" rtlCol="0" anchor="t">
            <a:normAutofit/>
          </a:bodyPr>
          <a:lstStyle/>
          <a:p>
            <a:pPr marL="0" indent="0" algn="l">
              <a:buNone/>
            </a:pPr>
            <a:r>
              <a:rPr lang="en-US" sz="3300" b="1" kern="0" spc="-66" dirty="0">
                <a:solidFill>
                  <a:srgbClr val="FFFFFF"/>
                </a:solidFill>
                <a:latin typeface="Inter" pitchFamily="34" charset="0"/>
                <a:ea typeface="Inter" pitchFamily="34" charset="-122"/>
                <a:cs typeface="Inter" pitchFamily="34" charset="-120"/>
              </a:rPr>
              <a:t>Joe Frost</a:t>
            </a:r>
            <a:endParaRPr lang="en-US" sz="3300" dirty="0"/>
          </a:p>
        </p:txBody>
      </p:sp>
      <p:sp>
        <p:nvSpPr>
          <p:cNvPr id="9" name="Shape 7"/>
          <p:cNvSpPr/>
          <p:nvPr/>
        </p:nvSpPr>
        <p:spPr>
          <a:xfrm>
            <a:off x="6553200" y="3286497"/>
            <a:ext cx="5181600" cy="1905000"/>
          </a:xfrm>
          <a:prstGeom prst="roundRect">
            <a:avLst>
              <a:gd name="adj" fmla="val 11000"/>
            </a:avLst>
          </a:prstGeom>
          <a:solidFill>
            <a:srgbClr val="003824"/>
          </a:solidFill>
          <a:ln/>
        </p:spPr>
        <p:txBody>
          <a:bodyPr/>
          <a:lstStyle/>
          <a:p>
            <a:endParaRPr lang="en-US"/>
          </a:p>
        </p:txBody>
      </p:sp>
      <p:sp>
        <p:nvSpPr>
          <p:cNvPr id="10" name="Shape 8"/>
          <p:cNvSpPr/>
          <p:nvPr/>
        </p:nvSpPr>
        <p:spPr>
          <a:xfrm>
            <a:off x="6934200" y="3667497"/>
            <a:ext cx="1143000" cy="1143000"/>
          </a:xfrm>
          <a:prstGeom prst="ellipse">
            <a:avLst/>
          </a:prstGeom>
          <a:solidFill>
            <a:srgbClr val="9EC5B3"/>
          </a:solidFill>
          <a:ln/>
        </p:spPr>
        <p:txBody>
          <a:bodyPr/>
          <a:lstStyle/>
          <a:p>
            <a:endParaRPr lang="en-US"/>
          </a:p>
        </p:txBody>
      </p:sp>
      <p:sp>
        <p:nvSpPr>
          <p:cNvPr id="11" name="Text 9"/>
          <p:cNvSpPr/>
          <p:nvPr/>
        </p:nvSpPr>
        <p:spPr>
          <a:xfrm>
            <a:off x="6896100" y="3667497"/>
            <a:ext cx="1219200" cy="1181100"/>
          </a:xfrm>
          <a:prstGeom prst="rect">
            <a:avLst/>
          </a:prstGeom>
          <a:noFill/>
          <a:ln/>
        </p:spPr>
        <p:txBody>
          <a:bodyPr wrap="square" lIns="25400" tIns="25400" rIns="25400" bIns="25400" rtlCol="0" anchor="ctr">
            <a:normAutofit/>
          </a:bodyPr>
          <a:lstStyle/>
          <a:p>
            <a:pPr marL="0" indent="0" algn="ctr">
              <a:buNone/>
            </a:pPr>
            <a:r>
              <a:rPr lang="en-US" sz="3600" b="1" dirty="0">
                <a:solidFill>
                  <a:srgbClr val="003824"/>
                </a:solidFill>
                <a:latin typeface="Inter" pitchFamily="34" charset="0"/>
                <a:ea typeface="Inter" pitchFamily="34" charset="-122"/>
                <a:cs typeface="Inter" pitchFamily="34" charset="-120"/>
              </a:rPr>
              <a:t>JW</a:t>
            </a:r>
            <a:endParaRPr lang="en-US" sz="3600" dirty="0"/>
          </a:p>
        </p:txBody>
      </p:sp>
      <p:sp>
        <p:nvSpPr>
          <p:cNvPr id="12" name="Text 10"/>
          <p:cNvSpPr/>
          <p:nvPr/>
        </p:nvSpPr>
        <p:spPr>
          <a:xfrm>
            <a:off x="8343900" y="3986585"/>
            <a:ext cx="2441094" cy="542925"/>
          </a:xfrm>
          <a:prstGeom prst="rect">
            <a:avLst/>
          </a:prstGeom>
          <a:noFill/>
          <a:ln/>
        </p:spPr>
        <p:txBody>
          <a:bodyPr wrap="square" lIns="25400" tIns="25400" rIns="25400" bIns="25400" rtlCol="0" anchor="t">
            <a:normAutofit/>
          </a:bodyPr>
          <a:lstStyle/>
          <a:p>
            <a:pPr marL="0" indent="0" algn="l">
              <a:buNone/>
            </a:pPr>
            <a:r>
              <a:rPr lang="en-US" sz="3300" b="1" kern="0" spc="-66" dirty="0">
                <a:solidFill>
                  <a:srgbClr val="FFFFFF"/>
                </a:solidFill>
                <a:latin typeface="Inter" pitchFamily="34" charset="0"/>
                <a:ea typeface="Inter" pitchFamily="34" charset="-122"/>
                <a:cs typeface="Inter" pitchFamily="34" charset="-120"/>
              </a:rPr>
              <a:t>Joe Walder</a:t>
            </a:r>
            <a:endParaRPr lang="en-US" sz="3300" dirty="0"/>
          </a:p>
        </p:txBody>
      </p:sp>
      <p:sp>
        <p:nvSpPr>
          <p:cNvPr id="13" name="Shape 11"/>
          <p:cNvSpPr/>
          <p:nvPr/>
        </p:nvSpPr>
        <p:spPr>
          <a:xfrm>
            <a:off x="11963400" y="3286497"/>
            <a:ext cx="5181600" cy="1905000"/>
          </a:xfrm>
          <a:prstGeom prst="roundRect">
            <a:avLst>
              <a:gd name="adj" fmla="val 11000"/>
            </a:avLst>
          </a:prstGeom>
          <a:solidFill>
            <a:srgbClr val="003824"/>
          </a:solidFill>
          <a:ln/>
        </p:spPr>
        <p:txBody>
          <a:bodyPr/>
          <a:lstStyle/>
          <a:p>
            <a:endParaRPr lang="en-US"/>
          </a:p>
        </p:txBody>
      </p:sp>
      <p:sp>
        <p:nvSpPr>
          <p:cNvPr id="14" name="Shape 12"/>
          <p:cNvSpPr/>
          <p:nvPr/>
        </p:nvSpPr>
        <p:spPr>
          <a:xfrm>
            <a:off x="12344400" y="3667497"/>
            <a:ext cx="1143000" cy="1143000"/>
          </a:xfrm>
          <a:prstGeom prst="ellipse">
            <a:avLst/>
          </a:prstGeom>
          <a:solidFill>
            <a:srgbClr val="9EC5B3"/>
          </a:solidFill>
          <a:ln/>
        </p:spPr>
        <p:txBody>
          <a:bodyPr/>
          <a:lstStyle/>
          <a:p>
            <a:endParaRPr lang="en-US"/>
          </a:p>
        </p:txBody>
      </p:sp>
      <p:sp>
        <p:nvSpPr>
          <p:cNvPr id="15" name="Text 13"/>
          <p:cNvSpPr/>
          <p:nvPr/>
        </p:nvSpPr>
        <p:spPr>
          <a:xfrm>
            <a:off x="12306300" y="3667497"/>
            <a:ext cx="1219200" cy="1181100"/>
          </a:xfrm>
          <a:prstGeom prst="rect">
            <a:avLst/>
          </a:prstGeom>
          <a:noFill/>
          <a:ln/>
        </p:spPr>
        <p:txBody>
          <a:bodyPr wrap="square" lIns="25400" tIns="25400" rIns="25400" bIns="25400" rtlCol="0" anchor="ctr">
            <a:normAutofit/>
          </a:bodyPr>
          <a:lstStyle/>
          <a:p>
            <a:pPr marL="0" indent="0" algn="ctr">
              <a:buNone/>
            </a:pPr>
            <a:r>
              <a:rPr lang="en-US" sz="3600" b="1" dirty="0">
                <a:solidFill>
                  <a:srgbClr val="003824"/>
                </a:solidFill>
                <a:latin typeface="Inter" pitchFamily="34" charset="0"/>
                <a:ea typeface="Inter" pitchFamily="34" charset="-122"/>
                <a:cs typeface="Inter" pitchFamily="34" charset="-120"/>
              </a:rPr>
              <a:t>BA</a:t>
            </a:r>
            <a:endParaRPr lang="en-US" sz="3600" dirty="0"/>
          </a:p>
        </p:txBody>
      </p:sp>
      <p:sp>
        <p:nvSpPr>
          <p:cNvPr id="16" name="Text 14"/>
          <p:cNvSpPr/>
          <p:nvPr/>
        </p:nvSpPr>
        <p:spPr>
          <a:xfrm>
            <a:off x="13754100" y="3986585"/>
            <a:ext cx="2775719" cy="542925"/>
          </a:xfrm>
          <a:prstGeom prst="rect">
            <a:avLst/>
          </a:prstGeom>
          <a:noFill/>
          <a:ln/>
        </p:spPr>
        <p:txBody>
          <a:bodyPr wrap="square" lIns="25400" tIns="25400" rIns="25400" bIns="25400" rtlCol="0" anchor="t">
            <a:normAutofit/>
          </a:bodyPr>
          <a:lstStyle/>
          <a:p>
            <a:pPr marL="0" indent="0" algn="l">
              <a:buNone/>
            </a:pPr>
            <a:r>
              <a:rPr lang="en-US" sz="3300" b="1" kern="0" spc="-66" dirty="0">
                <a:solidFill>
                  <a:srgbClr val="FFFFFF"/>
                </a:solidFill>
                <a:latin typeface="Inter" pitchFamily="34" charset="0"/>
                <a:ea typeface="Inter" pitchFamily="34" charset="-122"/>
                <a:cs typeface="Inter" pitchFamily="34" charset="-120"/>
              </a:rPr>
              <a:t>Ben Arterton</a:t>
            </a:r>
            <a:endParaRPr lang="en-US" sz="3300" dirty="0"/>
          </a:p>
        </p:txBody>
      </p:sp>
      <p:sp>
        <p:nvSpPr>
          <p:cNvPr id="17" name="Shape 15"/>
          <p:cNvSpPr/>
          <p:nvPr/>
        </p:nvSpPr>
        <p:spPr>
          <a:xfrm>
            <a:off x="1143000" y="5420097"/>
            <a:ext cx="16002000" cy="1157288"/>
          </a:xfrm>
          <a:prstGeom prst="roundRect">
            <a:avLst>
              <a:gd name="adj" fmla="val 18107"/>
            </a:avLst>
          </a:prstGeom>
          <a:solidFill>
            <a:srgbClr val="F3F8F5"/>
          </a:solidFill>
          <a:ln w="9525">
            <a:solidFill>
              <a:srgbClr val="E6F1EC"/>
            </a:solidFill>
            <a:prstDash val="solid"/>
          </a:ln>
        </p:spPr>
        <p:txBody>
          <a:bodyPr/>
          <a:lstStyle/>
          <a:p>
            <a:endParaRPr lang="en-US"/>
          </a:p>
        </p:txBody>
      </p:sp>
      <p:sp>
        <p:nvSpPr>
          <p:cNvPr id="18" name="Shape 16"/>
          <p:cNvSpPr/>
          <p:nvPr/>
        </p:nvSpPr>
        <p:spPr>
          <a:xfrm>
            <a:off x="1571625" y="5772522"/>
            <a:ext cx="2014761" cy="452438"/>
          </a:xfrm>
          <a:prstGeom prst="roundRect">
            <a:avLst>
              <a:gd name="adj" fmla="val 50000"/>
            </a:avLst>
          </a:prstGeom>
          <a:solidFill>
            <a:srgbClr val="F4E2CF"/>
          </a:solidFill>
          <a:ln/>
        </p:spPr>
        <p:txBody>
          <a:bodyPr/>
          <a:lstStyle/>
          <a:p>
            <a:endParaRPr lang="en-US"/>
          </a:p>
        </p:txBody>
      </p:sp>
      <p:sp>
        <p:nvSpPr>
          <p:cNvPr id="19" name="Text 17"/>
          <p:cNvSpPr/>
          <p:nvPr/>
        </p:nvSpPr>
        <p:spPr>
          <a:xfrm>
            <a:off x="1724025" y="5848722"/>
            <a:ext cx="1786161" cy="338138"/>
          </a:xfrm>
          <a:prstGeom prst="rect">
            <a:avLst/>
          </a:prstGeom>
          <a:noFill/>
          <a:ln/>
        </p:spPr>
        <p:txBody>
          <a:bodyPr wrap="none" lIns="25400" tIns="25400" rIns="25400" bIns="25400" rtlCol="0" anchor="t">
            <a:normAutofit/>
          </a:bodyPr>
          <a:lstStyle/>
          <a:p>
            <a:pPr marL="0" indent="0" algn="l">
              <a:buNone/>
            </a:pPr>
            <a:r>
              <a:rPr lang="en-US" sz="1800" kern="0" spc="144" dirty="0">
                <a:solidFill>
                  <a:srgbClr val="B5651D"/>
                </a:solidFill>
                <a:latin typeface="JetBrains Mono" pitchFamily="34" charset="0"/>
                <a:ea typeface="JetBrains Mono" pitchFamily="34" charset="-122"/>
                <a:cs typeface="JetBrains Mono" pitchFamily="34" charset="-120"/>
              </a:rPr>
              <a:t>COMING SOON</a:t>
            </a:r>
            <a:endParaRPr lang="en-US" sz="1800" dirty="0"/>
          </a:p>
        </p:txBody>
      </p:sp>
      <p:sp>
        <p:nvSpPr>
          <p:cNvPr id="20" name="Text 18"/>
          <p:cNvSpPr/>
          <p:nvPr/>
        </p:nvSpPr>
        <p:spPr>
          <a:xfrm>
            <a:off x="3853086" y="5791572"/>
            <a:ext cx="4114711" cy="452438"/>
          </a:xfrm>
          <a:prstGeom prst="rect">
            <a:avLst/>
          </a:prstGeom>
          <a:noFill/>
          <a:ln/>
        </p:spPr>
        <p:txBody>
          <a:bodyPr wrap="square" lIns="25400" tIns="25400" rIns="25400" bIns="25400" rtlCol="0" anchor="t">
            <a:normAutofit/>
          </a:bodyPr>
          <a:lstStyle/>
          <a:p>
            <a:pPr marL="0" indent="0" algn="l">
              <a:buNone/>
            </a:pPr>
            <a:r>
              <a:rPr lang="en-US" sz="2700" b="1" dirty="0">
                <a:solidFill>
                  <a:srgbClr val="003824"/>
                </a:solidFill>
                <a:latin typeface="Inter" pitchFamily="34" charset="0"/>
                <a:ea typeface="Inter" pitchFamily="34" charset="-122"/>
                <a:cs typeface="Inter" pitchFamily="34" charset="-120"/>
              </a:rPr>
              <a:t>Our Confluence space</a:t>
            </a:r>
            <a:endParaRPr lang="en-US" sz="2700" dirty="0"/>
          </a:p>
        </p:txBody>
      </p:sp>
      <p:sp>
        <p:nvSpPr>
          <p:cNvPr id="21" name="Text 19"/>
          <p:cNvSpPr/>
          <p:nvPr/>
        </p:nvSpPr>
        <p:spPr>
          <a:xfrm>
            <a:off x="7860432" y="5798716"/>
            <a:ext cx="7130675" cy="438150"/>
          </a:xfrm>
          <a:prstGeom prst="rect">
            <a:avLst/>
          </a:prstGeom>
          <a:noFill/>
          <a:ln/>
        </p:spPr>
        <p:txBody>
          <a:bodyPr wrap="square" lIns="25400" tIns="25400" rIns="25400" bIns="25400" rtlCol="0" anchor="t">
            <a:normAutofit/>
          </a:bodyPr>
          <a:lstStyle/>
          <a:p>
            <a:pPr marL="0" indent="0" algn="l">
              <a:lnSpc>
                <a:spcPct val="116667"/>
              </a:lnSpc>
              <a:buNone/>
            </a:pPr>
            <a:r>
              <a:rPr lang="en-US" sz="2250" dirty="0">
                <a:solidFill>
                  <a:srgbClr val="3B4A44"/>
                </a:solidFill>
                <a:latin typeface="Inter" pitchFamily="34" charset="0"/>
                <a:ea typeface="Inter" pitchFamily="34" charset="-122"/>
                <a:cs typeface="Inter" pitchFamily="34" charset="-120"/>
              </a:rPr>
              <a:t>More detail on how to engage and work with us.</a:t>
            </a:r>
            <a:endParaRPr lang="en-US" sz="2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003824">
                  <a:alpha val="100000"/>
                </a:srgbClr>
              </a:gs>
              <a:gs pos="100000">
                <a:srgbClr val="006A4D">
                  <a:alpha val="100000"/>
                </a:srgbClr>
              </a:gs>
            </a:gsLst>
            <a:lin ang="2700000" scaled="0"/>
          </a:gradFill>
          <a:ln/>
        </p:spPr>
        <p:txBody>
          <a:bodyPr/>
          <a:lstStyle/>
          <a:p>
            <a:endParaRPr lang="en-US"/>
          </a:p>
        </p:txBody>
      </p:sp>
      <p:sp>
        <p:nvSpPr>
          <p:cNvPr id="3" name="Text 1"/>
          <p:cNvSpPr/>
          <p:nvPr/>
        </p:nvSpPr>
        <p:spPr>
          <a:xfrm>
            <a:off x="1143000" y="1047750"/>
            <a:ext cx="17602200" cy="390525"/>
          </a:xfrm>
          <a:prstGeom prst="rect">
            <a:avLst/>
          </a:prstGeom>
          <a:noFill/>
          <a:ln/>
        </p:spPr>
        <p:txBody>
          <a:bodyPr wrap="square" lIns="25400" tIns="25400" rIns="25400" bIns="25400" rtlCol="0" anchor="t">
            <a:normAutofit/>
          </a:bodyPr>
          <a:lstStyle/>
          <a:p>
            <a:pPr marL="0" indent="0" algn="l">
              <a:buNone/>
            </a:pPr>
            <a:r>
              <a:rPr lang="en-US" sz="2100" kern="0" spc="378" dirty="0">
                <a:solidFill>
                  <a:srgbClr val="9EC5B3"/>
                </a:solidFill>
                <a:latin typeface="JetBrains Mono" pitchFamily="34" charset="0"/>
                <a:ea typeface="JetBrains Mono" pitchFamily="34" charset="-122"/>
                <a:cs typeface="JetBrains Mono" pitchFamily="34" charset="-120"/>
              </a:rPr>
              <a:t>PLATFORM ENGINEERING, INNOVATION &amp; AI</a:t>
            </a:r>
            <a:endParaRPr lang="en-US" sz="2100" dirty="0"/>
          </a:p>
        </p:txBody>
      </p:sp>
      <p:sp>
        <p:nvSpPr>
          <p:cNvPr id="4" name="Text 2"/>
          <p:cNvSpPr/>
          <p:nvPr/>
        </p:nvSpPr>
        <p:spPr>
          <a:xfrm>
            <a:off x="1143000" y="3446934"/>
            <a:ext cx="17602200" cy="1840185"/>
          </a:xfrm>
          <a:prstGeom prst="rect">
            <a:avLst/>
          </a:prstGeom>
          <a:noFill/>
          <a:ln/>
        </p:spPr>
        <p:txBody>
          <a:bodyPr wrap="square" lIns="25400" tIns="25400" rIns="25400" bIns="25400" rtlCol="0" anchor="t">
            <a:normAutofit/>
          </a:bodyPr>
          <a:lstStyle/>
          <a:p>
            <a:pPr marL="0" indent="0" algn="l">
              <a:lnSpc>
                <a:spcPct val="71128"/>
              </a:lnSpc>
              <a:buNone/>
            </a:pPr>
            <a:r>
              <a:rPr lang="en-US" sz="16500" b="1" kern="0" spc="-660" dirty="0">
                <a:solidFill>
                  <a:srgbClr val="FFFFFF"/>
                </a:solidFill>
                <a:latin typeface="Inter" pitchFamily="34" charset="0"/>
                <a:ea typeface="Inter" pitchFamily="34" charset="-122"/>
                <a:cs typeface="Inter" pitchFamily="34" charset="-120"/>
              </a:rPr>
              <a:t>Questions</a:t>
            </a:r>
            <a:endParaRPr lang="en-US" sz="16500" dirty="0"/>
          </a:p>
        </p:txBody>
      </p:sp>
      <p:sp>
        <p:nvSpPr>
          <p:cNvPr id="5" name="Text 3"/>
          <p:cNvSpPr/>
          <p:nvPr/>
        </p:nvSpPr>
        <p:spPr>
          <a:xfrm>
            <a:off x="1143000" y="5706219"/>
            <a:ext cx="9116026" cy="1171873"/>
          </a:xfrm>
          <a:prstGeom prst="rect">
            <a:avLst/>
          </a:prstGeom>
          <a:noFill/>
          <a:ln/>
        </p:spPr>
        <p:txBody>
          <a:bodyPr wrap="square" lIns="25400" tIns="25400" rIns="25400" bIns="25400" rtlCol="0" anchor="t">
            <a:normAutofit/>
          </a:bodyPr>
          <a:lstStyle/>
          <a:p>
            <a:pPr marL="0" indent="0" algn="l">
              <a:lnSpc>
                <a:spcPct val="102621"/>
              </a:lnSpc>
              <a:buNone/>
            </a:pPr>
            <a:r>
              <a:rPr lang="en-US" sz="3600" dirty="0">
                <a:solidFill>
                  <a:srgbClr val="EAF4EF"/>
                </a:solidFill>
                <a:latin typeface="Inter" pitchFamily="34" charset="0"/>
                <a:ea typeface="Inter" pitchFamily="34" charset="-122"/>
                <a:cs typeface="Inter" pitchFamily="34" charset="-120"/>
              </a:rPr>
              <a:t>Bring us a prototype idea, a pipeline that needs work, or an AI use case.</a:t>
            </a:r>
            <a:endParaRPr lang="en-US" sz="3600" dirty="0"/>
          </a:p>
        </p:txBody>
      </p:sp>
      <p:sp>
        <p:nvSpPr>
          <p:cNvPr id="7" name="Text 5"/>
          <p:cNvSpPr/>
          <p:nvPr/>
        </p:nvSpPr>
        <p:spPr>
          <a:xfrm>
            <a:off x="12216333" y="8886825"/>
            <a:ext cx="5421533" cy="390525"/>
          </a:xfrm>
          <a:prstGeom prst="rect">
            <a:avLst/>
          </a:prstGeom>
          <a:noFill/>
          <a:ln/>
        </p:spPr>
        <p:txBody>
          <a:bodyPr wrap="square" lIns="25400" tIns="25400" rIns="25400" bIns="25400" rtlCol="0" anchor="t">
            <a:normAutofit/>
          </a:bodyPr>
          <a:lstStyle/>
          <a:p>
            <a:pPr marL="0" indent="0" algn="l">
              <a:buNone/>
            </a:pPr>
            <a:r>
              <a:rPr lang="en-US" sz="2100" kern="0" spc="126" dirty="0">
                <a:solidFill>
                  <a:srgbClr val="9EC5B3"/>
                </a:solidFill>
                <a:latin typeface="JetBrains Mono" pitchFamily="34" charset="0"/>
                <a:ea typeface="JetBrains Mono" pitchFamily="34" charset="-122"/>
                <a:cs typeface="JetBrains Mono" pitchFamily="34" charset="-120"/>
              </a:rPr>
              <a:t>Confluence space coming soon</a:t>
            </a:r>
            <a:endParaRPr lang="en-US" sz="2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2755</Words>
  <Application>Microsoft Macintosh PowerPoint</Application>
  <PresentationFormat>Custom</PresentationFormat>
  <Paragraphs>316</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Inter</vt:lpstr>
      <vt:lpstr>JetBrains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Joseph Frost</cp:lastModifiedBy>
  <cp:revision>2</cp:revision>
  <dcterms:created xsi:type="dcterms:W3CDTF">2026-10-05T14:08:44Z</dcterms:created>
  <dcterms:modified xsi:type="dcterms:W3CDTF">2026-10-05T14:21:35Z</dcterms:modified>
</cp:coreProperties>
</file>